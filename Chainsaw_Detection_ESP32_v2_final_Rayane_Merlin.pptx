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everyone, and thank you for having me. My name is Rayan, I come from Lyon, in France, where I study engineering at CPE Lyon. In parallel with my studies I work as an apprentice at Energy Pool, in Lyon, a company operating in the energy-management sector - mostly demand-response and flexibility for electrical grids.</a:t>
            </a:r>
            <a:br>
              <a:rPr lang="en-US"/>
            </a:br>
            <a:br>
              <a:rPr lang="en-US"/>
            </a:br>
            <a:r>
              <a:rPr lang="en-US"/>
              <a:t>For the last two months I have been here in Bogota, at the Universidad Militar Nueva Granada, from the 15th of June to the 14th of August 2026, under the supervision of Edward Guillen and Juan Carlos Martinez, whom I would like to thank for their guidance.</a:t>
            </a:r>
            <a:br>
              <a:rPr lang="en-US"/>
            </a:br>
            <a:br>
              <a:rPr lang="en-US"/>
            </a:br>
            <a:r>
              <a:rPr lang="en-US"/>
              <a:t>The project I am going to present today sits between artificial intelligence and embedded systems: building a small autonomous sensor that can hear a chainsaw in the rainforest and raise an alert - without internet, without GPS, and on a microcontroller that costs a few euros. [~1:00]</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the technical content, one word about developer experience, because it is a real part of the work.</a:t>
            </a:r>
            <a:br>
              <a:rPr lang="en-US"/>
            </a:br>
            <a:br>
              <a:rPr lang="en-US"/>
            </a:br>
            <a:r>
              <a:rPr lang="en-US"/>
              <a:t>The repository ships with init scripts for Windows, WSL and Linux: they create the Python virtual environment and install every dependency, so a new developer is operational in one command. Dependencies are managed with pip-tools - I only maintain a short requirements.in, and the locked requirements.txt is compiled from it, which makes the environment reproducible.</a:t>
            </a:r>
            <a:br>
              <a:rPr lang="en-US"/>
            </a:br>
            <a:br>
              <a:rPr lang="en-US"/>
            </a:br>
            <a:r>
              <a:rPr lang="en-US"/>
              <a:t>Then every single action in the project - feature extraction, training, conversion, validation, firmware generation, compiling and flashing the board - is a task in tasks.py, using the Invoke library, each with a short alias. In practice, going from a fresh dataset to a flashed microcontroller is three commands. [~0:45]</a:t>
            </a:r>
            <a:endParaRPr/>
          </a:p>
        </p:txBody>
      </p:sp>
      <p:sp>
        <p:nvSpPr>
          <p:cNvPr id="39" name="Google Shape;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problem. In remote forest areas, illegal logging is usually discovered weeks later, from satellite imagery, when the trees are already gone. There is no mobile network, no power grid, no infrastructure. But a chainsaw makes a very characteristic noise: a steady two-stroke engine, with a stable harmonic structure, audible over a long distance.</a:t>
            </a:r>
            <a:br>
              <a:rPr lang="en-US"/>
            </a:br>
            <a:br>
              <a:rPr lang="en-US"/>
            </a:br>
            <a:r>
              <a:rPr lang="en-US"/>
              <a:t>So the objective of the project is to train a TensorFlow neural network to recognise that sound, and then to run this network directly inside a microcontroller placed in the forest.</a:t>
            </a:r>
            <a:br>
              <a:rPr lang="en-US"/>
            </a:br>
            <a:br>
              <a:rPr lang="en-US"/>
            </a:br>
            <a:r>
              <a:rPr lang="en-US"/>
              <a:t>The chain is the following: I start from a labelled dataset of WAV files, I train a Keras model on a PC, I convert it to TensorFlow Lite, and I embed it into an ESP32, which listens continuously through an INMP441 digital microphone at 8 kilohertz.</a:t>
            </a:r>
            <a:br>
              <a:rPr lang="en-US"/>
            </a:br>
            <a:br>
              <a:rPr lang="en-US"/>
            </a:br>
            <a:r>
              <a:rPr lang="en-US"/>
              <a:t>Everything runs on-device. The project is split into two completely decoupled modules: the Python training pipeline, and the C++ firmware. [~1:00]</a:t>
            </a:r>
            <a:endParaRPr/>
          </a:p>
        </p:txBody>
      </p:sp>
      <p:sp>
        <p:nvSpPr>
          <p:cNvPr id="95" name="Google Shape;9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start with the training module. It is a five-stage pipeline, and the important design decision is that the stages are decoupled: each one reads the previous stage's output from disk, so I can re-run any stage independently without redoing the whole chain.</a:t>
            </a:r>
            <a:br>
              <a:rPr lang="en-US"/>
            </a:br>
            <a:br>
              <a:rPr lang="en-US"/>
            </a:br>
            <a:r>
              <a:rPr lang="en-US"/>
              <a:t>First, feature extraction turns the WAV folder into a compressed NumPy dataset plus a JSON manifest. Second, training produces the Keras model and a timestamped training report. Third, conversion produces the TensorFlow Lite model. Fourth, validation compares the two models. And fifth, firmware generation writes the C++ files.</a:t>
            </a:r>
            <a:br>
              <a:rPr lang="en-US"/>
            </a:br>
            <a:br>
              <a:rPr lang="en-US"/>
            </a:br>
            <a:r>
              <a:rPr lang="en-US"/>
              <a:t>To avoid working on a stale cache, the extraction step computes a dataset signature - a hash of every raw file's path, size and modification time - so the downstream stages can automatically detect that the dataset changed and re-extract.</a:t>
            </a:r>
            <a:br>
              <a:rPr lang="en-US"/>
            </a:br>
            <a:br>
              <a:rPr lang="en-US"/>
            </a:br>
            <a:r>
              <a:rPr lang="en-US"/>
              <a:t>Alongside the pipeline, two diagnostic tools check the cache and the labels, and plot the learning curves. [~1:00]</a:t>
            </a:r>
            <a:endParaRPr/>
          </a:p>
        </p:txBody>
      </p:sp>
      <p:sp>
        <p:nvSpPr>
          <p:cNvPr id="142" name="Google Shape;14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 data. The dataset contains about 1,900 recordings: roughly 490 chainsaw recordings - from three different sources, including Stihl and Oregon saws, plus two sets where the chainsaw is mixed into jungle ambience - and about 1,400 negative recordings of the environment: birds, monkeys, a jaguar, snakes, rain, tropical rain, rainforest ambience, and motocross.</a:t>
            </a:r>
            <a:br>
              <a:rPr lang="en-US"/>
            </a:br>
            <a:br>
              <a:rPr lang="en-US"/>
            </a:br>
            <a:r>
              <a:rPr lang="en-US"/>
              <a:t>That last one is deliberate: a motocross bike is a two-stroke engine that is not a chainsaw, so it is exactly the kind of hard negative the model must learn to reject.</a:t>
            </a:r>
            <a:br>
              <a:rPr lang="en-US"/>
            </a:br>
            <a:br>
              <a:rPr lang="en-US"/>
            </a:br>
            <a:r>
              <a:rPr lang="en-US"/>
              <a:t>Each file is cut into two-second windows with a one-second hop, which gives almost six thousand feature vectors. Labelling is automatic, derived from the folder path, and a file that matches no known token raises an error - so the folder structure is the single source of truth.</a:t>
            </a:r>
            <a:br>
              <a:rPr lang="en-US"/>
            </a:br>
            <a:br>
              <a:rPr lang="en-US"/>
            </a:br>
            <a:r>
              <a:rPr lang="en-US"/>
              <a:t>One important detail: the split is grouped by source recording, so all windows coming from the same file stay on the same side of the split. Otherwise the model would be evaluated on windows almost identical to those it trained on. [~1:00]</a:t>
            </a:r>
            <a:endParaRPr/>
          </a:p>
        </p:txBody>
      </p:sp>
      <p:sp>
        <p:nvSpPr>
          <p:cNvPr id="190" name="Google Shape;1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How do we describe two seconds of sound to a neural network? Not with raw samples - sixteen thousand samples would be far too much for this microcontroller. Instead I extract a compact acoustic description: twenty MFCC coefficients, which capture the timbre, plus their first and second derivatives, which capture how that timbre evolves; a thirty-two-band mel spectrogram; and five classical spectral descriptors - centroid, bandwidth, rolloff, zero-crossing rate and energy.</a:t>
            </a:r>
            <a:br>
              <a:rPr lang="en-US"/>
            </a:br>
            <a:br>
              <a:rPr lang="en-US"/>
            </a:br>
            <a:r>
              <a:rPr lang="en-US"/>
              <a:t>Each of these is a time series, and I summarise each one by its mean and its standard deviation, which gives a fixed-size vector of one hundred and ninety-four values.</a:t>
            </a:r>
            <a:br>
              <a:rPr lang="en-US"/>
            </a:br>
            <a:br>
              <a:rPr lang="en-US"/>
            </a:br>
            <a:r>
              <a:rPr lang="en-US"/>
              <a:t>The model itself is deliberately small: a dense network, one hundred and ninety-four inputs, three hidden layers, one sigmoid output - about thirty-five thousand parameters. All the signal-processing parameters come from one single dataclass, FeatureConfig, and that will matter a lot in three slides. [~1:00]</a:t>
            </a:r>
            <a:endParaRPr/>
          </a:p>
        </p:txBody>
      </p:sp>
      <p:sp>
        <p:nvSpPr>
          <p:cNvPr id="222" name="Google Shape;2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results of the training run I kept, report number six. Training stops after eleven epochs thanks to early stopping, and the learning-rate scheduler halves the learning rate at the end.</a:t>
            </a:r>
            <a:br>
              <a:rPr lang="en-US"/>
            </a:br>
            <a:br>
              <a:rPr lang="en-US"/>
            </a:br>
            <a:r>
              <a:rPr lang="en-US"/>
              <a:t>On the test set - remember, recordings the model has never seen - accuracy is around ninety-eight percent, precision ninety-six, recall ninety-six, and the area under the ROC curve is 0.995. In absolute numbers, on eleven hundred and eighty-six test windows, the model makes twelve false positives and thirteen false negatives.</a:t>
            </a:r>
            <a:br>
              <a:rPr lang="en-US"/>
            </a:br>
            <a:br>
              <a:rPr lang="en-US"/>
            </a:br>
            <a:r>
              <a:rPr lang="en-US"/>
              <a:t>The gap between training and validation curves stays small, so there is no obvious overfitting on this dataset.</a:t>
            </a:r>
            <a:br>
              <a:rPr lang="en-US"/>
            </a:br>
            <a:br>
              <a:rPr lang="en-US"/>
            </a:br>
            <a:r>
              <a:rPr lang="en-US"/>
              <a:t>I want to be honest about what these numbers mean, though: they are computed on the same kind of audio the model was trained on. They tell us the architecture and the features are appropriate. They do not yet tell us how the device behaves in a real forest - I will come back to that at the end. [~1:15]</a:t>
            </a:r>
            <a:endParaRPr/>
          </a:p>
        </p:txBody>
      </p:sp>
      <p:sp>
        <p:nvSpPr>
          <p:cNvPr id="272" name="Google Shape;27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Converting to TensorFlow Lite is not automatically safe, so I built a validation step that runs both models - the Keras one and the converted one - on exactly the same validation and test splits, and compares them window by window.</a:t>
            </a:r>
            <a:br>
              <a:rPr lang="en-US"/>
            </a:br>
            <a:br>
              <a:rPr lang="en-US"/>
            </a:br>
            <a:r>
              <a:rPr lang="en-US"/>
              <a:t>The result is that the conversion is essentially lossless: zero prediction mismatches out of more than two thousand windows, and a mean absolute difference on the output probability of the order of ten to the minus nine. That is pure floating-point rounding.</a:t>
            </a:r>
            <a:br>
              <a:rPr lang="en-US"/>
            </a:br>
            <a:br>
              <a:rPr lang="en-US"/>
            </a:br>
            <a:r>
              <a:rPr lang="en-US"/>
              <a:t>There is one important negative result here. I initially enabled the default optimisation, which applies dynamic-range int8 quantization. It works perfectly with the desktop interpreter, but on the microcontroller, TensorFlow Lite Micro produced NaN outputs. So I deliberately export the model in plain float32, and I documented why - the model is small enough that we can afford it. [~1:00]</a:t>
            </a:r>
            <a:endParaRPr/>
          </a:p>
        </p:txBody>
      </p:sp>
      <p:sp>
        <p:nvSpPr>
          <p:cNvPr id="307" name="Google Shape;30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the model is validated, there is still a free parameter: the decision threshold on the output probability. I generated four validation reports for the same model, at thresholds 0.3, 0.4, 0.5 and 0.6.</a:t>
            </a:r>
            <a:br>
              <a:rPr lang="en-US"/>
            </a:br>
            <a:br>
              <a:rPr lang="en-US"/>
            </a:br>
            <a:r>
              <a:rPr lang="en-US"/>
              <a:t>The trend is clear. At 0.3 we get twenty false positives and twelve false negatives; at 0.6, only nine false positives, and just two more false negatives. In other words, raising the threshold removes more than half of the false alarms at almost no cost in detection.</a:t>
            </a:r>
            <a:br>
              <a:rPr lang="en-US"/>
            </a:br>
            <a:br>
              <a:rPr lang="en-US"/>
            </a:br>
            <a:r>
              <a:rPr lang="en-US"/>
              <a:t>Why does this matter? The two errors do not cost the same thing. A false negative means a chainsaw we did not hear - a tree gets cut. A false positive means a false alarm, and in a real deployment, sending a ranger patrol through the jungle for nothing is extremely expensive; more importantly, a device that cries wolf will simply be ignored, and then it protects nothing.</a:t>
            </a:r>
            <a:br>
              <a:rPr lang="en-US"/>
            </a:br>
            <a:br>
              <a:rPr lang="en-US"/>
            </a:br>
            <a:r>
              <a:rPr lang="en-US"/>
              <a:t>That is why the firmware operates at 0.65 - slightly more conservative than the best offline accuracy point. [~1:15]</a:t>
            </a:r>
            <a:endParaRPr/>
          </a:p>
        </p:txBody>
      </p:sp>
      <p:sp>
        <p:nvSpPr>
          <p:cNvPr id="338" name="Google Shape;33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for me, the most important one of the training module. The generation sub-module is the bridge between Python and C++.</a:t>
            </a:r>
            <a:br>
              <a:rPr lang="en-US"/>
            </a:br>
            <a:br>
              <a:rPr lang="en-US"/>
            </a:br>
            <a:r>
              <a:rPr lang="en-US"/>
              <a:t>It writes three files. The first one exports the feature configuration - sample rate, window size, number of MFCCs, FFT size - as a C header. The second precomputes the mel filterbank matrix and the DCT matrix, the same ones librosa builds internally, and writes them as plain float arrays, so the firmware can compute MFCCs without linking any heavy math library. The third embeds the TensorFlow Lite model itself as a byte array, with its SHA-256 for traceability.</a:t>
            </a:r>
            <a:br>
              <a:rPr lang="en-US"/>
            </a:br>
            <a:br>
              <a:rPr lang="en-US"/>
            </a:br>
            <a:r>
              <a:rPr lang="en-US"/>
              <a:t>These three files are generated, never hand-written, and everything that must survive a regeneration - pin numbers, detection thresholds, watchdog timeout - lives in a separate, hand-maintained header.</a:t>
            </a:r>
            <a:br>
              <a:rPr lang="en-US"/>
            </a:br>
            <a:br>
              <a:rPr lang="en-US"/>
            </a:br>
            <a:r>
              <a:rPr lang="en-US"/>
              <a:t>This is what guarantees coherence between the two modules: the Python and the C++ feature extractors cannot drift apart, because both are derived from one single configuration object. [~1:00]</a:t>
            </a:r>
            <a:endParaRPr/>
          </a:p>
        </p:txBody>
      </p:sp>
      <p:sp>
        <p:nvSpPr>
          <p:cNvPr id="364" name="Google Shape;36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 the embedded side, the firmware is a PlatformIO project, C++17, targeting an ESP32-WROOM-32. It uses only two external libraries: the TensorFlow Lite Micro runtime for the ESP32, and a small FFT library.</a:t>
            </a:r>
            <a:br>
              <a:rPr lang="en-US"/>
            </a:br>
            <a:br>
              <a:rPr lang="en-US"/>
            </a:br>
            <a:r>
              <a:rPr lang="en-US"/>
              <a:t>The code is organised in layers: a driver layer for the I2S microphone; a services layer containing the feature extraction and the watchdog; a model layer with the generated model and the interpreter; and a configuration layer where you can clearly see which files are generated by Python and which ones are hand-maintained.</a:t>
            </a:r>
            <a:br>
              <a:rPr lang="en-US"/>
            </a:br>
            <a:br>
              <a:rPr lang="en-US"/>
            </a:br>
            <a:r>
              <a:rPr lang="en-US"/>
              <a:t>Features are controlled by compile-time flags, so a disabled feature costs literally zero bytes of flash and zero CPU cycles. And the services are written to fail safe: if something cannot be initialised, the firmware logs a warning once and keeps running with that feature disabled, rather than blocking at start-up. On a device meant to sit alone in a forest, never blocking is more valuable than being complete. [~1:00]</a:t>
            </a:r>
            <a:endParaRPr/>
          </a:p>
        </p:txBody>
      </p:sp>
      <p:sp>
        <p:nvSpPr>
          <p:cNvPr id="395" name="Google Shape;3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where most of the engineering time actually went. The firmware has to compute exactly the same one hundred and ninety-four numbers as the Python extractor - otherwise the model receives inputs from a different distribution than the one it was trained on, and it simply fails, silently.</a:t>
            </a:r>
            <a:br>
              <a:rPr lang="en-US"/>
            </a:br>
            <a:br>
              <a:rPr lang="en-US"/>
            </a:br>
            <a:r>
              <a:rPr lang="en-US"/>
              <a:t>So I re-implemented, in C++, the whole chain: sixty-three overlapping FFT frames with a Hann window and reflect padding at the edges, the mel filterbank, the DCT to get the MFCCs, and the delta coefficients with the same convolution kernels librosa uses. Everything is accumulated in a streaming way, so I never keep full-length buffers in memory.</a:t>
            </a:r>
            <a:br>
              <a:rPr lang="en-US"/>
            </a:br>
            <a:br>
              <a:rPr lang="en-US"/>
            </a:br>
            <a:r>
              <a:rPr lang="en-US"/>
              <a:t>And here is the bug that cost me the most time: librosa internally uses two different decibel references - an absolute one inside the MFCC computation, and a window-relative one for the standalone mel block. I was using the same one for both, and the model returned almost zero probability no matter what I played at it. The model was fine. The features were not. [~1:00]</a:t>
            </a:r>
            <a:endParaRPr/>
          </a:p>
        </p:txBody>
      </p:sp>
      <p:sp>
        <p:nvSpPr>
          <p:cNvPr id="428" name="Google Shape;42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what happens on the device, once per second, forever.</a:t>
            </a:r>
            <a:br>
              <a:rPr lang="en-US"/>
            </a:br>
            <a:br>
              <a:rPr lang="en-US"/>
            </a:br>
            <a:r>
              <a:rPr lang="en-US"/>
              <a:t>At start-up the firmware loads the embedded model and allocates the TensorFlow Lite Micro interpreter in a six-kilobyte tensor arena. Then the loop captures audio into a sliding window: the very first pass blocks for a full two seconds, but after that it shifts the buffer left by one second and only records the newest second. That single optimisation halves the worst-case detection latency, because inference now runs every second instead of every two.</a:t>
            </a:r>
            <a:br>
              <a:rPr lang="en-US"/>
            </a:br>
            <a:br>
              <a:rPr lang="en-US"/>
            </a:br>
            <a:r>
              <a:rPr lang="en-US"/>
              <a:t>The sixteen thousand samples become one hundred and ninety-four features, we run the interpreter, and we get a probability.</a:t>
            </a:r>
            <a:br>
              <a:rPr lang="en-US"/>
            </a:br>
            <a:br>
              <a:rPr lang="en-US"/>
            </a:br>
            <a:r>
              <a:rPr lang="en-US"/>
              <a:t>But a single probability is never enough to raise an alert. It goes through a debounce and hysteresis state machine: two consecutive windows above 0.65 to confirm a detection, and the probability must drop below 0.35 to clear it. Using two different thresholds instead of one prevents the verdict from flickering when the signal hovers around the boundary. And a hardware watchdog reboots the board if the loop ever hangs. [~1:00]</a:t>
            </a:r>
            <a:endParaRPr/>
          </a:p>
        </p:txBody>
      </p:sp>
      <p:sp>
        <p:nvSpPr>
          <p:cNvPr id="472" name="Google Shape;47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where does the project stand today? The last dataset gave a model that works very well on real chainsaw sounds - when there is a chainsaw, it is detected, reliably, in about two seconds. The full chain, from Keras to TensorFlow Lite to the ESP32, is validated and runs completely offline.</a:t>
            </a:r>
            <a:br>
              <a:rPr lang="en-US"/>
            </a:br>
            <a:br>
              <a:rPr lang="en-US"/>
            </a:br>
            <a:r>
              <a:rPr lang="en-US"/>
              <a:t>The remaining weakness is the opposite direction: false positives. On sounds that are not chainsaws, the device sometimes fires.</a:t>
            </a:r>
            <a:br>
              <a:rPr lang="en-US"/>
            </a:br>
            <a:br>
              <a:rPr lang="en-US"/>
            </a:br>
            <a:r>
              <a:rPr lang="en-US"/>
              <a:t>And when you look at the dataset, this is not surprising. There is no wind in it - and the microphone has no wind screen. There are no insects, although cicadas are one of the loudest and most constant sounds in a tropical forest. No human voices, no non-chainsaw small engines like brush cutters, which are acoustically the closest thing to a chainsaw. And no recordings of the microphone's own noise floor - which matters, because the firmware peak-normalises every window, so a nearly silent window gets its own hiss amplified to full scale, and the model has simply never been shown that pattern labelled as 'not a chainsaw'. [~1:00]</a:t>
            </a:r>
            <a:endParaRPr/>
          </a:p>
        </p:txBody>
      </p:sp>
      <p:sp>
        <p:nvSpPr>
          <p:cNvPr id="524" name="Google Shape;52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conclude, the most valuable next step is not a bigger model. It is better negative data - and specifically, negatives recorded on the deployed hardware itself: wind, insects, human voices, brush cutters, and the microphone's own noise floor. Data augmentation, mixing noise at several signal-to-noise ratios and low-pass filtering the chainsaw clips to simulate distance, is a cheap way to multiply that coverage.</a:t>
            </a:r>
            <a:br>
              <a:rPr lang="en-US"/>
            </a:br>
            <a:br>
              <a:rPr lang="en-US"/>
            </a:br>
            <a:r>
              <a:rPr lang="en-US"/>
              <a:t>The second step is threshold optimisation based on real field conditions. Today the value 0.65 comes from an offline study on my dataset. The right method is to install the node, log its probabilities for several days in the actual environment, and then choose the operating point that minimises false positives while keeping the detection rate high. The tooling for that already exists - every validation run produces a report per threshold.</a:t>
            </a:r>
            <a:br>
              <a:rPr lang="en-US"/>
            </a:br>
            <a:br>
              <a:rPr lang="en-US"/>
            </a:br>
            <a:r>
              <a:rPr lang="en-US"/>
              <a:t>Because in the end, the criterion for success is not accuracy on a test set. It is whether a ranger in the Amazon trusts the alert enough to walk into the forest. Thank you very much - I'll be happy to take your questions. [~0:45]</a:t>
            </a:r>
            <a:endParaRPr/>
          </a:p>
        </p:txBody>
      </p:sp>
      <p:sp>
        <p:nvSpPr>
          <p:cNvPr id="560" name="Google Shape;56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417"/>
        </a:solidFill>
      </p:bgPr>
    </p:bg>
    <p:spTree>
      <p:nvGrpSpPr>
        <p:cNvPr id="15" name="Shape 15"/>
        <p:cNvGrpSpPr/>
        <p:nvPr/>
      </p:nvGrpSpPr>
      <p:grpSpPr>
        <a:xfrm>
          <a:off x="0" y="0"/>
          <a:ext cx="0" cy="0"/>
          <a:chOff x="0" y="0"/>
          <a:chExt cx="0" cy="0"/>
        </a:xfrm>
      </p:grpSpPr>
      <p:sp>
        <p:nvSpPr>
          <p:cNvPr id="16" name="Google Shape;16;p3"/>
          <p:cNvSpPr/>
          <p:nvPr/>
        </p:nvSpPr>
        <p:spPr>
          <a:xfrm>
            <a:off x="640080" y="5029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alibri"/>
              <a:buNone/>
            </a:pPr>
            <a:r>
              <a:rPr b="1" i="0" lang="en-US" sz="1100" u="none" cap="none" strike="noStrike">
                <a:solidFill>
                  <a:srgbClr val="97BC62"/>
                </a:solidFill>
                <a:latin typeface="Calibri"/>
                <a:ea typeface="Calibri"/>
                <a:cs typeface="Calibri"/>
                <a:sym typeface="Calibri"/>
              </a:rPr>
              <a:t>CPE Lyon  ·  Energy Pool  ·  Universidad Militar Nueva Granada</a:t>
            </a:r>
            <a:endParaRPr b="0" i="0" sz="1100" u="none" cap="none" strike="noStrike">
              <a:solidFill>
                <a:schemeClr val="dk1"/>
              </a:solidFill>
              <a:latin typeface="Calibri"/>
              <a:ea typeface="Calibri"/>
              <a:cs typeface="Calibri"/>
              <a:sym typeface="Calibri"/>
            </a:endParaRPr>
          </a:p>
        </p:txBody>
      </p:sp>
      <p:sp>
        <p:nvSpPr>
          <p:cNvPr id="17" name="Google Shape;17;p3"/>
          <p:cNvSpPr/>
          <p:nvPr/>
        </p:nvSpPr>
        <p:spPr>
          <a:xfrm>
            <a:off x="640080" y="960120"/>
            <a:ext cx="6400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4000"/>
              <a:buFont typeface="Cambria"/>
              <a:buNone/>
            </a:pPr>
            <a:r>
              <a:rPr b="1" i="0" lang="en-US" sz="4000" u="none" cap="none" strike="noStrike">
                <a:solidFill>
                  <a:srgbClr val="F5F5F0"/>
                </a:solidFill>
                <a:latin typeface="Cambria"/>
                <a:ea typeface="Cambria"/>
                <a:cs typeface="Cambria"/>
                <a:sym typeface="Cambria"/>
              </a:rPr>
              <a:t>Hearing the forest</a:t>
            </a:r>
            <a:endParaRPr b="0" i="0" sz="4000" u="none" cap="none" strike="noStrike">
              <a:solidFill>
                <a:schemeClr val="dk1"/>
              </a:solidFill>
              <a:latin typeface="Calibri"/>
              <a:ea typeface="Calibri"/>
              <a:cs typeface="Calibri"/>
              <a:sym typeface="Calibri"/>
            </a:endParaRPr>
          </a:p>
        </p:txBody>
      </p:sp>
      <p:sp>
        <p:nvSpPr>
          <p:cNvPr id="18" name="Google Shape;18;p3"/>
          <p:cNvSpPr/>
          <p:nvPr/>
        </p:nvSpPr>
        <p:spPr>
          <a:xfrm>
            <a:off x="640080" y="173736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2600"/>
              <a:buFont typeface="Cambria"/>
              <a:buNone/>
            </a:pPr>
            <a:r>
              <a:rPr b="0" i="0" lang="en-US" sz="2600" u="none" cap="none" strike="noStrike">
                <a:solidFill>
                  <a:srgbClr val="97BC62"/>
                </a:solidFill>
                <a:latin typeface="Cambria"/>
                <a:ea typeface="Cambria"/>
                <a:cs typeface="Cambria"/>
                <a:sym typeface="Cambria"/>
              </a:rPr>
              <a:t>Acoustic chainsaw detection on an ESP32</a:t>
            </a:r>
            <a:endParaRPr b="0" i="0" sz="2600" u="none" cap="none" strike="noStrike">
              <a:solidFill>
                <a:schemeClr val="dk1"/>
              </a:solidFill>
              <a:latin typeface="Calibri"/>
              <a:ea typeface="Calibri"/>
              <a:cs typeface="Calibri"/>
              <a:sym typeface="Calibri"/>
            </a:endParaRPr>
          </a:p>
        </p:txBody>
      </p:sp>
      <p:sp>
        <p:nvSpPr>
          <p:cNvPr id="19" name="Google Shape;19;p3"/>
          <p:cNvSpPr/>
          <p:nvPr/>
        </p:nvSpPr>
        <p:spPr>
          <a:xfrm>
            <a:off x="640080" y="23317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A2B"/>
              </a:buClr>
              <a:buSzPts val="1300"/>
              <a:buFont typeface="Calibri"/>
              <a:buNone/>
            </a:pPr>
            <a:r>
              <a:rPr b="0" i="1" lang="en-US" sz="1300" u="none" cap="none" strike="noStrike">
                <a:solidFill>
                  <a:srgbClr val="E09A2B"/>
                </a:solidFill>
                <a:latin typeface="Calibri"/>
                <a:ea typeface="Calibri"/>
                <a:cs typeface="Calibri"/>
                <a:sym typeface="Calibri"/>
              </a:rPr>
              <a:t>An offline edge-AI node against illegal logging </a:t>
            </a:r>
            <a:r>
              <a:rPr i="1" lang="en-US" sz="1300">
                <a:solidFill>
                  <a:srgbClr val="E09A2B"/>
                </a:solidFill>
                <a:latin typeface="Calibri"/>
                <a:ea typeface="Calibri"/>
                <a:cs typeface="Calibri"/>
                <a:sym typeface="Calibri"/>
              </a:rPr>
              <a:t>(</a:t>
            </a:r>
            <a:r>
              <a:rPr b="0" i="1" lang="en-US" sz="1300" u="none" cap="none" strike="noStrike">
                <a:solidFill>
                  <a:srgbClr val="E09A2B"/>
                </a:solidFill>
                <a:latin typeface="Calibri"/>
                <a:ea typeface="Calibri"/>
                <a:cs typeface="Calibri"/>
                <a:sym typeface="Calibri"/>
              </a:rPr>
              <a:t>TensorFlow → TFLite → microcontroller)</a:t>
            </a:r>
            <a:endParaRPr b="0" i="0" sz="1300" u="none" cap="none" strike="noStrike">
              <a:solidFill>
                <a:schemeClr val="dk1"/>
              </a:solidFill>
              <a:latin typeface="Calibri"/>
              <a:ea typeface="Calibri"/>
              <a:cs typeface="Calibri"/>
              <a:sym typeface="Calibri"/>
            </a:endParaRPr>
          </a:p>
        </p:txBody>
      </p:sp>
      <p:sp>
        <p:nvSpPr>
          <p:cNvPr id="20" name="Google Shape;20;p3"/>
          <p:cNvSpPr/>
          <p:nvPr/>
        </p:nvSpPr>
        <p:spPr>
          <a:xfrm>
            <a:off x="640080" y="2971800"/>
            <a:ext cx="1600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950"/>
              <a:buFont typeface="Calibri"/>
              <a:buNone/>
            </a:pPr>
            <a:r>
              <a:rPr b="1" i="0" lang="en-US" sz="950" u="none" cap="none" strike="noStrike">
                <a:solidFill>
                  <a:srgbClr val="97BC62"/>
                </a:solidFill>
                <a:latin typeface="Calibri"/>
                <a:ea typeface="Calibri"/>
                <a:cs typeface="Calibri"/>
                <a:sym typeface="Calibri"/>
              </a:rPr>
              <a:t>PRESENTED BY</a:t>
            </a:r>
            <a:endParaRPr b="0" i="0" sz="950" u="none" cap="none" strike="noStrike">
              <a:solidFill>
                <a:schemeClr val="dk1"/>
              </a:solidFill>
              <a:latin typeface="Calibri"/>
              <a:ea typeface="Calibri"/>
              <a:cs typeface="Calibri"/>
              <a:sym typeface="Calibri"/>
            </a:endParaRPr>
          </a:p>
        </p:txBody>
      </p:sp>
      <p:sp>
        <p:nvSpPr>
          <p:cNvPr id="21" name="Google Shape;21;p3"/>
          <p:cNvSpPr/>
          <p:nvPr/>
        </p:nvSpPr>
        <p:spPr>
          <a:xfrm>
            <a:off x="2286000" y="2971800"/>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300"/>
              <a:buFont typeface="Calibri"/>
              <a:buNone/>
            </a:pPr>
            <a:r>
              <a:rPr b="0" i="0" lang="en-US" sz="1300" u="none" cap="none" strike="noStrike">
                <a:solidFill>
                  <a:srgbClr val="F5F5F0"/>
                </a:solidFill>
                <a:latin typeface="Calibri"/>
                <a:ea typeface="Calibri"/>
                <a:cs typeface="Calibri"/>
                <a:sym typeface="Calibri"/>
              </a:rPr>
              <a:t>Rayane</a:t>
            </a:r>
            <a:r>
              <a:rPr lang="en-US" sz="1300">
                <a:solidFill>
                  <a:srgbClr val="F5F5F0"/>
                </a:solidFill>
                <a:latin typeface="Calibri"/>
                <a:ea typeface="Calibri"/>
                <a:cs typeface="Calibri"/>
                <a:sym typeface="Calibri"/>
              </a:rPr>
              <a:t> Merlin,</a:t>
            </a:r>
            <a:r>
              <a:rPr b="0" i="0" lang="en-US" sz="1300" u="none" cap="none" strike="noStrike">
                <a:solidFill>
                  <a:srgbClr val="F5F5F0"/>
                </a:solidFill>
                <a:latin typeface="Calibri"/>
                <a:ea typeface="Calibri"/>
                <a:cs typeface="Calibri"/>
                <a:sym typeface="Calibri"/>
              </a:rPr>
              <a:t> </a:t>
            </a:r>
            <a:r>
              <a:rPr lang="en-US" sz="1300">
                <a:solidFill>
                  <a:srgbClr val="F5F5F0"/>
                </a:solidFill>
                <a:latin typeface="Calibri"/>
                <a:ea typeface="Calibri"/>
                <a:cs typeface="Calibri"/>
                <a:sym typeface="Calibri"/>
              </a:rPr>
              <a:t>E</a:t>
            </a:r>
            <a:r>
              <a:rPr b="0" i="0" lang="en-US" sz="1300" u="none" cap="none" strike="noStrike">
                <a:solidFill>
                  <a:srgbClr val="F5F5F0"/>
                </a:solidFill>
                <a:latin typeface="Calibri"/>
                <a:ea typeface="Calibri"/>
                <a:cs typeface="Calibri"/>
                <a:sym typeface="Calibri"/>
              </a:rPr>
              <a:t>ngineering student, CPE Lyon (France)</a:t>
            </a:r>
            <a:endParaRPr b="0" i="0" sz="1300" u="none" cap="none" strike="noStrike">
              <a:solidFill>
                <a:schemeClr val="dk1"/>
              </a:solidFill>
              <a:latin typeface="Calibri"/>
              <a:ea typeface="Calibri"/>
              <a:cs typeface="Calibri"/>
              <a:sym typeface="Calibri"/>
            </a:endParaRPr>
          </a:p>
        </p:txBody>
      </p:sp>
      <p:sp>
        <p:nvSpPr>
          <p:cNvPr id="22" name="Google Shape;22;p3"/>
          <p:cNvSpPr/>
          <p:nvPr/>
        </p:nvSpPr>
        <p:spPr>
          <a:xfrm>
            <a:off x="640080" y="3355848"/>
            <a:ext cx="1600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950"/>
              <a:buFont typeface="Calibri"/>
              <a:buNone/>
            </a:pPr>
            <a:r>
              <a:rPr b="1" i="0" lang="en-US" sz="950" u="none" cap="none" strike="noStrike">
                <a:solidFill>
                  <a:srgbClr val="97BC62"/>
                </a:solidFill>
                <a:latin typeface="Calibri"/>
                <a:ea typeface="Calibri"/>
                <a:cs typeface="Calibri"/>
                <a:sym typeface="Calibri"/>
              </a:rPr>
              <a:t>APPRENTICESHIP</a:t>
            </a:r>
            <a:endParaRPr b="0" i="0" sz="950" u="none" cap="none" strike="noStrike">
              <a:solidFill>
                <a:schemeClr val="dk1"/>
              </a:solidFill>
              <a:latin typeface="Calibri"/>
              <a:ea typeface="Calibri"/>
              <a:cs typeface="Calibri"/>
              <a:sym typeface="Calibri"/>
            </a:endParaRPr>
          </a:p>
        </p:txBody>
      </p:sp>
      <p:sp>
        <p:nvSpPr>
          <p:cNvPr id="23" name="Google Shape;23;p3"/>
          <p:cNvSpPr/>
          <p:nvPr/>
        </p:nvSpPr>
        <p:spPr>
          <a:xfrm>
            <a:off x="2286000" y="3355848"/>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300"/>
              <a:buFont typeface="Calibri"/>
              <a:buNone/>
            </a:pPr>
            <a:r>
              <a:rPr b="0" i="0" lang="en-US" sz="1300" u="none" cap="none" strike="noStrike">
                <a:solidFill>
                  <a:srgbClr val="F5F5F0"/>
                </a:solidFill>
                <a:latin typeface="Calibri"/>
                <a:ea typeface="Calibri"/>
                <a:cs typeface="Calibri"/>
                <a:sym typeface="Calibri"/>
              </a:rPr>
              <a:t>Energy Pool, Lyon</a:t>
            </a:r>
            <a:r>
              <a:rPr lang="en-US" sz="1300">
                <a:solidFill>
                  <a:srgbClr val="F5F5F0"/>
                </a:solidFill>
                <a:latin typeface="Calibri"/>
                <a:ea typeface="Calibri"/>
                <a:cs typeface="Calibri"/>
                <a:sym typeface="Calibri"/>
              </a:rPr>
              <a:t> - E</a:t>
            </a:r>
            <a:r>
              <a:rPr b="0" i="0" lang="en-US" sz="1300" u="none" cap="none" strike="noStrike">
                <a:solidFill>
                  <a:srgbClr val="F5F5F0"/>
                </a:solidFill>
                <a:latin typeface="Calibri"/>
                <a:ea typeface="Calibri"/>
                <a:cs typeface="Calibri"/>
                <a:sym typeface="Calibri"/>
              </a:rPr>
              <a:t>nergy management</a:t>
            </a:r>
            <a:endParaRPr b="0" i="0" sz="1300" u="none" cap="none" strike="noStrike">
              <a:solidFill>
                <a:schemeClr val="dk1"/>
              </a:solidFill>
              <a:latin typeface="Calibri"/>
              <a:ea typeface="Calibri"/>
              <a:cs typeface="Calibri"/>
              <a:sym typeface="Calibri"/>
            </a:endParaRPr>
          </a:p>
        </p:txBody>
      </p:sp>
      <p:sp>
        <p:nvSpPr>
          <p:cNvPr id="24" name="Google Shape;24;p3"/>
          <p:cNvSpPr/>
          <p:nvPr/>
        </p:nvSpPr>
        <p:spPr>
          <a:xfrm>
            <a:off x="640080" y="3739896"/>
            <a:ext cx="1600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950"/>
              <a:buFont typeface="Calibri"/>
              <a:buNone/>
            </a:pPr>
            <a:r>
              <a:rPr b="1" i="0" lang="en-US" sz="950" u="none" cap="none" strike="noStrike">
                <a:solidFill>
                  <a:srgbClr val="97BC62"/>
                </a:solidFill>
                <a:latin typeface="Calibri"/>
                <a:ea typeface="Calibri"/>
                <a:cs typeface="Calibri"/>
                <a:sym typeface="Calibri"/>
              </a:rPr>
              <a:t>INTERNSHIP</a:t>
            </a:r>
            <a:endParaRPr b="0" i="0" sz="950" u="none" cap="none" strike="noStrike">
              <a:solidFill>
                <a:schemeClr val="dk1"/>
              </a:solidFill>
              <a:latin typeface="Calibri"/>
              <a:ea typeface="Calibri"/>
              <a:cs typeface="Calibri"/>
              <a:sym typeface="Calibri"/>
            </a:endParaRPr>
          </a:p>
        </p:txBody>
      </p:sp>
      <p:sp>
        <p:nvSpPr>
          <p:cNvPr id="25" name="Google Shape;25;p3"/>
          <p:cNvSpPr/>
          <p:nvPr/>
        </p:nvSpPr>
        <p:spPr>
          <a:xfrm>
            <a:off x="2286000" y="3739896"/>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300"/>
              <a:buFont typeface="Calibri"/>
              <a:buNone/>
            </a:pPr>
            <a:r>
              <a:rPr b="0" i="0" lang="en-US" sz="1300" u="none" cap="none" strike="noStrike">
                <a:solidFill>
                  <a:srgbClr val="F5F5F0"/>
                </a:solidFill>
                <a:latin typeface="Calibri"/>
                <a:ea typeface="Calibri"/>
                <a:cs typeface="Calibri"/>
                <a:sym typeface="Calibri"/>
              </a:rPr>
              <a:t>Universidad Militar Nueva Granada, Bogotá</a:t>
            </a:r>
            <a:endParaRPr b="0" i="0" sz="1300" u="none" cap="none" strike="noStrike">
              <a:solidFill>
                <a:schemeClr val="dk1"/>
              </a:solidFill>
              <a:latin typeface="Calibri"/>
              <a:ea typeface="Calibri"/>
              <a:cs typeface="Calibri"/>
              <a:sym typeface="Calibri"/>
            </a:endParaRPr>
          </a:p>
        </p:txBody>
      </p:sp>
      <p:sp>
        <p:nvSpPr>
          <p:cNvPr id="26" name="Google Shape;26;p3"/>
          <p:cNvSpPr/>
          <p:nvPr/>
        </p:nvSpPr>
        <p:spPr>
          <a:xfrm>
            <a:off x="640080" y="4123944"/>
            <a:ext cx="1600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950"/>
              <a:buFont typeface="Calibri"/>
              <a:buNone/>
            </a:pPr>
            <a:r>
              <a:rPr b="1" i="0" lang="en-US" sz="950" u="none" cap="none" strike="noStrike">
                <a:solidFill>
                  <a:srgbClr val="97BC62"/>
                </a:solidFill>
                <a:latin typeface="Calibri"/>
                <a:ea typeface="Calibri"/>
                <a:cs typeface="Calibri"/>
                <a:sym typeface="Calibri"/>
              </a:rPr>
              <a:t>PERIOD</a:t>
            </a:r>
            <a:endParaRPr b="0" i="0" sz="950" u="none" cap="none" strike="noStrike">
              <a:solidFill>
                <a:schemeClr val="dk1"/>
              </a:solidFill>
              <a:latin typeface="Calibri"/>
              <a:ea typeface="Calibri"/>
              <a:cs typeface="Calibri"/>
              <a:sym typeface="Calibri"/>
            </a:endParaRPr>
          </a:p>
        </p:txBody>
      </p:sp>
      <p:sp>
        <p:nvSpPr>
          <p:cNvPr id="27" name="Google Shape;27;p3"/>
          <p:cNvSpPr/>
          <p:nvPr/>
        </p:nvSpPr>
        <p:spPr>
          <a:xfrm>
            <a:off x="2286000" y="4123944"/>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300"/>
              <a:buFont typeface="Calibri"/>
              <a:buNone/>
            </a:pPr>
            <a:r>
              <a:rPr b="0" i="0" lang="en-US" sz="1300" u="none" cap="none" strike="noStrike">
                <a:solidFill>
                  <a:srgbClr val="F5F5F0"/>
                </a:solidFill>
                <a:latin typeface="Calibri"/>
                <a:ea typeface="Calibri"/>
                <a:cs typeface="Calibri"/>
                <a:sym typeface="Calibri"/>
              </a:rPr>
              <a:t>15 June 2026 → 14 August 2026</a:t>
            </a:r>
            <a:endParaRPr b="0" i="0" sz="1300" u="none" cap="none" strike="noStrike">
              <a:solidFill>
                <a:schemeClr val="dk1"/>
              </a:solidFill>
              <a:latin typeface="Calibri"/>
              <a:ea typeface="Calibri"/>
              <a:cs typeface="Calibri"/>
              <a:sym typeface="Calibri"/>
            </a:endParaRPr>
          </a:p>
        </p:txBody>
      </p:sp>
      <p:sp>
        <p:nvSpPr>
          <p:cNvPr id="28" name="Google Shape;28;p3"/>
          <p:cNvSpPr/>
          <p:nvPr/>
        </p:nvSpPr>
        <p:spPr>
          <a:xfrm>
            <a:off x="640080" y="4507992"/>
            <a:ext cx="1600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950"/>
              <a:buFont typeface="Calibri"/>
              <a:buNone/>
            </a:pPr>
            <a:r>
              <a:rPr b="1" i="0" lang="en-US" sz="950" u="none" cap="none" strike="noStrike">
                <a:solidFill>
                  <a:srgbClr val="97BC62"/>
                </a:solidFill>
                <a:latin typeface="Calibri"/>
                <a:ea typeface="Calibri"/>
                <a:cs typeface="Calibri"/>
                <a:sym typeface="Calibri"/>
              </a:rPr>
              <a:t>SUPERVISORS</a:t>
            </a:r>
            <a:endParaRPr b="0" i="0" sz="950" u="none" cap="none" strike="noStrike">
              <a:solidFill>
                <a:schemeClr val="dk1"/>
              </a:solidFill>
              <a:latin typeface="Calibri"/>
              <a:ea typeface="Calibri"/>
              <a:cs typeface="Calibri"/>
              <a:sym typeface="Calibri"/>
            </a:endParaRPr>
          </a:p>
        </p:txBody>
      </p:sp>
      <p:sp>
        <p:nvSpPr>
          <p:cNvPr id="29" name="Google Shape;29;p3"/>
          <p:cNvSpPr/>
          <p:nvPr/>
        </p:nvSpPr>
        <p:spPr>
          <a:xfrm>
            <a:off x="2286000" y="4507992"/>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300"/>
              <a:buFont typeface="Calibri"/>
              <a:buNone/>
            </a:pPr>
            <a:r>
              <a:rPr b="0" i="0" lang="en-US" sz="1300" u="none" cap="none" strike="noStrike">
                <a:solidFill>
                  <a:srgbClr val="F5F5F0"/>
                </a:solidFill>
                <a:latin typeface="Calibri"/>
                <a:ea typeface="Calibri"/>
                <a:cs typeface="Calibri"/>
                <a:sym typeface="Calibri"/>
              </a:rPr>
              <a:t>Edward Guillen  ·  Juan Carlos Martínez</a:t>
            </a:r>
            <a:endParaRPr b="0" i="0" sz="1300" u="none" cap="none" strike="noStrike">
              <a:solidFill>
                <a:schemeClr val="dk1"/>
              </a:solidFill>
              <a:latin typeface="Calibri"/>
              <a:ea typeface="Calibri"/>
              <a:cs typeface="Calibri"/>
              <a:sym typeface="Calibri"/>
            </a:endParaRPr>
          </a:p>
        </p:txBody>
      </p:sp>
      <p:sp>
        <p:nvSpPr>
          <p:cNvPr id="30" name="Google Shape;30;p3"/>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7BC62"/>
              </a:buClr>
              <a:buSzPts val="1000"/>
              <a:buFont typeface="Calibri"/>
              <a:buNone/>
            </a:pPr>
            <a:r>
              <a:rPr b="0" i="0" lang="en-US" sz="1000" u="none" cap="none" strike="noStrike">
                <a:solidFill>
                  <a:srgbClr val="97BC62"/>
                </a:solidFill>
                <a:latin typeface="Calibri"/>
                <a:ea typeface="Calibri"/>
                <a:cs typeface="Calibri"/>
                <a:sym typeface="Calibri"/>
              </a:rPr>
              <a:t>1 / 15</a:t>
            </a:r>
            <a:endParaRPr b="0" i="0" sz="1000" u="none" cap="none" strike="noStrike">
              <a:solidFill>
                <a:schemeClr val="dk1"/>
              </a:solidFill>
              <a:latin typeface="Calibri"/>
              <a:ea typeface="Calibri"/>
              <a:cs typeface="Calibri"/>
              <a:sym typeface="Calibri"/>
            </a:endParaRPr>
          </a:p>
        </p:txBody>
      </p:sp>
      <p:pic>
        <p:nvPicPr>
          <p:cNvPr id="31" name="Google Shape;31;p3"/>
          <p:cNvPicPr preferRelativeResize="0"/>
          <p:nvPr/>
        </p:nvPicPr>
        <p:blipFill>
          <a:blip r:embed="rId3">
            <a:alphaModFix/>
          </a:blip>
          <a:stretch>
            <a:fillRect/>
          </a:stretch>
        </p:blipFill>
        <p:spPr>
          <a:xfrm>
            <a:off x="7760350" y="3914350"/>
            <a:ext cx="4199049" cy="2440725"/>
          </a:xfrm>
          <a:prstGeom prst="rect">
            <a:avLst/>
          </a:prstGeom>
          <a:solidFill>
            <a:srgbClr val="163524"/>
          </a:solidFill>
          <a:ln cap="flat" cmpd="sng" w="15875">
            <a:solidFill>
              <a:srgbClr val="2C5F2D"/>
            </a:solidFill>
            <a:prstDash val="dash"/>
            <a:round/>
            <a:headEnd len="sm" w="sm" type="none"/>
            <a:tailEnd len="sm" w="sm" type="none"/>
          </a:ln>
        </p:spPr>
      </p:pic>
      <p:pic>
        <p:nvPicPr>
          <p:cNvPr id="32" name="Google Shape;32;p3"/>
          <p:cNvPicPr preferRelativeResize="0"/>
          <p:nvPr/>
        </p:nvPicPr>
        <p:blipFill>
          <a:blip r:embed="rId4">
            <a:alphaModFix/>
          </a:blip>
          <a:stretch>
            <a:fillRect/>
          </a:stretch>
        </p:blipFill>
        <p:spPr>
          <a:xfrm>
            <a:off x="264441" y="5754250"/>
            <a:ext cx="1795555" cy="822950"/>
          </a:xfrm>
          <a:prstGeom prst="rect">
            <a:avLst/>
          </a:prstGeom>
          <a:noFill/>
          <a:ln>
            <a:noFill/>
          </a:ln>
        </p:spPr>
      </p:pic>
      <p:pic>
        <p:nvPicPr>
          <p:cNvPr id="33" name="Google Shape;33;p3"/>
          <p:cNvPicPr preferRelativeResize="0"/>
          <p:nvPr/>
        </p:nvPicPr>
        <p:blipFill rotWithShape="1">
          <a:blip r:embed="rId5">
            <a:alphaModFix/>
          </a:blip>
          <a:srcRect b="19059" l="22262" r="18828" t="15444"/>
          <a:stretch/>
        </p:blipFill>
        <p:spPr>
          <a:xfrm>
            <a:off x="2512967" y="5524905"/>
            <a:ext cx="1795551" cy="1048022"/>
          </a:xfrm>
          <a:prstGeom prst="rect">
            <a:avLst/>
          </a:prstGeom>
          <a:noFill/>
          <a:ln>
            <a:noFill/>
          </a:ln>
        </p:spPr>
      </p:pic>
      <p:pic>
        <p:nvPicPr>
          <p:cNvPr id="34" name="Google Shape;34;p3" title="LOGO-UMNG-Dark.png"/>
          <p:cNvPicPr preferRelativeResize="0"/>
          <p:nvPr/>
        </p:nvPicPr>
        <p:blipFill rotWithShape="1">
          <a:blip r:embed="rId6">
            <a:alphaModFix/>
          </a:blip>
          <a:srcRect b="6019" l="2865" r="0" t="9207"/>
          <a:stretch/>
        </p:blipFill>
        <p:spPr>
          <a:xfrm>
            <a:off x="4747602" y="5679836"/>
            <a:ext cx="2632576" cy="888476"/>
          </a:xfrm>
          <a:prstGeom prst="rect">
            <a:avLst/>
          </a:prstGeom>
          <a:noFill/>
          <a:ln>
            <a:noFill/>
          </a:ln>
        </p:spPr>
      </p:pic>
      <p:pic>
        <p:nvPicPr>
          <p:cNvPr id="35" name="Google Shape;35;p3"/>
          <p:cNvPicPr preferRelativeResize="0"/>
          <p:nvPr/>
        </p:nvPicPr>
        <p:blipFill rotWithShape="1">
          <a:blip r:embed="rId7">
            <a:alphaModFix/>
          </a:blip>
          <a:srcRect b="5800" l="0" r="0" t="13189"/>
          <a:stretch/>
        </p:blipFill>
        <p:spPr>
          <a:xfrm>
            <a:off x="8704375" y="224101"/>
            <a:ext cx="3255026" cy="35158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4"/>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DEVELOPER EXPERIENCE</a:t>
            </a:r>
            <a:endParaRPr b="0" i="0" sz="1100" u="none" cap="none" strike="noStrike">
              <a:solidFill>
                <a:schemeClr val="dk1"/>
              </a:solidFill>
              <a:latin typeface="Calibri"/>
              <a:ea typeface="Calibri"/>
              <a:cs typeface="Calibri"/>
              <a:sym typeface="Calibri"/>
            </a:endParaRPr>
          </a:p>
        </p:txBody>
      </p:sp>
      <p:sp>
        <p:nvSpPr>
          <p:cNvPr id="42" name="Google Shape;42;p4"/>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3200"/>
              <a:buFont typeface="Cambria"/>
              <a:buNone/>
            </a:pPr>
            <a:r>
              <a:rPr b="1" i="0" lang="en-US" sz="3200" u="none" cap="none" strike="noStrike">
                <a:solidFill>
                  <a:srgbClr val="18271E"/>
                </a:solidFill>
                <a:latin typeface="Cambria"/>
                <a:ea typeface="Cambria"/>
                <a:cs typeface="Cambria"/>
                <a:sym typeface="Cambria"/>
              </a:rPr>
              <a:t>One command to rule them all</a:t>
            </a:r>
            <a:endParaRPr b="0" i="0" sz="3200" u="none" cap="none" strike="noStrike">
              <a:solidFill>
                <a:schemeClr val="dk1"/>
              </a:solidFill>
              <a:latin typeface="Calibri"/>
              <a:ea typeface="Calibri"/>
              <a:cs typeface="Calibri"/>
              <a:sym typeface="Calibri"/>
            </a:endParaRPr>
          </a:p>
        </p:txBody>
      </p:sp>
      <p:sp>
        <p:nvSpPr>
          <p:cNvPr id="43" name="Google Shape;43;p4"/>
          <p:cNvSpPr/>
          <p:nvPr/>
        </p:nvSpPr>
        <p:spPr>
          <a:xfrm>
            <a:off x="594360" y="1234440"/>
            <a:ext cx="3383280" cy="1783080"/>
          </a:xfrm>
          <a:prstGeom prst="roundRect">
            <a:avLst>
              <a:gd fmla="val 4615"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822960" y="1444752"/>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822960" y="14447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46" name="Google Shape;46;p4"/>
          <p:cNvSpPr/>
          <p:nvPr/>
        </p:nvSpPr>
        <p:spPr>
          <a:xfrm>
            <a:off x="1325880" y="1463040"/>
            <a:ext cx="24688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500"/>
              <a:buFont typeface="Calibri"/>
              <a:buNone/>
            </a:pPr>
            <a:r>
              <a:rPr b="1" i="0" lang="en-US" sz="1500" u="none" cap="none" strike="noStrike">
                <a:solidFill>
                  <a:srgbClr val="2C5F2D"/>
                </a:solidFill>
                <a:latin typeface="Calibri"/>
                <a:ea typeface="Calibri"/>
                <a:cs typeface="Calibri"/>
                <a:sym typeface="Calibri"/>
              </a:rPr>
              <a:t>Bootstrap</a:t>
            </a:r>
            <a:endParaRPr b="0" i="0" sz="1500" u="none" cap="none" strike="noStrike">
              <a:solidFill>
                <a:schemeClr val="dk1"/>
              </a:solidFill>
              <a:latin typeface="Calibri"/>
              <a:ea typeface="Calibri"/>
              <a:cs typeface="Calibri"/>
              <a:sym typeface="Calibri"/>
            </a:endParaRPr>
          </a:p>
        </p:txBody>
      </p:sp>
      <p:sp>
        <p:nvSpPr>
          <p:cNvPr id="47" name="Google Shape;47;p4"/>
          <p:cNvSpPr/>
          <p:nvPr/>
        </p:nvSpPr>
        <p:spPr>
          <a:xfrm>
            <a:off x="822960" y="1965960"/>
            <a:ext cx="29260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150"/>
              <a:buFont typeface="Calibri"/>
              <a:buNone/>
            </a:pPr>
            <a:r>
              <a:rPr b="0" i="1" lang="en-US" sz="1450" u="none" cap="none" strike="noStrike">
                <a:solidFill>
                  <a:srgbClr val="18271E"/>
                </a:solidFill>
                <a:latin typeface="Calibri"/>
                <a:ea typeface="Calibri"/>
                <a:cs typeface="Calibri"/>
                <a:sym typeface="Calibri"/>
              </a:rPr>
              <a:t>init.sh · init.ps1 · init.bat</a:t>
            </a:r>
            <a:endParaRPr b="0" i="1" sz="1450" u="none" cap="none" strike="noStrike">
              <a:solidFill>
                <a:srgbClr val="18271E"/>
              </a:solidFill>
              <a:latin typeface="Calibri"/>
              <a:ea typeface="Calibri"/>
              <a:cs typeface="Calibri"/>
              <a:sym typeface="Calibri"/>
            </a:endParaRPr>
          </a:p>
          <a:p>
            <a:pPr indent="0" lvl="0" marL="0" marR="0" rtl="0" algn="l">
              <a:spcBef>
                <a:spcPts val="0"/>
              </a:spcBef>
              <a:spcAft>
                <a:spcPts val="0"/>
              </a:spcAft>
              <a:buClr>
                <a:srgbClr val="18271E"/>
              </a:buClr>
              <a:buSzPts val="1150"/>
              <a:buFont typeface="Calibri"/>
              <a:buNone/>
            </a:pPr>
            <a:r>
              <a:t/>
            </a:r>
            <a:endParaRPr i="1" sz="1450">
              <a:solidFill>
                <a:srgbClr val="18271E"/>
              </a:solidFill>
              <a:latin typeface="Calibri"/>
              <a:ea typeface="Calibri"/>
              <a:cs typeface="Calibri"/>
              <a:sym typeface="Calibri"/>
            </a:endParaRPr>
          </a:p>
          <a:p>
            <a:pPr indent="0" lvl="0" marL="0" marR="0" rtl="0" algn="l">
              <a:spcBef>
                <a:spcPts val="0"/>
              </a:spcBef>
              <a:spcAft>
                <a:spcPts val="0"/>
              </a:spcAft>
              <a:buClr>
                <a:srgbClr val="18271E"/>
              </a:buClr>
              <a:buSzPts val="1150"/>
              <a:buFont typeface="Calibri"/>
              <a:buNone/>
            </a:pPr>
            <a:r>
              <a:rPr b="0" i="0" lang="en-US" sz="1150" u="none" cap="none" strike="noStrike">
                <a:solidFill>
                  <a:srgbClr val="18271E"/>
                </a:solidFill>
                <a:latin typeface="Calibri"/>
                <a:ea typeface="Calibri"/>
                <a:cs typeface="Calibri"/>
                <a:sym typeface="Calibri"/>
              </a:rPr>
              <a:t>Creates the Python 3.11 venv and installs everything, on Windows, WSL and Linux.</a:t>
            </a:r>
            <a:endParaRPr b="0" i="0" sz="1150" u="none" cap="none" strike="noStrike">
              <a:solidFill>
                <a:schemeClr val="dk1"/>
              </a:solidFill>
              <a:latin typeface="Calibri"/>
              <a:ea typeface="Calibri"/>
              <a:cs typeface="Calibri"/>
              <a:sym typeface="Calibri"/>
            </a:endParaRPr>
          </a:p>
        </p:txBody>
      </p:sp>
      <p:sp>
        <p:nvSpPr>
          <p:cNvPr id="48" name="Google Shape;48;p4"/>
          <p:cNvSpPr/>
          <p:nvPr/>
        </p:nvSpPr>
        <p:spPr>
          <a:xfrm>
            <a:off x="4251960" y="1234440"/>
            <a:ext cx="3383280" cy="1783080"/>
          </a:xfrm>
          <a:prstGeom prst="roundRect">
            <a:avLst>
              <a:gd fmla="val 4615"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4480560" y="1444752"/>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4480560" y="14447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51" name="Google Shape;51;p4"/>
          <p:cNvSpPr/>
          <p:nvPr/>
        </p:nvSpPr>
        <p:spPr>
          <a:xfrm>
            <a:off x="4983480" y="1463040"/>
            <a:ext cx="24688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500"/>
              <a:buFont typeface="Calibri"/>
              <a:buNone/>
            </a:pPr>
            <a:r>
              <a:rPr b="1" i="0" lang="en-US" sz="1500" u="none" cap="none" strike="noStrike">
                <a:solidFill>
                  <a:srgbClr val="2C5F2D"/>
                </a:solidFill>
                <a:latin typeface="Calibri"/>
                <a:ea typeface="Calibri"/>
                <a:cs typeface="Calibri"/>
                <a:sym typeface="Calibri"/>
              </a:rPr>
              <a:t>Locked deps</a:t>
            </a:r>
            <a:endParaRPr b="0" i="0" sz="1500" u="none" cap="none" strike="noStrike">
              <a:solidFill>
                <a:schemeClr val="dk1"/>
              </a:solidFill>
              <a:latin typeface="Calibri"/>
              <a:ea typeface="Calibri"/>
              <a:cs typeface="Calibri"/>
              <a:sym typeface="Calibri"/>
            </a:endParaRPr>
          </a:p>
        </p:txBody>
      </p:sp>
      <p:sp>
        <p:nvSpPr>
          <p:cNvPr id="52" name="Google Shape;52;p4"/>
          <p:cNvSpPr/>
          <p:nvPr/>
        </p:nvSpPr>
        <p:spPr>
          <a:xfrm>
            <a:off x="4480560" y="1965960"/>
            <a:ext cx="29260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150"/>
              <a:buFont typeface="Calibri"/>
              <a:buNone/>
            </a:pPr>
            <a:r>
              <a:rPr b="1" i="1" lang="en-US" sz="1350" u="none" cap="none" strike="noStrike">
                <a:solidFill>
                  <a:srgbClr val="18271E"/>
                </a:solidFill>
                <a:latin typeface="Calibri"/>
                <a:ea typeface="Calibri"/>
                <a:cs typeface="Calibri"/>
                <a:sym typeface="Calibri"/>
              </a:rPr>
              <a:t>pip-tools</a:t>
            </a:r>
            <a:r>
              <a:rPr b="0" i="0" lang="en-US" sz="1150" u="none" cap="none" strike="noStrike">
                <a:solidFill>
                  <a:srgbClr val="18271E"/>
                </a:solidFill>
                <a:latin typeface="Calibri"/>
                <a:ea typeface="Calibri"/>
                <a:cs typeface="Calibri"/>
                <a:sym typeface="Calibri"/>
              </a:rPr>
              <a:t> compiles a short, hand-written requirements.in into a fully pinned requirements.txt.</a:t>
            </a:r>
            <a:endParaRPr b="0" i="0" sz="1150" u="none" cap="none" strike="noStrike">
              <a:solidFill>
                <a:schemeClr val="dk1"/>
              </a:solidFill>
              <a:latin typeface="Calibri"/>
              <a:ea typeface="Calibri"/>
              <a:cs typeface="Calibri"/>
              <a:sym typeface="Calibri"/>
            </a:endParaRPr>
          </a:p>
        </p:txBody>
      </p:sp>
      <p:sp>
        <p:nvSpPr>
          <p:cNvPr id="53" name="Google Shape;53;p4"/>
          <p:cNvSpPr/>
          <p:nvPr/>
        </p:nvSpPr>
        <p:spPr>
          <a:xfrm>
            <a:off x="7909560" y="1234440"/>
            <a:ext cx="3383280" cy="1783080"/>
          </a:xfrm>
          <a:prstGeom prst="roundRect">
            <a:avLst>
              <a:gd fmla="val 4615"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8138160" y="1444752"/>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8138160" y="14447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6" name="Google Shape;56;p4"/>
          <p:cNvSpPr/>
          <p:nvPr/>
        </p:nvSpPr>
        <p:spPr>
          <a:xfrm>
            <a:off x="8641080" y="1463040"/>
            <a:ext cx="24688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500"/>
              <a:buFont typeface="Calibri"/>
              <a:buNone/>
            </a:pPr>
            <a:r>
              <a:rPr b="1" i="0" lang="en-US" sz="1500" u="none" cap="none" strike="noStrike">
                <a:solidFill>
                  <a:srgbClr val="2C5F2D"/>
                </a:solidFill>
                <a:latin typeface="Calibri"/>
                <a:ea typeface="Calibri"/>
                <a:cs typeface="Calibri"/>
                <a:sym typeface="Calibri"/>
              </a:rPr>
              <a:t>One task runner</a:t>
            </a:r>
            <a:endParaRPr b="0" i="0" sz="1500" u="none" cap="none" strike="noStrike">
              <a:solidFill>
                <a:schemeClr val="dk1"/>
              </a:solidFill>
              <a:latin typeface="Calibri"/>
              <a:ea typeface="Calibri"/>
              <a:cs typeface="Calibri"/>
              <a:sym typeface="Calibri"/>
            </a:endParaRPr>
          </a:p>
        </p:txBody>
      </p:sp>
      <p:sp>
        <p:nvSpPr>
          <p:cNvPr id="57" name="Google Shape;57;p4"/>
          <p:cNvSpPr/>
          <p:nvPr/>
        </p:nvSpPr>
        <p:spPr>
          <a:xfrm>
            <a:off x="8138160" y="1965960"/>
            <a:ext cx="29260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150"/>
              <a:buFont typeface="Calibri"/>
              <a:buNone/>
            </a:pPr>
            <a:r>
              <a:rPr b="0" i="0" lang="en-US" sz="1150" u="none" cap="none" strike="noStrike">
                <a:solidFill>
                  <a:srgbClr val="18271E"/>
                </a:solidFill>
                <a:latin typeface="Calibri"/>
                <a:ea typeface="Calibri"/>
                <a:cs typeface="Calibri"/>
                <a:sym typeface="Calibri"/>
              </a:rPr>
              <a:t>Every action lives in </a:t>
            </a:r>
            <a:r>
              <a:rPr b="1" i="1" lang="en-US" sz="1350" u="none" cap="none" strike="noStrike">
                <a:solidFill>
                  <a:srgbClr val="18271E"/>
                </a:solidFill>
                <a:latin typeface="Calibri"/>
                <a:ea typeface="Calibri"/>
                <a:cs typeface="Calibri"/>
                <a:sym typeface="Calibri"/>
              </a:rPr>
              <a:t>tasks.py</a:t>
            </a:r>
            <a:r>
              <a:rPr b="0" i="0" lang="en-US" sz="1150" u="none" cap="none" strike="noStrike">
                <a:solidFill>
                  <a:srgbClr val="18271E"/>
                </a:solidFill>
                <a:latin typeface="Calibri"/>
                <a:ea typeface="Calibri"/>
                <a:cs typeface="Calibri"/>
                <a:sym typeface="Calibri"/>
              </a:rPr>
              <a:t> as an Invoke task, each with a short alias.</a:t>
            </a:r>
            <a:endParaRPr b="0" i="0" sz="1150" u="none" cap="none" strike="noStrike">
              <a:solidFill>
                <a:schemeClr val="dk1"/>
              </a:solidFill>
              <a:latin typeface="Calibri"/>
              <a:ea typeface="Calibri"/>
              <a:cs typeface="Calibri"/>
              <a:sym typeface="Calibri"/>
            </a:endParaRPr>
          </a:p>
        </p:txBody>
      </p:sp>
      <p:sp>
        <p:nvSpPr>
          <p:cNvPr id="58" name="Google Shape;58;p4"/>
          <p:cNvSpPr/>
          <p:nvPr/>
        </p:nvSpPr>
        <p:spPr>
          <a:xfrm>
            <a:off x="594360" y="3291840"/>
            <a:ext cx="10927080" cy="2697480"/>
          </a:xfrm>
          <a:prstGeom prst="roundRect">
            <a:avLst>
              <a:gd fmla="val 2712" name="adj"/>
            </a:avLst>
          </a:prstGeom>
          <a:solidFill>
            <a:srgbClr val="0E2417"/>
          </a:solidFill>
          <a:ln cap="flat" cmpd="sng" w="12700">
            <a:solidFill>
              <a:srgbClr val="0E24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914400" y="3474720"/>
            <a:ext cx="4572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A2B"/>
              </a:buClr>
              <a:buSzPts val="1300"/>
              <a:buFont typeface="Courier New"/>
              <a:buNone/>
            </a:pPr>
            <a:r>
              <a:rPr b="1" i="0" lang="en-US" sz="1300" u="none" cap="none" strike="noStrike">
                <a:solidFill>
                  <a:srgbClr val="E09A2B"/>
                </a:solidFill>
                <a:latin typeface="Courier New"/>
                <a:ea typeface="Courier New"/>
                <a:cs typeface="Courier New"/>
                <a:sym typeface="Courier New"/>
              </a:rPr>
              <a:t>$  inv --list</a:t>
            </a:r>
            <a:endParaRPr b="0" i="0" sz="1300" u="none" cap="none" strike="noStrike">
              <a:solidFill>
                <a:schemeClr val="dk1"/>
              </a:solidFill>
              <a:latin typeface="Calibri"/>
              <a:ea typeface="Calibri"/>
              <a:cs typeface="Calibri"/>
              <a:sym typeface="Calibri"/>
            </a:endParaRPr>
          </a:p>
        </p:txBody>
      </p:sp>
      <p:sp>
        <p:nvSpPr>
          <p:cNvPr id="60" name="Google Shape;60;p4"/>
          <p:cNvSpPr/>
          <p:nvPr/>
        </p:nvSpPr>
        <p:spPr>
          <a:xfrm>
            <a:off x="914400" y="3886200"/>
            <a:ext cx="2148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0" i="0" lang="en-US" sz="1100" u="none" cap="none" strike="noStrike">
                <a:solidFill>
                  <a:srgbClr val="97BC62"/>
                </a:solidFill>
                <a:latin typeface="Courier New"/>
                <a:ea typeface="Courier New"/>
                <a:cs typeface="Courier New"/>
                <a:sym typeface="Courier New"/>
              </a:rPr>
              <a:t>inv extract-features</a:t>
            </a:r>
            <a:endParaRPr b="0" i="0" sz="1100" u="none" cap="none" strike="noStrike">
              <a:solidFill>
                <a:schemeClr val="dk1"/>
              </a:solidFill>
              <a:latin typeface="Calibri"/>
              <a:ea typeface="Calibri"/>
              <a:cs typeface="Calibri"/>
              <a:sym typeface="Calibri"/>
            </a:endParaRPr>
          </a:p>
        </p:txBody>
      </p:sp>
      <p:sp>
        <p:nvSpPr>
          <p:cNvPr id="61" name="Google Shape;61;p4"/>
          <p:cNvSpPr/>
          <p:nvPr/>
        </p:nvSpPr>
        <p:spPr>
          <a:xfrm>
            <a:off x="3063240" y="3886200"/>
            <a:ext cx="868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9A8"/>
              </a:buClr>
              <a:buSzPts val="1000"/>
              <a:buFont typeface="Courier New"/>
              <a:buNone/>
            </a:pPr>
            <a:r>
              <a:rPr b="0" i="0" lang="en-US" sz="1000" u="none" cap="none" strike="noStrike">
                <a:solidFill>
                  <a:srgbClr val="B7C9A8"/>
                </a:solidFill>
                <a:latin typeface="Courier New"/>
                <a:ea typeface="Courier New"/>
                <a:cs typeface="Courier New"/>
                <a:sym typeface="Courier New"/>
              </a:rPr>
              <a:t>e, ef</a:t>
            </a:r>
            <a:endParaRPr b="0" i="0" sz="1000" u="none" cap="none" strike="noStrike">
              <a:solidFill>
                <a:schemeClr val="dk1"/>
              </a:solidFill>
              <a:latin typeface="Calibri"/>
              <a:ea typeface="Calibri"/>
              <a:cs typeface="Calibri"/>
              <a:sym typeface="Calibri"/>
            </a:endParaRPr>
          </a:p>
        </p:txBody>
      </p:sp>
      <p:sp>
        <p:nvSpPr>
          <p:cNvPr id="62" name="Google Shape;62;p4"/>
          <p:cNvSpPr/>
          <p:nvPr/>
        </p:nvSpPr>
        <p:spPr>
          <a:xfrm>
            <a:off x="3931920" y="3886200"/>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050"/>
              <a:buFont typeface="Calibri"/>
              <a:buNone/>
            </a:pPr>
            <a:r>
              <a:rPr b="0" i="0" lang="en-US" sz="1050" u="none" cap="none" strike="noStrike">
                <a:solidFill>
                  <a:srgbClr val="F5F5F0"/>
                </a:solidFill>
                <a:latin typeface="Calibri"/>
                <a:ea typeface="Calibri"/>
                <a:cs typeface="Calibri"/>
                <a:sym typeface="Calibri"/>
              </a:rPr>
              <a:t>WAV → feature_dataset.npz</a:t>
            </a:r>
            <a:endParaRPr b="0" i="0" sz="1050" u="none" cap="none" strike="noStrike">
              <a:solidFill>
                <a:schemeClr val="dk1"/>
              </a:solidFill>
              <a:latin typeface="Calibri"/>
              <a:ea typeface="Calibri"/>
              <a:cs typeface="Calibri"/>
              <a:sym typeface="Calibri"/>
            </a:endParaRPr>
          </a:p>
        </p:txBody>
      </p:sp>
      <p:sp>
        <p:nvSpPr>
          <p:cNvPr id="63" name="Google Shape;63;p4"/>
          <p:cNvSpPr/>
          <p:nvPr/>
        </p:nvSpPr>
        <p:spPr>
          <a:xfrm>
            <a:off x="914400" y="4270248"/>
            <a:ext cx="2148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0" i="0" lang="en-US" sz="1100" u="none" cap="none" strike="noStrike">
                <a:solidFill>
                  <a:srgbClr val="97BC62"/>
                </a:solidFill>
                <a:latin typeface="Courier New"/>
                <a:ea typeface="Courier New"/>
                <a:cs typeface="Courier New"/>
                <a:sym typeface="Courier New"/>
              </a:rPr>
              <a:t>inv train</a:t>
            </a:r>
            <a:endParaRPr b="0" i="0" sz="1100" u="none" cap="none" strike="noStrike">
              <a:solidFill>
                <a:schemeClr val="dk1"/>
              </a:solidFill>
              <a:latin typeface="Calibri"/>
              <a:ea typeface="Calibri"/>
              <a:cs typeface="Calibri"/>
              <a:sym typeface="Calibri"/>
            </a:endParaRPr>
          </a:p>
        </p:txBody>
      </p:sp>
      <p:sp>
        <p:nvSpPr>
          <p:cNvPr id="64" name="Google Shape;64;p4"/>
          <p:cNvSpPr/>
          <p:nvPr/>
        </p:nvSpPr>
        <p:spPr>
          <a:xfrm>
            <a:off x="3063240" y="4270248"/>
            <a:ext cx="868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9A8"/>
              </a:buClr>
              <a:buSzPts val="1000"/>
              <a:buFont typeface="Courier New"/>
              <a:buNone/>
            </a:pPr>
            <a:r>
              <a:rPr b="0" i="0" lang="en-US" sz="1000" u="none" cap="none" strike="noStrike">
                <a:solidFill>
                  <a:srgbClr val="B7C9A8"/>
                </a:solidFill>
                <a:latin typeface="Courier New"/>
                <a:ea typeface="Courier New"/>
                <a:cs typeface="Courier New"/>
                <a:sym typeface="Courier New"/>
              </a:rPr>
              <a:t>t</a:t>
            </a:r>
            <a:endParaRPr b="0" i="0" sz="1000" u="none" cap="none" strike="noStrike">
              <a:solidFill>
                <a:schemeClr val="dk1"/>
              </a:solidFill>
              <a:latin typeface="Calibri"/>
              <a:ea typeface="Calibri"/>
              <a:cs typeface="Calibri"/>
              <a:sym typeface="Calibri"/>
            </a:endParaRPr>
          </a:p>
        </p:txBody>
      </p:sp>
      <p:sp>
        <p:nvSpPr>
          <p:cNvPr id="65" name="Google Shape;65;p4"/>
          <p:cNvSpPr/>
          <p:nvPr/>
        </p:nvSpPr>
        <p:spPr>
          <a:xfrm>
            <a:off x="3931920" y="427024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050"/>
              <a:buFont typeface="Calibri"/>
              <a:buNone/>
            </a:pPr>
            <a:r>
              <a:rPr b="0" i="0" lang="en-US" sz="1050" u="none" cap="none" strike="noStrike">
                <a:solidFill>
                  <a:srgbClr val="F5F5F0"/>
                </a:solidFill>
                <a:latin typeface="Calibri"/>
                <a:ea typeface="Calibri"/>
                <a:cs typeface="Calibri"/>
                <a:sym typeface="Calibri"/>
              </a:rPr>
              <a:t>train the Keras model</a:t>
            </a:r>
            <a:endParaRPr b="0" i="0" sz="1050" u="none" cap="none" strike="noStrike">
              <a:solidFill>
                <a:schemeClr val="dk1"/>
              </a:solidFill>
              <a:latin typeface="Calibri"/>
              <a:ea typeface="Calibri"/>
              <a:cs typeface="Calibri"/>
              <a:sym typeface="Calibri"/>
            </a:endParaRPr>
          </a:p>
        </p:txBody>
      </p:sp>
      <p:sp>
        <p:nvSpPr>
          <p:cNvPr id="66" name="Google Shape;66;p4"/>
          <p:cNvSpPr/>
          <p:nvPr/>
        </p:nvSpPr>
        <p:spPr>
          <a:xfrm>
            <a:off x="914400" y="4654296"/>
            <a:ext cx="2148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0" i="0" lang="en-US" sz="1100" u="none" cap="none" strike="noStrike">
                <a:solidFill>
                  <a:srgbClr val="97BC62"/>
                </a:solidFill>
                <a:latin typeface="Courier New"/>
                <a:ea typeface="Courier New"/>
                <a:cs typeface="Courier New"/>
                <a:sym typeface="Courier New"/>
              </a:rPr>
              <a:t>inv convert</a:t>
            </a:r>
            <a:endParaRPr b="0" i="0" sz="1100" u="none" cap="none" strike="noStrike">
              <a:solidFill>
                <a:schemeClr val="dk1"/>
              </a:solidFill>
              <a:latin typeface="Calibri"/>
              <a:ea typeface="Calibri"/>
              <a:cs typeface="Calibri"/>
              <a:sym typeface="Calibri"/>
            </a:endParaRPr>
          </a:p>
        </p:txBody>
      </p:sp>
      <p:sp>
        <p:nvSpPr>
          <p:cNvPr id="67" name="Google Shape;67;p4"/>
          <p:cNvSpPr/>
          <p:nvPr/>
        </p:nvSpPr>
        <p:spPr>
          <a:xfrm>
            <a:off x="3063240" y="4654296"/>
            <a:ext cx="868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9A8"/>
              </a:buClr>
              <a:buSzPts val="1000"/>
              <a:buFont typeface="Courier New"/>
              <a:buNone/>
            </a:pPr>
            <a:r>
              <a:rPr b="0" i="0" lang="en-US" sz="1000" u="none" cap="none" strike="noStrike">
                <a:solidFill>
                  <a:srgbClr val="B7C9A8"/>
                </a:solidFill>
                <a:latin typeface="Courier New"/>
                <a:ea typeface="Courier New"/>
                <a:cs typeface="Courier New"/>
                <a:sym typeface="Courier New"/>
              </a:rPr>
              <a:t>c, tfl</a:t>
            </a:r>
            <a:endParaRPr b="0" i="0" sz="1000" u="none" cap="none" strike="noStrike">
              <a:solidFill>
                <a:schemeClr val="dk1"/>
              </a:solidFill>
              <a:latin typeface="Calibri"/>
              <a:ea typeface="Calibri"/>
              <a:cs typeface="Calibri"/>
              <a:sym typeface="Calibri"/>
            </a:endParaRPr>
          </a:p>
        </p:txBody>
      </p:sp>
      <p:sp>
        <p:nvSpPr>
          <p:cNvPr id="68" name="Google Shape;68;p4"/>
          <p:cNvSpPr/>
          <p:nvPr/>
        </p:nvSpPr>
        <p:spPr>
          <a:xfrm>
            <a:off x="3931920" y="46542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050"/>
              <a:buFont typeface="Calibri"/>
              <a:buNone/>
            </a:pPr>
            <a:r>
              <a:rPr b="0" i="0" lang="en-US" sz="1050" u="none" cap="none" strike="noStrike">
                <a:solidFill>
                  <a:srgbClr val="F5F5F0"/>
                </a:solidFill>
                <a:latin typeface="Calibri"/>
                <a:ea typeface="Calibri"/>
                <a:cs typeface="Calibri"/>
                <a:sym typeface="Calibri"/>
              </a:rPr>
              <a:t>model.h5 → model.tflite</a:t>
            </a:r>
            <a:endParaRPr b="0" i="0" sz="1050" u="none" cap="none" strike="noStrike">
              <a:solidFill>
                <a:schemeClr val="dk1"/>
              </a:solidFill>
              <a:latin typeface="Calibri"/>
              <a:ea typeface="Calibri"/>
              <a:cs typeface="Calibri"/>
              <a:sym typeface="Calibri"/>
            </a:endParaRPr>
          </a:p>
        </p:txBody>
      </p:sp>
      <p:sp>
        <p:nvSpPr>
          <p:cNvPr id="69" name="Google Shape;69;p4"/>
          <p:cNvSpPr/>
          <p:nvPr/>
        </p:nvSpPr>
        <p:spPr>
          <a:xfrm>
            <a:off x="914400" y="5038344"/>
            <a:ext cx="2148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0" i="0" lang="en-US" sz="1100" u="none" cap="none" strike="noStrike">
                <a:solidFill>
                  <a:srgbClr val="97BC62"/>
                </a:solidFill>
                <a:latin typeface="Courier New"/>
                <a:ea typeface="Courier New"/>
                <a:cs typeface="Courier New"/>
                <a:sym typeface="Courier New"/>
              </a:rPr>
              <a:t>inv validate-tflite</a:t>
            </a:r>
            <a:endParaRPr b="0" i="0" sz="1100" u="none" cap="none" strike="noStrike">
              <a:solidFill>
                <a:schemeClr val="dk1"/>
              </a:solidFill>
              <a:latin typeface="Calibri"/>
              <a:ea typeface="Calibri"/>
              <a:cs typeface="Calibri"/>
              <a:sym typeface="Calibri"/>
            </a:endParaRPr>
          </a:p>
        </p:txBody>
      </p:sp>
      <p:sp>
        <p:nvSpPr>
          <p:cNvPr id="70" name="Google Shape;70;p4"/>
          <p:cNvSpPr/>
          <p:nvPr/>
        </p:nvSpPr>
        <p:spPr>
          <a:xfrm>
            <a:off x="3063240" y="5038344"/>
            <a:ext cx="868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9A8"/>
              </a:buClr>
              <a:buSzPts val="1000"/>
              <a:buFont typeface="Courier New"/>
              <a:buNone/>
            </a:pPr>
            <a:r>
              <a:rPr b="0" i="0" lang="en-US" sz="1000" u="none" cap="none" strike="noStrike">
                <a:solidFill>
                  <a:srgbClr val="B7C9A8"/>
                </a:solidFill>
                <a:latin typeface="Courier New"/>
                <a:ea typeface="Courier New"/>
                <a:cs typeface="Courier New"/>
                <a:sym typeface="Courier New"/>
              </a:rPr>
              <a:t>vt</a:t>
            </a:r>
            <a:endParaRPr b="0" i="0" sz="1000" u="none" cap="none" strike="noStrike">
              <a:solidFill>
                <a:schemeClr val="dk1"/>
              </a:solidFill>
              <a:latin typeface="Calibri"/>
              <a:ea typeface="Calibri"/>
              <a:cs typeface="Calibri"/>
              <a:sym typeface="Calibri"/>
            </a:endParaRPr>
          </a:p>
        </p:txBody>
      </p:sp>
      <p:sp>
        <p:nvSpPr>
          <p:cNvPr id="71" name="Google Shape;71;p4"/>
          <p:cNvSpPr/>
          <p:nvPr/>
        </p:nvSpPr>
        <p:spPr>
          <a:xfrm>
            <a:off x="3931920" y="5038344"/>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050"/>
              <a:buFont typeface="Calibri"/>
              <a:buNone/>
            </a:pPr>
            <a:r>
              <a:rPr b="0" i="0" lang="en-US" sz="1050" u="none" cap="none" strike="noStrike">
                <a:solidFill>
                  <a:srgbClr val="F5F5F0"/>
                </a:solidFill>
                <a:latin typeface="Calibri"/>
                <a:ea typeface="Calibri"/>
                <a:cs typeface="Calibri"/>
                <a:sym typeface="Calibri"/>
              </a:rPr>
              <a:t>Keras vs TFLite, per threshold</a:t>
            </a:r>
            <a:endParaRPr b="0" i="0" sz="1050" u="none" cap="none" strike="noStrike">
              <a:solidFill>
                <a:schemeClr val="dk1"/>
              </a:solidFill>
              <a:latin typeface="Calibri"/>
              <a:ea typeface="Calibri"/>
              <a:cs typeface="Calibri"/>
              <a:sym typeface="Calibri"/>
            </a:endParaRPr>
          </a:p>
        </p:txBody>
      </p:sp>
      <p:sp>
        <p:nvSpPr>
          <p:cNvPr id="72" name="Google Shape;72;p4"/>
          <p:cNvSpPr/>
          <p:nvPr/>
        </p:nvSpPr>
        <p:spPr>
          <a:xfrm>
            <a:off x="914400" y="5422392"/>
            <a:ext cx="2148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0" i="0" lang="en-US" sz="1100" u="none" cap="none" strike="noStrike">
                <a:solidFill>
                  <a:srgbClr val="97BC62"/>
                </a:solidFill>
                <a:latin typeface="Courier New"/>
                <a:ea typeface="Courier New"/>
                <a:cs typeface="Courier New"/>
                <a:sym typeface="Courier New"/>
              </a:rPr>
              <a:t>inv generate-firmware</a:t>
            </a:r>
            <a:endParaRPr b="0" i="0" sz="1100" u="none" cap="none" strike="noStrike">
              <a:solidFill>
                <a:schemeClr val="dk1"/>
              </a:solidFill>
              <a:latin typeface="Calibri"/>
              <a:ea typeface="Calibri"/>
              <a:cs typeface="Calibri"/>
              <a:sym typeface="Calibri"/>
            </a:endParaRPr>
          </a:p>
        </p:txBody>
      </p:sp>
      <p:sp>
        <p:nvSpPr>
          <p:cNvPr id="73" name="Google Shape;73;p4"/>
          <p:cNvSpPr/>
          <p:nvPr/>
        </p:nvSpPr>
        <p:spPr>
          <a:xfrm>
            <a:off x="3063240" y="5422392"/>
            <a:ext cx="868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9A8"/>
              </a:buClr>
              <a:buSzPts val="1000"/>
              <a:buFont typeface="Courier New"/>
              <a:buNone/>
            </a:pPr>
            <a:r>
              <a:rPr b="0" i="0" lang="en-US" sz="1000" u="none" cap="none" strike="noStrike">
                <a:solidFill>
                  <a:srgbClr val="B7C9A8"/>
                </a:solidFill>
                <a:latin typeface="Courier New"/>
                <a:ea typeface="Courier New"/>
                <a:cs typeface="Courier New"/>
                <a:sym typeface="Courier New"/>
              </a:rPr>
              <a:t>gf</a:t>
            </a:r>
            <a:endParaRPr b="0" i="0" sz="1000" u="none" cap="none" strike="noStrike">
              <a:solidFill>
                <a:schemeClr val="dk1"/>
              </a:solidFill>
              <a:latin typeface="Calibri"/>
              <a:ea typeface="Calibri"/>
              <a:cs typeface="Calibri"/>
              <a:sym typeface="Calibri"/>
            </a:endParaRPr>
          </a:p>
        </p:txBody>
      </p:sp>
      <p:sp>
        <p:nvSpPr>
          <p:cNvPr id="74" name="Google Shape;74;p4"/>
          <p:cNvSpPr/>
          <p:nvPr/>
        </p:nvSpPr>
        <p:spPr>
          <a:xfrm>
            <a:off x="3931920" y="5422392"/>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050"/>
              <a:buFont typeface="Calibri"/>
              <a:buNone/>
            </a:pPr>
            <a:r>
              <a:rPr b="0" i="0" lang="en-US" sz="1050" u="none" cap="none" strike="noStrike">
                <a:solidFill>
                  <a:srgbClr val="F5F5F0"/>
                </a:solidFill>
                <a:latin typeface="Calibri"/>
                <a:ea typeface="Calibri"/>
                <a:cs typeface="Calibri"/>
                <a:sym typeface="Calibri"/>
              </a:rPr>
              <a:t>write the C++ files</a:t>
            </a:r>
            <a:endParaRPr b="0" i="0" sz="1050" u="none" cap="none" strike="noStrike">
              <a:solidFill>
                <a:schemeClr val="dk1"/>
              </a:solidFill>
              <a:latin typeface="Calibri"/>
              <a:ea typeface="Calibri"/>
              <a:cs typeface="Calibri"/>
              <a:sym typeface="Calibri"/>
            </a:endParaRPr>
          </a:p>
        </p:txBody>
      </p:sp>
      <p:sp>
        <p:nvSpPr>
          <p:cNvPr id="75" name="Google Shape;75;p4"/>
          <p:cNvSpPr/>
          <p:nvPr/>
        </p:nvSpPr>
        <p:spPr>
          <a:xfrm>
            <a:off x="6309360" y="3886200"/>
            <a:ext cx="2148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0" i="0" lang="en-US" sz="1100" u="none" cap="none" strike="noStrike">
                <a:solidFill>
                  <a:srgbClr val="97BC62"/>
                </a:solidFill>
                <a:latin typeface="Courier New"/>
                <a:ea typeface="Courier New"/>
                <a:cs typeface="Courier New"/>
                <a:sym typeface="Courier New"/>
              </a:rPr>
              <a:t>inv build</a:t>
            </a:r>
            <a:endParaRPr b="0" i="0" sz="1100" u="none" cap="none" strike="noStrike">
              <a:solidFill>
                <a:schemeClr val="dk1"/>
              </a:solidFill>
              <a:latin typeface="Calibri"/>
              <a:ea typeface="Calibri"/>
              <a:cs typeface="Calibri"/>
              <a:sym typeface="Calibri"/>
            </a:endParaRPr>
          </a:p>
        </p:txBody>
      </p:sp>
      <p:sp>
        <p:nvSpPr>
          <p:cNvPr id="76" name="Google Shape;76;p4"/>
          <p:cNvSpPr/>
          <p:nvPr/>
        </p:nvSpPr>
        <p:spPr>
          <a:xfrm>
            <a:off x="8458200" y="3886200"/>
            <a:ext cx="86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9A8"/>
              </a:buClr>
              <a:buSzPts val="1000"/>
              <a:buFont typeface="Courier New"/>
              <a:buNone/>
            </a:pPr>
            <a:r>
              <a:rPr b="0" i="0" lang="en-US" sz="1000" u="none" cap="none" strike="noStrike">
                <a:solidFill>
                  <a:srgbClr val="B7C9A8"/>
                </a:solidFill>
                <a:latin typeface="Courier New"/>
                <a:ea typeface="Courier New"/>
                <a:cs typeface="Courier New"/>
                <a:sym typeface="Courier New"/>
              </a:rPr>
              <a:t>b</a:t>
            </a:r>
            <a:endParaRPr b="0" i="0" sz="1000" u="none" cap="none" strike="noStrike">
              <a:solidFill>
                <a:schemeClr val="dk1"/>
              </a:solidFill>
              <a:latin typeface="Calibri"/>
              <a:ea typeface="Calibri"/>
              <a:cs typeface="Calibri"/>
              <a:sym typeface="Calibri"/>
            </a:endParaRPr>
          </a:p>
        </p:txBody>
      </p:sp>
      <p:sp>
        <p:nvSpPr>
          <p:cNvPr id="77" name="Google Shape;77;p4"/>
          <p:cNvSpPr/>
          <p:nvPr/>
        </p:nvSpPr>
        <p:spPr>
          <a:xfrm>
            <a:off x="9326880" y="3886200"/>
            <a:ext cx="228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050"/>
              <a:buFont typeface="Calibri"/>
              <a:buNone/>
            </a:pPr>
            <a:r>
              <a:rPr b="0" i="0" lang="en-US" sz="1050" u="none" cap="none" strike="noStrike">
                <a:solidFill>
                  <a:srgbClr val="F5F5F0"/>
                </a:solidFill>
                <a:latin typeface="Calibri"/>
                <a:ea typeface="Calibri"/>
                <a:cs typeface="Calibri"/>
                <a:sym typeface="Calibri"/>
              </a:rPr>
              <a:t>compile with PlatformIO</a:t>
            </a:r>
            <a:endParaRPr b="0" i="0" sz="1050" u="none" cap="none" strike="noStrike">
              <a:solidFill>
                <a:schemeClr val="dk1"/>
              </a:solidFill>
              <a:latin typeface="Calibri"/>
              <a:ea typeface="Calibri"/>
              <a:cs typeface="Calibri"/>
              <a:sym typeface="Calibri"/>
            </a:endParaRPr>
          </a:p>
        </p:txBody>
      </p:sp>
      <p:sp>
        <p:nvSpPr>
          <p:cNvPr id="78" name="Google Shape;78;p4"/>
          <p:cNvSpPr/>
          <p:nvPr/>
        </p:nvSpPr>
        <p:spPr>
          <a:xfrm>
            <a:off x="6309360" y="4270248"/>
            <a:ext cx="2148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0" i="0" lang="en-US" sz="1100" u="none" cap="none" strike="noStrike">
                <a:solidFill>
                  <a:srgbClr val="97BC62"/>
                </a:solidFill>
                <a:latin typeface="Courier New"/>
                <a:ea typeface="Courier New"/>
                <a:cs typeface="Courier New"/>
                <a:sym typeface="Courier New"/>
              </a:rPr>
              <a:t>inv upload</a:t>
            </a:r>
            <a:endParaRPr b="0" i="0" sz="1100" u="none" cap="none" strike="noStrike">
              <a:solidFill>
                <a:schemeClr val="dk1"/>
              </a:solidFill>
              <a:latin typeface="Calibri"/>
              <a:ea typeface="Calibri"/>
              <a:cs typeface="Calibri"/>
              <a:sym typeface="Calibri"/>
            </a:endParaRPr>
          </a:p>
        </p:txBody>
      </p:sp>
      <p:sp>
        <p:nvSpPr>
          <p:cNvPr id="79" name="Google Shape;79;p4"/>
          <p:cNvSpPr/>
          <p:nvPr/>
        </p:nvSpPr>
        <p:spPr>
          <a:xfrm>
            <a:off x="8458200" y="4270248"/>
            <a:ext cx="86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9A8"/>
              </a:buClr>
              <a:buSzPts val="1000"/>
              <a:buFont typeface="Courier New"/>
              <a:buNone/>
            </a:pPr>
            <a:r>
              <a:rPr b="0" i="0" lang="en-US" sz="1000" u="none" cap="none" strike="noStrike">
                <a:solidFill>
                  <a:srgbClr val="B7C9A8"/>
                </a:solidFill>
                <a:latin typeface="Courier New"/>
                <a:ea typeface="Courier New"/>
                <a:cs typeface="Courier New"/>
                <a:sym typeface="Courier New"/>
              </a:rPr>
              <a:t>u, flash</a:t>
            </a:r>
            <a:endParaRPr b="0" i="0" sz="1000" u="none" cap="none" strike="noStrike">
              <a:solidFill>
                <a:schemeClr val="dk1"/>
              </a:solidFill>
              <a:latin typeface="Calibri"/>
              <a:ea typeface="Calibri"/>
              <a:cs typeface="Calibri"/>
              <a:sym typeface="Calibri"/>
            </a:endParaRPr>
          </a:p>
        </p:txBody>
      </p:sp>
      <p:sp>
        <p:nvSpPr>
          <p:cNvPr id="80" name="Google Shape;80;p4"/>
          <p:cNvSpPr/>
          <p:nvPr/>
        </p:nvSpPr>
        <p:spPr>
          <a:xfrm>
            <a:off x="9326880" y="4270248"/>
            <a:ext cx="228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050"/>
              <a:buFont typeface="Calibri"/>
              <a:buNone/>
            </a:pPr>
            <a:r>
              <a:rPr b="0" i="0" lang="en-US" sz="1050" u="none" cap="none" strike="noStrike">
                <a:solidFill>
                  <a:srgbClr val="F5F5F0"/>
                </a:solidFill>
                <a:latin typeface="Calibri"/>
                <a:ea typeface="Calibri"/>
                <a:cs typeface="Calibri"/>
                <a:sym typeface="Calibri"/>
              </a:rPr>
              <a:t>flash the ESP32</a:t>
            </a:r>
            <a:endParaRPr b="0" i="0" sz="1050" u="none" cap="none" strike="noStrike">
              <a:solidFill>
                <a:schemeClr val="dk1"/>
              </a:solidFill>
              <a:latin typeface="Calibri"/>
              <a:ea typeface="Calibri"/>
              <a:cs typeface="Calibri"/>
              <a:sym typeface="Calibri"/>
            </a:endParaRPr>
          </a:p>
        </p:txBody>
      </p:sp>
      <p:sp>
        <p:nvSpPr>
          <p:cNvPr id="81" name="Google Shape;81;p4"/>
          <p:cNvSpPr/>
          <p:nvPr/>
        </p:nvSpPr>
        <p:spPr>
          <a:xfrm>
            <a:off x="6309360" y="4654296"/>
            <a:ext cx="2148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0" i="0" lang="en-US" sz="1100" u="none" cap="none" strike="noStrike">
                <a:solidFill>
                  <a:srgbClr val="97BC62"/>
                </a:solidFill>
                <a:latin typeface="Courier New"/>
                <a:ea typeface="Courier New"/>
                <a:cs typeface="Courier New"/>
                <a:sym typeface="Courier New"/>
              </a:rPr>
              <a:t>inv monitor</a:t>
            </a:r>
            <a:endParaRPr b="0" i="0" sz="1100" u="none" cap="none" strike="noStrike">
              <a:solidFill>
                <a:schemeClr val="dk1"/>
              </a:solidFill>
              <a:latin typeface="Calibri"/>
              <a:ea typeface="Calibri"/>
              <a:cs typeface="Calibri"/>
              <a:sym typeface="Calibri"/>
            </a:endParaRPr>
          </a:p>
        </p:txBody>
      </p:sp>
      <p:sp>
        <p:nvSpPr>
          <p:cNvPr id="82" name="Google Shape;82;p4"/>
          <p:cNvSpPr/>
          <p:nvPr/>
        </p:nvSpPr>
        <p:spPr>
          <a:xfrm>
            <a:off x="8458200" y="4654296"/>
            <a:ext cx="86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9A8"/>
              </a:buClr>
              <a:buSzPts val="1000"/>
              <a:buFont typeface="Courier New"/>
              <a:buNone/>
            </a:pPr>
            <a:r>
              <a:rPr b="0" i="0" lang="en-US" sz="1000" u="none" cap="none" strike="noStrike">
                <a:solidFill>
                  <a:srgbClr val="B7C9A8"/>
                </a:solidFill>
                <a:latin typeface="Courier New"/>
                <a:ea typeface="Courier New"/>
                <a:cs typeface="Courier New"/>
                <a:sym typeface="Courier New"/>
              </a:rPr>
              <a:t>m</a:t>
            </a:r>
            <a:endParaRPr b="0" i="0" sz="1000" u="none" cap="none" strike="noStrike">
              <a:solidFill>
                <a:schemeClr val="dk1"/>
              </a:solidFill>
              <a:latin typeface="Calibri"/>
              <a:ea typeface="Calibri"/>
              <a:cs typeface="Calibri"/>
              <a:sym typeface="Calibri"/>
            </a:endParaRPr>
          </a:p>
        </p:txBody>
      </p:sp>
      <p:sp>
        <p:nvSpPr>
          <p:cNvPr id="83" name="Google Shape;83;p4"/>
          <p:cNvSpPr/>
          <p:nvPr/>
        </p:nvSpPr>
        <p:spPr>
          <a:xfrm>
            <a:off x="9326880" y="4654296"/>
            <a:ext cx="228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050"/>
              <a:buFont typeface="Calibri"/>
              <a:buNone/>
            </a:pPr>
            <a:r>
              <a:rPr b="0" i="0" lang="en-US" sz="1050" u="none" cap="none" strike="noStrike">
                <a:solidFill>
                  <a:srgbClr val="F5F5F0"/>
                </a:solidFill>
                <a:latin typeface="Calibri"/>
                <a:ea typeface="Calibri"/>
                <a:cs typeface="Calibri"/>
                <a:sym typeface="Calibri"/>
              </a:rPr>
              <a:t>live serial detections</a:t>
            </a:r>
            <a:endParaRPr b="0" i="0" sz="1050" u="none" cap="none" strike="noStrike">
              <a:solidFill>
                <a:schemeClr val="dk1"/>
              </a:solidFill>
              <a:latin typeface="Calibri"/>
              <a:ea typeface="Calibri"/>
              <a:cs typeface="Calibri"/>
              <a:sym typeface="Calibri"/>
            </a:endParaRPr>
          </a:p>
        </p:txBody>
      </p:sp>
      <p:sp>
        <p:nvSpPr>
          <p:cNvPr id="84" name="Google Shape;84;p4"/>
          <p:cNvSpPr/>
          <p:nvPr/>
        </p:nvSpPr>
        <p:spPr>
          <a:xfrm>
            <a:off x="6309360" y="5038344"/>
            <a:ext cx="2148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0" i="0" lang="en-US" sz="1100" u="none" cap="none" strike="noStrike">
                <a:solidFill>
                  <a:srgbClr val="97BC62"/>
                </a:solidFill>
                <a:latin typeface="Courier New"/>
                <a:ea typeface="Courier New"/>
                <a:cs typeface="Courier New"/>
                <a:sym typeface="Courier New"/>
              </a:rPr>
              <a:t>inv dependencies</a:t>
            </a:r>
            <a:endParaRPr b="0" i="0" sz="1100" u="none" cap="none" strike="noStrike">
              <a:solidFill>
                <a:schemeClr val="dk1"/>
              </a:solidFill>
              <a:latin typeface="Calibri"/>
              <a:ea typeface="Calibri"/>
              <a:cs typeface="Calibri"/>
              <a:sym typeface="Calibri"/>
            </a:endParaRPr>
          </a:p>
        </p:txBody>
      </p:sp>
      <p:sp>
        <p:nvSpPr>
          <p:cNvPr id="85" name="Google Shape;85;p4"/>
          <p:cNvSpPr/>
          <p:nvPr/>
        </p:nvSpPr>
        <p:spPr>
          <a:xfrm>
            <a:off x="8458200" y="5038344"/>
            <a:ext cx="86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9A8"/>
              </a:buClr>
              <a:buSzPts val="1000"/>
              <a:buFont typeface="Courier New"/>
              <a:buNone/>
            </a:pPr>
            <a:r>
              <a:rPr b="0" i="0" lang="en-US" sz="1000" u="none" cap="none" strike="noStrike">
                <a:solidFill>
                  <a:srgbClr val="B7C9A8"/>
                </a:solidFill>
                <a:latin typeface="Courier New"/>
                <a:ea typeface="Courier New"/>
                <a:cs typeface="Courier New"/>
                <a:sym typeface="Courier New"/>
              </a:rPr>
              <a:t>d</a:t>
            </a:r>
            <a:endParaRPr b="0" i="0" sz="1000" u="none" cap="none" strike="noStrike">
              <a:solidFill>
                <a:schemeClr val="dk1"/>
              </a:solidFill>
              <a:latin typeface="Calibri"/>
              <a:ea typeface="Calibri"/>
              <a:cs typeface="Calibri"/>
              <a:sym typeface="Calibri"/>
            </a:endParaRPr>
          </a:p>
        </p:txBody>
      </p:sp>
      <p:sp>
        <p:nvSpPr>
          <p:cNvPr id="86" name="Google Shape;86;p4"/>
          <p:cNvSpPr/>
          <p:nvPr/>
        </p:nvSpPr>
        <p:spPr>
          <a:xfrm>
            <a:off x="9326880" y="5038344"/>
            <a:ext cx="228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050"/>
              <a:buFont typeface="Calibri"/>
              <a:buNone/>
            </a:pPr>
            <a:r>
              <a:rPr b="0" i="0" lang="en-US" sz="1050" u="none" cap="none" strike="noStrike">
                <a:solidFill>
                  <a:srgbClr val="F5F5F0"/>
                </a:solidFill>
                <a:latin typeface="Calibri"/>
                <a:ea typeface="Calibri"/>
                <a:cs typeface="Calibri"/>
                <a:sym typeface="Calibri"/>
              </a:rPr>
              <a:t>recompile requirements.txt</a:t>
            </a:r>
            <a:endParaRPr b="0" i="0" sz="1050" u="none" cap="none" strike="noStrike">
              <a:solidFill>
                <a:schemeClr val="dk1"/>
              </a:solidFill>
              <a:latin typeface="Calibri"/>
              <a:ea typeface="Calibri"/>
              <a:cs typeface="Calibri"/>
              <a:sym typeface="Calibri"/>
            </a:endParaRPr>
          </a:p>
        </p:txBody>
      </p:sp>
      <p:sp>
        <p:nvSpPr>
          <p:cNvPr id="87" name="Google Shape;87;p4"/>
          <p:cNvSpPr/>
          <p:nvPr/>
        </p:nvSpPr>
        <p:spPr>
          <a:xfrm>
            <a:off x="6309360" y="5422392"/>
            <a:ext cx="2148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0" i="0" lang="en-US" sz="1100" u="none" cap="none" strike="noStrike">
                <a:solidFill>
                  <a:srgbClr val="97BC62"/>
                </a:solidFill>
                <a:latin typeface="Courier New"/>
                <a:ea typeface="Courier New"/>
                <a:cs typeface="Courier New"/>
                <a:sym typeface="Courier New"/>
              </a:rPr>
              <a:t>inv full-pipeline</a:t>
            </a:r>
            <a:endParaRPr b="0" i="0" sz="1100" u="none" cap="none" strike="noStrike">
              <a:solidFill>
                <a:schemeClr val="dk1"/>
              </a:solidFill>
              <a:latin typeface="Calibri"/>
              <a:ea typeface="Calibri"/>
              <a:cs typeface="Calibri"/>
              <a:sym typeface="Calibri"/>
            </a:endParaRPr>
          </a:p>
        </p:txBody>
      </p:sp>
      <p:sp>
        <p:nvSpPr>
          <p:cNvPr id="88" name="Google Shape;88;p4"/>
          <p:cNvSpPr/>
          <p:nvPr/>
        </p:nvSpPr>
        <p:spPr>
          <a:xfrm>
            <a:off x="8458200" y="5422392"/>
            <a:ext cx="868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9A8"/>
              </a:buClr>
              <a:buSzPts val="1000"/>
              <a:buFont typeface="Courier New"/>
              <a:buNone/>
            </a:pPr>
            <a:r>
              <a:rPr b="0" i="0" lang="en-US" sz="1000" u="none" cap="none" strike="noStrike">
                <a:solidFill>
                  <a:srgbClr val="B7C9A8"/>
                </a:solidFill>
                <a:latin typeface="Courier New"/>
                <a:ea typeface="Courier New"/>
                <a:cs typeface="Courier New"/>
                <a:sym typeface="Courier New"/>
              </a:rPr>
              <a:t>fp</a:t>
            </a:r>
            <a:endParaRPr b="0" i="0" sz="1000" u="none" cap="none" strike="noStrike">
              <a:solidFill>
                <a:schemeClr val="dk1"/>
              </a:solidFill>
              <a:latin typeface="Calibri"/>
              <a:ea typeface="Calibri"/>
              <a:cs typeface="Calibri"/>
              <a:sym typeface="Calibri"/>
            </a:endParaRPr>
          </a:p>
        </p:txBody>
      </p:sp>
      <p:sp>
        <p:nvSpPr>
          <p:cNvPr id="89" name="Google Shape;89;p4"/>
          <p:cNvSpPr/>
          <p:nvPr/>
        </p:nvSpPr>
        <p:spPr>
          <a:xfrm>
            <a:off x="9326880" y="5422392"/>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1050"/>
              <a:buFont typeface="Calibri"/>
              <a:buNone/>
            </a:pPr>
            <a:r>
              <a:rPr b="0" i="0" lang="en-US" sz="1050" u="none" cap="none" strike="noStrike">
                <a:solidFill>
                  <a:srgbClr val="F5F5F0"/>
                </a:solidFill>
                <a:latin typeface="Calibri"/>
                <a:ea typeface="Calibri"/>
                <a:cs typeface="Calibri"/>
                <a:sym typeface="Calibri"/>
              </a:rPr>
              <a:t>extract → … → </a:t>
            </a:r>
            <a:r>
              <a:rPr lang="en-US" sz="1050">
                <a:solidFill>
                  <a:srgbClr val="F5F5F0"/>
                </a:solidFill>
                <a:latin typeface="Calibri"/>
                <a:ea typeface="Calibri"/>
                <a:cs typeface="Calibri"/>
                <a:sym typeface="Calibri"/>
              </a:rPr>
              <a:t>build</a:t>
            </a:r>
            <a:endParaRPr b="0" i="0" sz="1050" u="none" cap="none" strike="noStrike">
              <a:solidFill>
                <a:schemeClr val="dk1"/>
              </a:solidFill>
              <a:latin typeface="Calibri"/>
              <a:ea typeface="Calibri"/>
              <a:cs typeface="Calibri"/>
              <a:sym typeface="Calibri"/>
            </a:endParaRPr>
          </a:p>
        </p:txBody>
      </p:sp>
      <p:sp>
        <p:nvSpPr>
          <p:cNvPr id="90" name="Google Shape;90;p4"/>
          <p:cNvSpPr/>
          <p:nvPr/>
        </p:nvSpPr>
        <p:spPr>
          <a:xfrm>
            <a:off x="594360" y="6080760"/>
            <a:ext cx="10927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50"/>
              <a:buFont typeface="Calibri"/>
              <a:buNone/>
            </a:pPr>
            <a:r>
              <a:rPr b="0" i="1" lang="en-US" sz="1250" u="none" cap="none" strike="noStrike">
                <a:solidFill>
                  <a:srgbClr val="2C5F2D"/>
                </a:solidFill>
                <a:latin typeface="Calibri"/>
                <a:ea typeface="Calibri"/>
                <a:cs typeface="Calibri"/>
                <a:sym typeface="Calibri"/>
              </a:rPr>
              <a:t>From a fresh dataset to a flashed board:   inv full-pipeline  →  inv upload  →  inv monitor</a:t>
            </a:r>
            <a:endParaRPr b="0" i="0" sz="1250" u="none" cap="none" strike="noStrike">
              <a:solidFill>
                <a:schemeClr val="dk1"/>
              </a:solidFill>
              <a:latin typeface="Calibri"/>
              <a:ea typeface="Calibri"/>
              <a:cs typeface="Calibri"/>
              <a:sym typeface="Calibri"/>
            </a:endParaRPr>
          </a:p>
        </p:txBody>
      </p:sp>
      <p:sp>
        <p:nvSpPr>
          <p:cNvPr id="91" name="Google Shape;91;p4"/>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2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5"/>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PROJECT OVERVIEW</a:t>
            </a:r>
            <a:endParaRPr b="0" i="0" sz="1100" u="none" cap="none" strike="noStrike">
              <a:solidFill>
                <a:schemeClr val="dk1"/>
              </a:solidFill>
              <a:latin typeface="Calibri"/>
              <a:ea typeface="Calibri"/>
              <a:cs typeface="Calibri"/>
              <a:sym typeface="Calibri"/>
            </a:endParaRPr>
          </a:p>
        </p:txBody>
      </p:sp>
      <p:sp>
        <p:nvSpPr>
          <p:cNvPr id="98" name="Google Shape;98;p5"/>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3200"/>
              <a:buFont typeface="Cambria"/>
              <a:buNone/>
            </a:pPr>
            <a:r>
              <a:rPr b="1" i="0" lang="en-US" sz="3200" u="none" cap="none" strike="noStrike">
                <a:solidFill>
                  <a:srgbClr val="18271E"/>
                </a:solidFill>
                <a:latin typeface="Cambria"/>
                <a:ea typeface="Cambria"/>
                <a:cs typeface="Cambria"/>
                <a:sym typeface="Cambria"/>
              </a:rPr>
              <a:t>From a WAV file to a listening device</a:t>
            </a:r>
            <a:endParaRPr b="0" i="0" sz="3200" u="none" cap="none" strike="noStrike">
              <a:solidFill>
                <a:schemeClr val="dk1"/>
              </a:solidFill>
              <a:latin typeface="Calibri"/>
              <a:ea typeface="Calibri"/>
              <a:cs typeface="Calibri"/>
              <a:sym typeface="Calibri"/>
            </a:endParaRPr>
          </a:p>
        </p:txBody>
      </p:sp>
      <p:sp>
        <p:nvSpPr>
          <p:cNvPr id="99" name="Google Shape;99;p5"/>
          <p:cNvSpPr/>
          <p:nvPr/>
        </p:nvSpPr>
        <p:spPr>
          <a:xfrm>
            <a:off x="594360" y="1188720"/>
            <a:ext cx="5349240" cy="2148840"/>
          </a:xfrm>
          <a:prstGeom prst="roundRect">
            <a:avLst>
              <a:gd fmla="val 383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868680" y="1417320"/>
            <a:ext cx="411480" cy="411480"/>
          </a:xfrm>
          <a:prstGeom prst="ellipse">
            <a:avLst/>
          </a:prstGeom>
          <a:solidFill>
            <a:srgbClr val="B4442E"/>
          </a:solidFill>
          <a:ln cap="flat" cmpd="sng" w="12700">
            <a:solidFill>
              <a:srgbClr val="B444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868680" y="14173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02" name="Google Shape;102;p5"/>
          <p:cNvSpPr/>
          <p:nvPr/>
        </p:nvSpPr>
        <p:spPr>
          <a:xfrm>
            <a:off x="1417320" y="1444752"/>
            <a:ext cx="42062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442E"/>
              </a:buClr>
              <a:buSzPts val="1500"/>
              <a:buFont typeface="Calibri"/>
              <a:buNone/>
            </a:pPr>
            <a:r>
              <a:rPr b="1" i="0" lang="en-US" sz="1500" u="none" cap="none" strike="noStrike">
                <a:solidFill>
                  <a:srgbClr val="B4442E"/>
                </a:solidFill>
                <a:latin typeface="Calibri"/>
                <a:ea typeface="Calibri"/>
                <a:cs typeface="Calibri"/>
                <a:sym typeface="Calibri"/>
              </a:rPr>
              <a:t>The problem</a:t>
            </a:r>
            <a:endParaRPr b="0" i="0" sz="1500" u="none" cap="none" strike="noStrike">
              <a:solidFill>
                <a:schemeClr val="dk1"/>
              </a:solidFill>
              <a:latin typeface="Calibri"/>
              <a:ea typeface="Calibri"/>
              <a:cs typeface="Calibri"/>
              <a:sym typeface="Calibri"/>
            </a:endParaRPr>
          </a:p>
        </p:txBody>
      </p:sp>
      <p:sp>
        <p:nvSpPr>
          <p:cNvPr id="103" name="Google Shape;103;p5"/>
          <p:cNvSpPr/>
          <p:nvPr/>
        </p:nvSpPr>
        <p:spPr>
          <a:xfrm>
            <a:off x="868680" y="1965960"/>
            <a:ext cx="480060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50"/>
              <a:buFont typeface="Calibri"/>
              <a:buNone/>
            </a:pPr>
            <a:r>
              <a:rPr b="0" i="0" lang="en-US" sz="1250" u="none" cap="none" strike="noStrike">
                <a:solidFill>
                  <a:srgbClr val="18271E"/>
                </a:solidFill>
                <a:latin typeface="Calibri"/>
                <a:ea typeface="Calibri"/>
                <a:cs typeface="Calibri"/>
                <a:sym typeface="Calibri"/>
              </a:rPr>
              <a:t>Illegal logging is discovered weeks later, from satellite imagery, when the trees are already gone. In remote forest there is no mobile network, no power grid, no infrastructure.</a:t>
            </a:r>
            <a:endParaRPr b="0" i="0" sz="1250" u="none" cap="none" strike="noStrike">
              <a:solidFill>
                <a:schemeClr val="dk1"/>
              </a:solidFill>
              <a:latin typeface="Calibri"/>
              <a:ea typeface="Calibri"/>
              <a:cs typeface="Calibri"/>
              <a:sym typeface="Calibri"/>
            </a:endParaRPr>
          </a:p>
        </p:txBody>
      </p:sp>
      <p:sp>
        <p:nvSpPr>
          <p:cNvPr id="104" name="Google Shape;104;p5"/>
          <p:cNvSpPr/>
          <p:nvPr/>
        </p:nvSpPr>
        <p:spPr>
          <a:xfrm>
            <a:off x="6172200" y="1188720"/>
            <a:ext cx="5349240" cy="2148840"/>
          </a:xfrm>
          <a:prstGeom prst="roundRect">
            <a:avLst>
              <a:gd fmla="val 383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6446520" y="1417320"/>
            <a:ext cx="411480" cy="411480"/>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6446520" y="14173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07" name="Google Shape;107;p5"/>
          <p:cNvSpPr/>
          <p:nvPr/>
        </p:nvSpPr>
        <p:spPr>
          <a:xfrm>
            <a:off x="6995160" y="1444752"/>
            <a:ext cx="42062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500"/>
              <a:buFont typeface="Calibri"/>
              <a:buNone/>
            </a:pPr>
            <a:r>
              <a:rPr b="1" i="0" lang="en-US" sz="1500" u="none" cap="none" strike="noStrike">
                <a:solidFill>
                  <a:srgbClr val="2C5F2D"/>
                </a:solidFill>
                <a:latin typeface="Calibri"/>
                <a:ea typeface="Calibri"/>
                <a:cs typeface="Calibri"/>
                <a:sym typeface="Calibri"/>
              </a:rPr>
              <a:t>The idea</a:t>
            </a:r>
            <a:endParaRPr b="0" i="0" sz="1500" u="none" cap="none" strike="noStrike">
              <a:solidFill>
                <a:schemeClr val="dk1"/>
              </a:solidFill>
              <a:latin typeface="Calibri"/>
              <a:ea typeface="Calibri"/>
              <a:cs typeface="Calibri"/>
              <a:sym typeface="Calibri"/>
            </a:endParaRPr>
          </a:p>
        </p:txBody>
      </p:sp>
      <p:sp>
        <p:nvSpPr>
          <p:cNvPr id="108" name="Google Shape;108;p5"/>
          <p:cNvSpPr/>
          <p:nvPr/>
        </p:nvSpPr>
        <p:spPr>
          <a:xfrm>
            <a:off x="6446520" y="1965960"/>
            <a:ext cx="480060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50"/>
              <a:buFont typeface="Calibri"/>
              <a:buNone/>
            </a:pPr>
            <a:r>
              <a:rPr b="0" i="0" lang="en-US" sz="1250" u="none" cap="none" strike="noStrike">
                <a:solidFill>
                  <a:srgbClr val="18271E"/>
                </a:solidFill>
                <a:latin typeface="Calibri"/>
                <a:ea typeface="Calibri"/>
                <a:cs typeface="Calibri"/>
                <a:sym typeface="Calibri"/>
              </a:rPr>
              <a:t>A chainsaw sounds unmistakable: a steady two-stroke engine with a stable harmonic structure, audible far away. Train a network to recognise it</a:t>
            </a:r>
            <a:r>
              <a:rPr lang="en-US" sz="1250">
                <a:solidFill>
                  <a:srgbClr val="18271E"/>
                </a:solidFill>
                <a:latin typeface="Calibri"/>
                <a:ea typeface="Calibri"/>
                <a:cs typeface="Calibri"/>
                <a:sym typeface="Calibri"/>
              </a:rPr>
              <a:t>, </a:t>
            </a:r>
            <a:r>
              <a:rPr b="0" i="0" lang="en-US" sz="1250" u="none" cap="none" strike="noStrike">
                <a:solidFill>
                  <a:srgbClr val="18271E"/>
                </a:solidFill>
                <a:latin typeface="Calibri"/>
                <a:ea typeface="Calibri"/>
                <a:cs typeface="Calibri"/>
                <a:sym typeface="Calibri"/>
              </a:rPr>
              <a:t>and run that network inside the sensor itself.</a:t>
            </a:r>
            <a:endParaRPr b="0" i="0" sz="1250" u="none" cap="none" strike="noStrike">
              <a:solidFill>
                <a:schemeClr val="dk1"/>
              </a:solidFill>
              <a:latin typeface="Calibri"/>
              <a:ea typeface="Calibri"/>
              <a:cs typeface="Calibri"/>
              <a:sym typeface="Calibri"/>
            </a:endParaRPr>
          </a:p>
        </p:txBody>
      </p:sp>
      <p:sp>
        <p:nvSpPr>
          <p:cNvPr id="109" name="Google Shape;109;p5"/>
          <p:cNvSpPr/>
          <p:nvPr/>
        </p:nvSpPr>
        <p:spPr>
          <a:xfrm>
            <a:off x="594360" y="361188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THE CHAIN</a:t>
            </a:r>
            <a:endParaRPr b="0" i="0" sz="1000" u="none" cap="none" strike="noStrike">
              <a:solidFill>
                <a:schemeClr val="dk1"/>
              </a:solidFill>
              <a:latin typeface="Calibri"/>
              <a:ea typeface="Calibri"/>
              <a:cs typeface="Calibri"/>
              <a:sym typeface="Calibri"/>
            </a:endParaRPr>
          </a:p>
        </p:txBody>
      </p:sp>
      <p:sp>
        <p:nvSpPr>
          <p:cNvPr id="110" name="Google Shape;110;p5"/>
          <p:cNvSpPr/>
          <p:nvPr/>
        </p:nvSpPr>
        <p:spPr>
          <a:xfrm>
            <a:off x="594360" y="3977640"/>
            <a:ext cx="1965960" cy="1051560"/>
          </a:xfrm>
          <a:prstGeom prst="roundRect">
            <a:avLst>
              <a:gd fmla="val 7826"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704088" y="4114800"/>
            <a:ext cx="173736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250"/>
              <a:buFont typeface="Calibri"/>
              <a:buNone/>
            </a:pPr>
            <a:r>
              <a:rPr b="1" i="0" lang="en-US" sz="1250" u="none" cap="none" strike="noStrike">
                <a:solidFill>
                  <a:srgbClr val="2C5F2D"/>
                </a:solidFill>
                <a:latin typeface="Calibri"/>
                <a:ea typeface="Calibri"/>
                <a:cs typeface="Calibri"/>
                <a:sym typeface="Calibri"/>
              </a:rPr>
              <a:t>WAV dataset</a:t>
            </a:r>
            <a:endParaRPr b="0" i="0" sz="1250" u="none" cap="none" strike="noStrike">
              <a:solidFill>
                <a:schemeClr val="dk1"/>
              </a:solidFill>
              <a:latin typeface="Calibri"/>
              <a:ea typeface="Calibri"/>
              <a:cs typeface="Calibri"/>
              <a:sym typeface="Calibri"/>
            </a:endParaRPr>
          </a:p>
        </p:txBody>
      </p:sp>
      <p:sp>
        <p:nvSpPr>
          <p:cNvPr id="112" name="Google Shape;112;p5"/>
          <p:cNvSpPr/>
          <p:nvPr/>
        </p:nvSpPr>
        <p:spPr>
          <a:xfrm>
            <a:off x="704088" y="4462272"/>
            <a:ext cx="173736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1,911 labelled files</a:t>
            </a:r>
            <a:endParaRPr b="0" i="0" sz="1000" u="none" cap="none" strike="noStrike">
              <a:solidFill>
                <a:schemeClr val="dk1"/>
              </a:solidFill>
              <a:latin typeface="Calibri"/>
              <a:ea typeface="Calibri"/>
              <a:cs typeface="Calibri"/>
              <a:sym typeface="Calibri"/>
            </a:endParaRPr>
          </a:p>
        </p:txBody>
      </p:sp>
      <p:sp>
        <p:nvSpPr>
          <p:cNvPr id="113" name="Google Shape;113;p5"/>
          <p:cNvSpPr/>
          <p:nvPr/>
        </p:nvSpPr>
        <p:spPr>
          <a:xfrm>
            <a:off x="2560320" y="3977640"/>
            <a:ext cx="292608"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7BC62"/>
              </a:buClr>
              <a:buSzPts val="1800"/>
              <a:buFont typeface="Calibri"/>
              <a:buNone/>
            </a:pPr>
            <a:r>
              <a:rPr b="1" i="0" lang="en-US" sz="1800" u="none" cap="none" strike="noStrike">
                <a:solidFill>
                  <a:srgbClr val="97BC6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14" name="Google Shape;114;p5"/>
          <p:cNvSpPr/>
          <p:nvPr/>
        </p:nvSpPr>
        <p:spPr>
          <a:xfrm>
            <a:off x="2852928" y="3977640"/>
            <a:ext cx="1965960" cy="1051560"/>
          </a:xfrm>
          <a:prstGeom prst="roundRect">
            <a:avLst>
              <a:gd fmla="val 7826"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2962656" y="4114800"/>
            <a:ext cx="173736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250"/>
              <a:buFont typeface="Calibri"/>
              <a:buNone/>
            </a:pPr>
            <a:r>
              <a:rPr b="1" i="0" lang="en-US" sz="1250" u="none" cap="none" strike="noStrike">
                <a:solidFill>
                  <a:srgbClr val="2C5F2D"/>
                </a:solidFill>
                <a:latin typeface="Calibri"/>
                <a:ea typeface="Calibri"/>
                <a:cs typeface="Calibri"/>
                <a:sym typeface="Calibri"/>
              </a:rPr>
              <a:t>Keras model</a:t>
            </a:r>
            <a:endParaRPr b="0" i="0" sz="1250" u="none" cap="none" strike="noStrike">
              <a:solidFill>
                <a:schemeClr val="dk1"/>
              </a:solidFill>
              <a:latin typeface="Calibri"/>
              <a:ea typeface="Calibri"/>
              <a:cs typeface="Calibri"/>
              <a:sym typeface="Calibri"/>
            </a:endParaRPr>
          </a:p>
        </p:txBody>
      </p:sp>
      <p:sp>
        <p:nvSpPr>
          <p:cNvPr id="116" name="Google Shape;116;p5"/>
          <p:cNvSpPr/>
          <p:nvPr/>
        </p:nvSpPr>
        <p:spPr>
          <a:xfrm>
            <a:off x="2962656" y="4462272"/>
            <a:ext cx="173736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194 → 128 → 64 → 32 → 1</a:t>
            </a:r>
            <a:endParaRPr b="0" i="0" sz="1000" u="none" cap="none" strike="noStrike">
              <a:solidFill>
                <a:schemeClr val="dk1"/>
              </a:solidFill>
              <a:latin typeface="Calibri"/>
              <a:ea typeface="Calibri"/>
              <a:cs typeface="Calibri"/>
              <a:sym typeface="Calibri"/>
            </a:endParaRPr>
          </a:p>
        </p:txBody>
      </p:sp>
      <p:sp>
        <p:nvSpPr>
          <p:cNvPr id="117" name="Google Shape;117;p5"/>
          <p:cNvSpPr/>
          <p:nvPr/>
        </p:nvSpPr>
        <p:spPr>
          <a:xfrm>
            <a:off x="4818888" y="3977640"/>
            <a:ext cx="292608"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7BC62"/>
              </a:buClr>
              <a:buSzPts val="1800"/>
              <a:buFont typeface="Calibri"/>
              <a:buNone/>
            </a:pPr>
            <a:r>
              <a:rPr b="1" i="0" lang="en-US" sz="1800" u="none" cap="none" strike="noStrike">
                <a:solidFill>
                  <a:srgbClr val="97BC6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18" name="Google Shape;118;p5"/>
          <p:cNvSpPr/>
          <p:nvPr/>
        </p:nvSpPr>
        <p:spPr>
          <a:xfrm>
            <a:off x="5111496" y="3977640"/>
            <a:ext cx="1965960" cy="1051560"/>
          </a:xfrm>
          <a:prstGeom prst="roundRect">
            <a:avLst>
              <a:gd fmla="val 7826"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5221224" y="4114800"/>
            <a:ext cx="173736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250"/>
              <a:buFont typeface="Calibri"/>
              <a:buNone/>
            </a:pPr>
            <a:r>
              <a:rPr b="1" i="0" lang="en-US" sz="1250" u="none" cap="none" strike="noStrike">
                <a:solidFill>
                  <a:srgbClr val="2C5F2D"/>
                </a:solidFill>
                <a:latin typeface="Calibri"/>
                <a:ea typeface="Calibri"/>
                <a:cs typeface="Calibri"/>
                <a:sym typeface="Calibri"/>
              </a:rPr>
              <a:t>TFLite</a:t>
            </a:r>
            <a:endParaRPr b="0" i="0" sz="1250" u="none" cap="none" strike="noStrike">
              <a:solidFill>
                <a:schemeClr val="dk1"/>
              </a:solidFill>
              <a:latin typeface="Calibri"/>
              <a:ea typeface="Calibri"/>
              <a:cs typeface="Calibri"/>
              <a:sym typeface="Calibri"/>
            </a:endParaRPr>
          </a:p>
        </p:txBody>
      </p:sp>
      <p:sp>
        <p:nvSpPr>
          <p:cNvPr id="120" name="Google Shape;120;p5"/>
          <p:cNvSpPr/>
          <p:nvPr/>
        </p:nvSpPr>
        <p:spPr>
          <a:xfrm>
            <a:off x="5221224" y="4462272"/>
            <a:ext cx="173736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float32, no quantization</a:t>
            </a:r>
            <a:endParaRPr b="0" i="0" sz="1000" u="none" cap="none" strike="noStrike">
              <a:solidFill>
                <a:schemeClr val="dk1"/>
              </a:solidFill>
              <a:latin typeface="Calibri"/>
              <a:ea typeface="Calibri"/>
              <a:cs typeface="Calibri"/>
              <a:sym typeface="Calibri"/>
            </a:endParaRPr>
          </a:p>
        </p:txBody>
      </p:sp>
      <p:sp>
        <p:nvSpPr>
          <p:cNvPr id="121" name="Google Shape;121;p5"/>
          <p:cNvSpPr/>
          <p:nvPr/>
        </p:nvSpPr>
        <p:spPr>
          <a:xfrm>
            <a:off x="7077456" y="3977640"/>
            <a:ext cx="292608"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7BC62"/>
              </a:buClr>
              <a:buSzPts val="1800"/>
              <a:buFont typeface="Calibri"/>
              <a:buNone/>
            </a:pPr>
            <a:r>
              <a:rPr b="1" i="0" lang="en-US" sz="1800" u="none" cap="none" strike="noStrike">
                <a:solidFill>
                  <a:srgbClr val="97BC6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22" name="Google Shape;122;p5"/>
          <p:cNvSpPr/>
          <p:nvPr/>
        </p:nvSpPr>
        <p:spPr>
          <a:xfrm>
            <a:off x="7370064" y="3977640"/>
            <a:ext cx="1965960" cy="1051560"/>
          </a:xfrm>
          <a:prstGeom prst="roundRect">
            <a:avLst>
              <a:gd fmla="val 7826"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7479792" y="4114800"/>
            <a:ext cx="173736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250"/>
              <a:buFont typeface="Calibri"/>
              <a:buNone/>
            </a:pPr>
            <a:r>
              <a:rPr b="1" i="0" lang="en-US" sz="1250" u="none" cap="none" strike="noStrike">
                <a:solidFill>
                  <a:srgbClr val="2C5F2D"/>
                </a:solidFill>
                <a:latin typeface="Calibri"/>
                <a:ea typeface="Calibri"/>
                <a:cs typeface="Calibri"/>
                <a:sym typeface="Calibri"/>
              </a:rPr>
              <a:t>C++ headers</a:t>
            </a:r>
            <a:endParaRPr b="0" i="0" sz="1250" u="none" cap="none" strike="noStrike">
              <a:solidFill>
                <a:schemeClr val="dk1"/>
              </a:solidFill>
              <a:latin typeface="Calibri"/>
              <a:ea typeface="Calibri"/>
              <a:cs typeface="Calibri"/>
              <a:sym typeface="Calibri"/>
            </a:endParaRPr>
          </a:p>
        </p:txBody>
      </p:sp>
      <p:sp>
        <p:nvSpPr>
          <p:cNvPr id="124" name="Google Shape;124;p5"/>
          <p:cNvSpPr/>
          <p:nvPr/>
        </p:nvSpPr>
        <p:spPr>
          <a:xfrm>
            <a:off x="7479792" y="4462272"/>
            <a:ext cx="173736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generated by Python</a:t>
            </a:r>
            <a:endParaRPr b="0" i="0" sz="1000" u="none" cap="none" strike="noStrike">
              <a:solidFill>
                <a:schemeClr val="dk1"/>
              </a:solidFill>
              <a:latin typeface="Calibri"/>
              <a:ea typeface="Calibri"/>
              <a:cs typeface="Calibri"/>
              <a:sym typeface="Calibri"/>
            </a:endParaRPr>
          </a:p>
        </p:txBody>
      </p:sp>
      <p:sp>
        <p:nvSpPr>
          <p:cNvPr id="125" name="Google Shape;125;p5"/>
          <p:cNvSpPr/>
          <p:nvPr/>
        </p:nvSpPr>
        <p:spPr>
          <a:xfrm>
            <a:off x="9336024" y="3977640"/>
            <a:ext cx="292608"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7BC62"/>
              </a:buClr>
              <a:buSzPts val="1800"/>
              <a:buFont typeface="Calibri"/>
              <a:buNone/>
            </a:pPr>
            <a:r>
              <a:rPr b="1" i="0" lang="en-US" sz="1800" u="none" cap="none" strike="noStrike">
                <a:solidFill>
                  <a:srgbClr val="97BC6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26" name="Google Shape;126;p5"/>
          <p:cNvSpPr/>
          <p:nvPr/>
        </p:nvSpPr>
        <p:spPr>
          <a:xfrm>
            <a:off x="9628632" y="3977640"/>
            <a:ext cx="1965960" cy="1051560"/>
          </a:xfrm>
          <a:prstGeom prst="roundRect">
            <a:avLst>
              <a:gd fmla="val 7826" name="adj"/>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9738360" y="4114800"/>
            <a:ext cx="173736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ESP32 + INMP441</a:t>
            </a:r>
            <a:endParaRPr b="0" i="0" sz="1250" u="none" cap="none" strike="noStrike">
              <a:solidFill>
                <a:schemeClr val="dk1"/>
              </a:solidFill>
              <a:latin typeface="Calibri"/>
              <a:ea typeface="Calibri"/>
              <a:cs typeface="Calibri"/>
              <a:sym typeface="Calibri"/>
            </a:endParaRPr>
          </a:p>
        </p:txBody>
      </p:sp>
      <p:sp>
        <p:nvSpPr>
          <p:cNvPr id="128" name="Google Shape;128;p5"/>
          <p:cNvSpPr/>
          <p:nvPr/>
        </p:nvSpPr>
        <p:spPr>
          <a:xfrm>
            <a:off x="9738360" y="4462272"/>
            <a:ext cx="173736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FE0BC"/>
              </a:buClr>
              <a:buSzPts val="1000"/>
              <a:buFont typeface="Calibri"/>
              <a:buNone/>
            </a:pPr>
            <a:r>
              <a:rPr b="0" i="0" lang="en-US" sz="1000" u="none" cap="none" strike="noStrike">
                <a:solidFill>
                  <a:srgbClr val="CFE0BC"/>
                </a:solidFill>
                <a:latin typeface="Calibri"/>
                <a:ea typeface="Calibri"/>
                <a:cs typeface="Calibri"/>
                <a:sym typeface="Calibri"/>
              </a:rPr>
              <a:t>inference on-device</a:t>
            </a:r>
            <a:endParaRPr b="0" i="0" sz="1000" u="none" cap="none" strike="noStrike">
              <a:solidFill>
                <a:schemeClr val="dk1"/>
              </a:solidFill>
              <a:latin typeface="Calibri"/>
              <a:ea typeface="Calibri"/>
              <a:cs typeface="Calibri"/>
              <a:sym typeface="Calibri"/>
            </a:endParaRPr>
          </a:p>
        </p:txBody>
      </p:sp>
      <p:sp>
        <p:nvSpPr>
          <p:cNvPr id="129" name="Google Shape;129;p5"/>
          <p:cNvSpPr/>
          <p:nvPr/>
        </p:nvSpPr>
        <p:spPr>
          <a:xfrm>
            <a:off x="594360" y="5394960"/>
            <a:ext cx="2606040" cy="457200"/>
          </a:xfrm>
          <a:prstGeom prst="roundRect">
            <a:avLst>
              <a:gd fmla="val 500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594360" y="539496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5F2D"/>
              </a:buClr>
              <a:buSzPts val="1150"/>
              <a:buFont typeface="Calibri"/>
              <a:buNone/>
            </a:pPr>
            <a:r>
              <a:rPr b="1" i="0" lang="en-US" sz="1150" u="none" cap="none" strike="noStrike">
                <a:solidFill>
                  <a:srgbClr val="2C5F2D"/>
                </a:solidFill>
                <a:latin typeface="Calibri"/>
                <a:ea typeface="Calibri"/>
                <a:cs typeface="Calibri"/>
                <a:sym typeface="Calibri"/>
              </a:rPr>
              <a:t>8 kHz sampling</a:t>
            </a:r>
            <a:endParaRPr b="0" i="0" sz="1150" u="none" cap="none" strike="noStrike">
              <a:solidFill>
                <a:schemeClr val="dk1"/>
              </a:solidFill>
              <a:latin typeface="Calibri"/>
              <a:ea typeface="Calibri"/>
              <a:cs typeface="Calibri"/>
              <a:sym typeface="Calibri"/>
            </a:endParaRPr>
          </a:p>
        </p:txBody>
      </p:sp>
      <p:sp>
        <p:nvSpPr>
          <p:cNvPr id="131" name="Google Shape;131;p5"/>
          <p:cNvSpPr/>
          <p:nvPr/>
        </p:nvSpPr>
        <p:spPr>
          <a:xfrm>
            <a:off x="3383280" y="5394960"/>
            <a:ext cx="2606040" cy="457200"/>
          </a:xfrm>
          <a:prstGeom prst="roundRect">
            <a:avLst>
              <a:gd fmla="val 500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3383280" y="539496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5F2D"/>
              </a:buClr>
              <a:buSzPts val="1150"/>
              <a:buFont typeface="Calibri"/>
              <a:buNone/>
            </a:pPr>
            <a:r>
              <a:rPr b="1" i="0" lang="en-US" sz="1150" u="none" cap="none" strike="noStrike">
                <a:solidFill>
                  <a:srgbClr val="2C5F2D"/>
                </a:solidFill>
                <a:latin typeface="Calibri"/>
                <a:ea typeface="Calibri"/>
                <a:cs typeface="Calibri"/>
                <a:sym typeface="Calibri"/>
              </a:rPr>
              <a:t>2 s window · 1s hop</a:t>
            </a:r>
            <a:endParaRPr b="0" i="0" sz="1150" u="none" cap="none" strike="noStrike">
              <a:solidFill>
                <a:schemeClr val="dk1"/>
              </a:solidFill>
              <a:latin typeface="Calibri"/>
              <a:ea typeface="Calibri"/>
              <a:cs typeface="Calibri"/>
              <a:sym typeface="Calibri"/>
            </a:endParaRPr>
          </a:p>
        </p:txBody>
      </p:sp>
      <p:sp>
        <p:nvSpPr>
          <p:cNvPr id="133" name="Google Shape;133;p5"/>
          <p:cNvSpPr/>
          <p:nvPr/>
        </p:nvSpPr>
        <p:spPr>
          <a:xfrm>
            <a:off x="6172200" y="5394960"/>
            <a:ext cx="2606040" cy="457200"/>
          </a:xfrm>
          <a:prstGeom prst="roundRect">
            <a:avLst>
              <a:gd fmla="val 500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6172200" y="539496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5F2D"/>
              </a:buClr>
              <a:buSzPts val="1150"/>
              <a:buFont typeface="Calibri"/>
              <a:buNone/>
            </a:pPr>
            <a:r>
              <a:rPr b="1" i="0" lang="en-US" sz="1150" u="none" cap="none" strike="noStrike">
                <a:solidFill>
                  <a:srgbClr val="2C5F2D"/>
                </a:solidFill>
                <a:latin typeface="Calibri"/>
                <a:ea typeface="Calibri"/>
                <a:cs typeface="Calibri"/>
                <a:sym typeface="Calibri"/>
              </a:rPr>
              <a:t>194 features</a:t>
            </a:r>
            <a:endParaRPr b="0" i="0" sz="1150" u="none" cap="none" strike="noStrike">
              <a:solidFill>
                <a:schemeClr val="dk1"/>
              </a:solidFill>
              <a:latin typeface="Calibri"/>
              <a:ea typeface="Calibri"/>
              <a:cs typeface="Calibri"/>
              <a:sym typeface="Calibri"/>
            </a:endParaRPr>
          </a:p>
        </p:txBody>
      </p:sp>
      <p:sp>
        <p:nvSpPr>
          <p:cNvPr id="135" name="Google Shape;135;p5"/>
          <p:cNvSpPr/>
          <p:nvPr/>
        </p:nvSpPr>
        <p:spPr>
          <a:xfrm>
            <a:off x="8961120" y="5394960"/>
            <a:ext cx="2606040" cy="457200"/>
          </a:xfrm>
          <a:prstGeom prst="roundRect">
            <a:avLst>
              <a:gd fmla="val 500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8961120" y="539496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5F2D"/>
              </a:buClr>
              <a:buSzPts val="1150"/>
              <a:buFont typeface="Calibri"/>
              <a:buNone/>
            </a:pPr>
            <a:r>
              <a:rPr b="1" i="0" lang="en-US" sz="1150" u="none" cap="none" strike="noStrike">
                <a:solidFill>
                  <a:srgbClr val="2C5F2D"/>
                </a:solidFill>
                <a:latin typeface="Calibri"/>
                <a:ea typeface="Calibri"/>
                <a:cs typeface="Calibri"/>
                <a:sym typeface="Calibri"/>
              </a:rPr>
              <a:t>no internet · no GPS · no cloud</a:t>
            </a:r>
            <a:endParaRPr b="0" i="0" sz="1150" u="none" cap="none" strike="noStrike">
              <a:solidFill>
                <a:schemeClr val="dk1"/>
              </a:solidFill>
              <a:latin typeface="Calibri"/>
              <a:ea typeface="Calibri"/>
              <a:cs typeface="Calibri"/>
              <a:sym typeface="Calibri"/>
            </a:endParaRPr>
          </a:p>
        </p:txBody>
      </p:sp>
      <p:sp>
        <p:nvSpPr>
          <p:cNvPr id="137" name="Google Shape;137;p5"/>
          <p:cNvSpPr/>
          <p:nvPr/>
        </p:nvSpPr>
        <p:spPr>
          <a:xfrm>
            <a:off x="594360" y="6035040"/>
            <a:ext cx="10927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200"/>
              <a:buFont typeface="Calibri"/>
              <a:buNone/>
            </a:pPr>
            <a:r>
              <a:rPr b="0" i="1" lang="en-US" sz="1200" u="none" cap="none" strike="noStrike">
                <a:solidFill>
                  <a:srgbClr val="6E7C72"/>
                </a:solidFill>
                <a:latin typeface="Calibri"/>
                <a:ea typeface="Calibri"/>
                <a:cs typeface="Calibri"/>
                <a:sym typeface="Calibri"/>
              </a:rPr>
              <a:t>Two fully decoupled modules:  training/  (Python, on a PC)   ·   firmware/  (C++, on the board)</a:t>
            </a:r>
            <a:endParaRPr b="0" i="0" sz="1200" u="none" cap="none" strike="noStrike">
              <a:solidFill>
                <a:schemeClr val="dk1"/>
              </a:solidFill>
              <a:latin typeface="Calibri"/>
              <a:ea typeface="Calibri"/>
              <a:cs typeface="Calibri"/>
              <a:sym typeface="Calibri"/>
            </a:endParaRPr>
          </a:p>
        </p:txBody>
      </p:sp>
      <p:sp>
        <p:nvSpPr>
          <p:cNvPr id="138" name="Google Shape;138;p5"/>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3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6"/>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MODULE 1 — TRAINING/</a:t>
            </a:r>
            <a:endParaRPr b="0" i="0" sz="1100" u="none" cap="none" strike="noStrike">
              <a:solidFill>
                <a:schemeClr val="dk1"/>
              </a:solidFill>
              <a:latin typeface="Calibri"/>
              <a:ea typeface="Calibri"/>
              <a:cs typeface="Calibri"/>
              <a:sym typeface="Calibri"/>
            </a:endParaRPr>
          </a:p>
        </p:txBody>
      </p:sp>
      <p:sp>
        <p:nvSpPr>
          <p:cNvPr id="145" name="Google Shape;145;p6"/>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3200"/>
              <a:buFont typeface="Cambria"/>
              <a:buNone/>
            </a:pPr>
            <a:r>
              <a:rPr b="1" i="0" lang="en-US" sz="3200" u="none" cap="none" strike="noStrike">
                <a:solidFill>
                  <a:srgbClr val="18271E"/>
                </a:solidFill>
                <a:latin typeface="Cambria"/>
                <a:ea typeface="Cambria"/>
                <a:cs typeface="Cambria"/>
                <a:sym typeface="Cambria"/>
              </a:rPr>
              <a:t>A five-stage pipeline, fully decoupled</a:t>
            </a:r>
            <a:endParaRPr b="0" i="0" sz="3200" u="none" cap="none" strike="noStrike">
              <a:solidFill>
                <a:schemeClr val="dk1"/>
              </a:solidFill>
              <a:latin typeface="Calibri"/>
              <a:ea typeface="Calibri"/>
              <a:cs typeface="Calibri"/>
              <a:sym typeface="Calibri"/>
            </a:endParaRPr>
          </a:p>
        </p:txBody>
      </p:sp>
      <p:sp>
        <p:nvSpPr>
          <p:cNvPr id="146" name="Google Shape;146;p6"/>
          <p:cNvSpPr/>
          <p:nvPr/>
        </p:nvSpPr>
        <p:spPr>
          <a:xfrm>
            <a:off x="594360" y="1280160"/>
            <a:ext cx="1965960" cy="914400"/>
          </a:xfrm>
          <a:prstGeom prst="roundRect">
            <a:avLst>
              <a:gd fmla="val 90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704088" y="1371600"/>
            <a:ext cx="1737360" cy="25603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01</a:t>
            </a:r>
            <a:endParaRPr b="0" i="0" sz="1000" u="none" cap="none" strike="noStrike">
              <a:solidFill>
                <a:schemeClr val="dk1"/>
              </a:solidFill>
              <a:latin typeface="Calibri"/>
              <a:ea typeface="Calibri"/>
              <a:cs typeface="Calibri"/>
              <a:sym typeface="Calibri"/>
            </a:endParaRPr>
          </a:p>
        </p:txBody>
      </p:sp>
      <p:sp>
        <p:nvSpPr>
          <p:cNvPr id="148" name="Google Shape;148;p6"/>
          <p:cNvSpPr/>
          <p:nvPr/>
        </p:nvSpPr>
        <p:spPr>
          <a:xfrm>
            <a:off x="667512" y="1627632"/>
            <a:ext cx="182880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150"/>
              <a:buFont typeface="Calibri"/>
              <a:buNone/>
            </a:pPr>
            <a:r>
              <a:rPr b="1" i="0" lang="en-US" sz="1150" u="none" cap="none" strike="noStrike">
                <a:solidFill>
                  <a:srgbClr val="2C5F2D"/>
                </a:solidFill>
                <a:latin typeface="Calibri"/>
                <a:ea typeface="Calibri"/>
                <a:cs typeface="Calibri"/>
                <a:sym typeface="Calibri"/>
              </a:rPr>
              <a:t>extract_features.py</a:t>
            </a:r>
            <a:endParaRPr b="0" i="0" sz="1150" u="none" cap="none" strike="noStrike">
              <a:solidFill>
                <a:schemeClr val="dk1"/>
              </a:solidFill>
              <a:latin typeface="Calibri"/>
              <a:ea typeface="Calibri"/>
              <a:cs typeface="Calibri"/>
              <a:sym typeface="Calibri"/>
            </a:endParaRPr>
          </a:p>
        </p:txBody>
      </p:sp>
      <p:sp>
        <p:nvSpPr>
          <p:cNvPr id="149" name="Google Shape;149;p6"/>
          <p:cNvSpPr/>
          <p:nvPr/>
        </p:nvSpPr>
        <p:spPr>
          <a:xfrm>
            <a:off x="2560320" y="1280160"/>
            <a:ext cx="292608"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7BC62"/>
              </a:buClr>
              <a:buSzPts val="1800"/>
              <a:buFont typeface="Calibri"/>
              <a:buNone/>
            </a:pPr>
            <a:r>
              <a:rPr b="1" i="0" lang="en-US" sz="1800" u="none" cap="none" strike="noStrike">
                <a:solidFill>
                  <a:srgbClr val="97BC6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50" name="Google Shape;150;p6"/>
          <p:cNvSpPr/>
          <p:nvPr/>
        </p:nvSpPr>
        <p:spPr>
          <a:xfrm>
            <a:off x="548640" y="2286000"/>
            <a:ext cx="210312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feature_dataset.npz</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 manifest.json</a:t>
            </a:r>
            <a:endParaRPr b="0" i="0" sz="1000" u="none" cap="none" strike="noStrike">
              <a:solidFill>
                <a:schemeClr val="dk1"/>
              </a:solidFill>
              <a:latin typeface="Calibri"/>
              <a:ea typeface="Calibri"/>
              <a:cs typeface="Calibri"/>
              <a:sym typeface="Calibri"/>
            </a:endParaRPr>
          </a:p>
        </p:txBody>
      </p:sp>
      <p:sp>
        <p:nvSpPr>
          <p:cNvPr id="151" name="Google Shape;151;p6"/>
          <p:cNvSpPr/>
          <p:nvPr/>
        </p:nvSpPr>
        <p:spPr>
          <a:xfrm>
            <a:off x="2852928" y="1280160"/>
            <a:ext cx="1965960" cy="914400"/>
          </a:xfrm>
          <a:prstGeom prst="roundRect">
            <a:avLst>
              <a:gd fmla="val 90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2962656" y="1371600"/>
            <a:ext cx="1737360" cy="25603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02</a:t>
            </a:r>
            <a:endParaRPr b="0" i="0" sz="1000" u="none" cap="none" strike="noStrike">
              <a:solidFill>
                <a:schemeClr val="dk1"/>
              </a:solidFill>
              <a:latin typeface="Calibri"/>
              <a:ea typeface="Calibri"/>
              <a:cs typeface="Calibri"/>
              <a:sym typeface="Calibri"/>
            </a:endParaRPr>
          </a:p>
        </p:txBody>
      </p:sp>
      <p:sp>
        <p:nvSpPr>
          <p:cNvPr id="153" name="Google Shape;153;p6"/>
          <p:cNvSpPr/>
          <p:nvPr/>
        </p:nvSpPr>
        <p:spPr>
          <a:xfrm>
            <a:off x="2926080" y="1627632"/>
            <a:ext cx="182880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150"/>
              <a:buFont typeface="Calibri"/>
              <a:buNone/>
            </a:pPr>
            <a:r>
              <a:rPr b="1" i="0" lang="en-US" sz="1150" u="none" cap="none" strike="noStrike">
                <a:solidFill>
                  <a:srgbClr val="2C5F2D"/>
                </a:solidFill>
                <a:latin typeface="Calibri"/>
                <a:ea typeface="Calibri"/>
                <a:cs typeface="Calibri"/>
                <a:sym typeface="Calibri"/>
              </a:rPr>
              <a:t>train.py</a:t>
            </a:r>
            <a:endParaRPr b="0" i="0" sz="1150" u="none" cap="none" strike="noStrike">
              <a:solidFill>
                <a:schemeClr val="dk1"/>
              </a:solidFill>
              <a:latin typeface="Calibri"/>
              <a:ea typeface="Calibri"/>
              <a:cs typeface="Calibri"/>
              <a:sym typeface="Calibri"/>
            </a:endParaRPr>
          </a:p>
        </p:txBody>
      </p:sp>
      <p:sp>
        <p:nvSpPr>
          <p:cNvPr id="154" name="Google Shape;154;p6"/>
          <p:cNvSpPr/>
          <p:nvPr/>
        </p:nvSpPr>
        <p:spPr>
          <a:xfrm>
            <a:off x="4818888" y="1280160"/>
            <a:ext cx="292608"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7BC62"/>
              </a:buClr>
              <a:buSzPts val="1800"/>
              <a:buFont typeface="Calibri"/>
              <a:buNone/>
            </a:pPr>
            <a:r>
              <a:rPr b="1" i="0" lang="en-US" sz="1800" u="none" cap="none" strike="noStrike">
                <a:solidFill>
                  <a:srgbClr val="97BC6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55" name="Google Shape;155;p6"/>
          <p:cNvSpPr/>
          <p:nvPr/>
        </p:nvSpPr>
        <p:spPr>
          <a:xfrm>
            <a:off x="2807208" y="2286000"/>
            <a:ext cx="210312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model.h5</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 training_report_NN.json</a:t>
            </a:r>
            <a:endParaRPr b="0" i="0" sz="1000" u="none" cap="none" strike="noStrike">
              <a:solidFill>
                <a:schemeClr val="dk1"/>
              </a:solidFill>
              <a:latin typeface="Calibri"/>
              <a:ea typeface="Calibri"/>
              <a:cs typeface="Calibri"/>
              <a:sym typeface="Calibri"/>
            </a:endParaRPr>
          </a:p>
        </p:txBody>
      </p:sp>
      <p:sp>
        <p:nvSpPr>
          <p:cNvPr id="156" name="Google Shape;156;p6"/>
          <p:cNvSpPr/>
          <p:nvPr/>
        </p:nvSpPr>
        <p:spPr>
          <a:xfrm>
            <a:off x="5111496" y="1280160"/>
            <a:ext cx="1965960" cy="914400"/>
          </a:xfrm>
          <a:prstGeom prst="roundRect">
            <a:avLst>
              <a:gd fmla="val 90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5221224" y="1371600"/>
            <a:ext cx="1737360" cy="25603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03</a:t>
            </a:r>
            <a:endParaRPr b="0" i="0" sz="1000" u="none" cap="none" strike="noStrike">
              <a:solidFill>
                <a:schemeClr val="dk1"/>
              </a:solidFill>
              <a:latin typeface="Calibri"/>
              <a:ea typeface="Calibri"/>
              <a:cs typeface="Calibri"/>
              <a:sym typeface="Calibri"/>
            </a:endParaRPr>
          </a:p>
        </p:txBody>
      </p:sp>
      <p:sp>
        <p:nvSpPr>
          <p:cNvPr id="158" name="Google Shape;158;p6"/>
          <p:cNvSpPr/>
          <p:nvPr/>
        </p:nvSpPr>
        <p:spPr>
          <a:xfrm>
            <a:off x="5184648" y="1627632"/>
            <a:ext cx="182880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150"/>
              <a:buFont typeface="Calibri"/>
              <a:buNone/>
            </a:pPr>
            <a:r>
              <a:rPr b="1" i="0" lang="en-US" sz="1150" u="none" cap="none" strike="noStrike">
                <a:solidFill>
                  <a:srgbClr val="2C5F2D"/>
                </a:solidFill>
                <a:latin typeface="Calibri"/>
                <a:ea typeface="Calibri"/>
                <a:cs typeface="Calibri"/>
                <a:sym typeface="Calibri"/>
              </a:rPr>
              <a:t>convert_to_tflite.py</a:t>
            </a:r>
            <a:endParaRPr b="0" i="0" sz="1150" u="none" cap="none" strike="noStrike">
              <a:solidFill>
                <a:schemeClr val="dk1"/>
              </a:solidFill>
              <a:latin typeface="Calibri"/>
              <a:ea typeface="Calibri"/>
              <a:cs typeface="Calibri"/>
              <a:sym typeface="Calibri"/>
            </a:endParaRPr>
          </a:p>
        </p:txBody>
      </p:sp>
      <p:sp>
        <p:nvSpPr>
          <p:cNvPr id="159" name="Google Shape;159;p6"/>
          <p:cNvSpPr/>
          <p:nvPr/>
        </p:nvSpPr>
        <p:spPr>
          <a:xfrm>
            <a:off x="7077456" y="1280160"/>
            <a:ext cx="292608"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7BC62"/>
              </a:buClr>
              <a:buSzPts val="1800"/>
              <a:buFont typeface="Calibri"/>
              <a:buNone/>
            </a:pPr>
            <a:r>
              <a:rPr b="1" i="0" lang="en-US" sz="1800" u="none" cap="none" strike="noStrike">
                <a:solidFill>
                  <a:srgbClr val="97BC6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0" name="Google Shape;160;p6"/>
          <p:cNvSpPr/>
          <p:nvPr/>
        </p:nvSpPr>
        <p:spPr>
          <a:xfrm>
            <a:off x="5065776" y="2286000"/>
            <a:ext cx="210312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model.tflite</a:t>
            </a:r>
            <a:endParaRPr b="0" i="0" sz="1000" u="none" cap="none" strike="noStrike">
              <a:solidFill>
                <a:schemeClr val="dk1"/>
              </a:solidFill>
              <a:latin typeface="Calibri"/>
              <a:ea typeface="Calibri"/>
              <a:cs typeface="Calibri"/>
              <a:sym typeface="Calibri"/>
            </a:endParaRPr>
          </a:p>
        </p:txBody>
      </p:sp>
      <p:sp>
        <p:nvSpPr>
          <p:cNvPr id="161" name="Google Shape;161;p6"/>
          <p:cNvSpPr/>
          <p:nvPr/>
        </p:nvSpPr>
        <p:spPr>
          <a:xfrm>
            <a:off x="7370064" y="1280160"/>
            <a:ext cx="1965960" cy="914400"/>
          </a:xfrm>
          <a:prstGeom prst="roundRect">
            <a:avLst>
              <a:gd fmla="val 90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7479792" y="1371600"/>
            <a:ext cx="1737360" cy="25603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04</a:t>
            </a:r>
            <a:endParaRPr b="0" i="0" sz="1000" u="none" cap="none" strike="noStrike">
              <a:solidFill>
                <a:schemeClr val="dk1"/>
              </a:solidFill>
              <a:latin typeface="Calibri"/>
              <a:ea typeface="Calibri"/>
              <a:cs typeface="Calibri"/>
              <a:sym typeface="Calibri"/>
            </a:endParaRPr>
          </a:p>
        </p:txBody>
      </p:sp>
      <p:sp>
        <p:nvSpPr>
          <p:cNvPr id="163" name="Google Shape;163;p6"/>
          <p:cNvSpPr/>
          <p:nvPr/>
        </p:nvSpPr>
        <p:spPr>
          <a:xfrm>
            <a:off x="7443216" y="1627632"/>
            <a:ext cx="182880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150"/>
              <a:buFont typeface="Calibri"/>
              <a:buNone/>
            </a:pPr>
            <a:r>
              <a:rPr b="1" i="0" lang="en-US" sz="1150" u="none" cap="none" strike="noStrike">
                <a:solidFill>
                  <a:srgbClr val="2C5F2D"/>
                </a:solidFill>
                <a:latin typeface="Calibri"/>
                <a:ea typeface="Calibri"/>
                <a:cs typeface="Calibri"/>
                <a:sym typeface="Calibri"/>
              </a:rPr>
              <a:t>validate_tflite.py</a:t>
            </a:r>
            <a:endParaRPr b="0" i="0" sz="1150" u="none" cap="none" strike="noStrike">
              <a:solidFill>
                <a:schemeClr val="dk1"/>
              </a:solidFill>
              <a:latin typeface="Calibri"/>
              <a:ea typeface="Calibri"/>
              <a:cs typeface="Calibri"/>
              <a:sym typeface="Calibri"/>
            </a:endParaRPr>
          </a:p>
        </p:txBody>
      </p:sp>
      <p:sp>
        <p:nvSpPr>
          <p:cNvPr id="164" name="Google Shape;164;p6"/>
          <p:cNvSpPr/>
          <p:nvPr/>
        </p:nvSpPr>
        <p:spPr>
          <a:xfrm>
            <a:off x="9336024" y="1280160"/>
            <a:ext cx="292608"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7BC62"/>
              </a:buClr>
              <a:buSzPts val="1800"/>
              <a:buFont typeface="Calibri"/>
              <a:buNone/>
            </a:pPr>
            <a:r>
              <a:rPr b="1" i="0" lang="en-US" sz="1800" u="none" cap="none" strike="noStrike">
                <a:solidFill>
                  <a:srgbClr val="97BC6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5" name="Google Shape;165;p6"/>
          <p:cNvSpPr/>
          <p:nvPr/>
        </p:nvSpPr>
        <p:spPr>
          <a:xfrm>
            <a:off x="7324344" y="2286000"/>
            <a:ext cx="210312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tflite_report_NN.json</a:t>
            </a:r>
            <a:endParaRPr b="0" i="0" sz="1000" u="none" cap="none" strike="noStrike">
              <a:solidFill>
                <a:schemeClr val="dk1"/>
              </a:solidFill>
              <a:latin typeface="Calibri"/>
              <a:ea typeface="Calibri"/>
              <a:cs typeface="Calibri"/>
              <a:sym typeface="Calibri"/>
            </a:endParaRPr>
          </a:p>
        </p:txBody>
      </p:sp>
      <p:sp>
        <p:nvSpPr>
          <p:cNvPr id="166" name="Google Shape;166;p6"/>
          <p:cNvSpPr/>
          <p:nvPr/>
        </p:nvSpPr>
        <p:spPr>
          <a:xfrm>
            <a:off x="9628632" y="1280160"/>
            <a:ext cx="1965960" cy="914400"/>
          </a:xfrm>
          <a:prstGeom prst="roundRect">
            <a:avLst>
              <a:gd fmla="val 9000" name="adj"/>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9738360" y="1371600"/>
            <a:ext cx="1737360" cy="25603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7BC62"/>
              </a:buClr>
              <a:buSzPts val="1000"/>
              <a:buFont typeface="Calibri"/>
              <a:buNone/>
            </a:pPr>
            <a:r>
              <a:rPr b="1" i="0" lang="en-US" sz="1000" u="none" cap="none" strike="noStrike">
                <a:solidFill>
                  <a:srgbClr val="97BC62"/>
                </a:solidFill>
                <a:latin typeface="Calibri"/>
                <a:ea typeface="Calibri"/>
                <a:cs typeface="Calibri"/>
                <a:sym typeface="Calibri"/>
              </a:rPr>
              <a:t>05</a:t>
            </a:r>
            <a:endParaRPr b="0" i="0" sz="1000" u="none" cap="none" strike="noStrike">
              <a:solidFill>
                <a:schemeClr val="dk1"/>
              </a:solidFill>
              <a:latin typeface="Calibri"/>
              <a:ea typeface="Calibri"/>
              <a:cs typeface="Calibri"/>
              <a:sym typeface="Calibri"/>
            </a:endParaRPr>
          </a:p>
        </p:txBody>
      </p:sp>
      <p:sp>
        <p:nvSpPr>
          <p:cNvPr id="168" name="Google Shape;168;p6"/>
          <p:cNvSpPr/>
          <p:nvPr/>
        </p:nvSpPr>
        <p:spPr>
          <a:xfrm>
            <a:off x="9701784" y="1627632"/>
            <a:ext cx="182880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generate_firmware.py</a:t>
            </a:r>
            <a:endParaRPr b="0" i="0" sz="1150" u="none" cap="none" strike="noStrike">
              <a:solidFill>
                <a:schemeClr val="dk1"/>
              </a:solidFill>
              <a:latin typeface="Calibri"/>
              <a:ea typeface="Calibri"/>
              <a:cs typeface="Calibri"/>
              <a:sym typeface="Calibri"/>
            </a:endParaRPr>
          </a:p>
        </p:txBody>
      </p:sp>
      <p:sp>
        <p:nvSpPr>
          <p:cNvPr id="169" name="Google Shape;169;p6"/>
          <p:cNvSpPr/>
          <p:nvPr/>
        </p:nvSpPr>
        <p:spPr>
          <a:xfrm>
            <a:off x="9582912" y="2286000"/>
            <a:ext cx="210312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3 C++ files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for the firmware</a:t>
            </a:r>
            <a:endParaRPr b="0" i="0" sz="1000" u="none" cap="none" strike="noStrike">
              <a:solidFill>
                <a:schemeClr val="dk1"/>
              </a:solidFill>
              <a:latin typeface="Calibri"/>
              <a:ea typeface="Calibri"/>
              <a:cs typeface="Calibri"/>
              <a:sym typeface="Calibri"/>
            </a:endParaRPr>
          </a:p>
        </p:txBody>
      </p:sp>
      <p:sp>
        <p:nvSpPr>
          <p:cNvPr id="170" name="Google Shape;170;p6"/>
          <p:cNvSpPr/>
          <p:nvPr/>
        </p:nvSpPr>
        <p:spPr>
          <a:xfrm>
            <a:off x="594360" y="3246120"/>
            <a:ext cx="3383280" cy="1691640"/>
          </a:xfrm>
          <a:prstGeom prst="roundRect">
            <a:avLst>
              <a:gd fmla="val 4865"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822960" y="3456432"/>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822960" y="34564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73" name="Google Shape;173;p6"/>
          <p:cNvSpPr/>
          <p:nvPr/>
        </p:nvSpPr>
        <p:spPr>
          <a:xfrm>
            <a:off x="1325880" y="3474720"/>
            <a:ext cx="24688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500"/>
              <a:buFont typeface="Calibri"/>
              <a:buNone/>
            </a:pPr>
            <a:r>
              <a:rPr b="1" i="0" lang="en-US" sz="1500" u="none" cap="none" strike="noStrike">
                <a:solidFill>
                  <a:srgbClr val="2C5F2D"/>
                </a:solidFill>
                <a:latin typeface="Calibri"/>
                <a:ea typeface="Calibri"/>
                <a:cs typeface="Calibri"/>
                <a:sym typeface="Calibri"/>
              </a:rPr>
              <a:t>Re-runnable</a:t>
            </a:r>
            <a:endParaRPr b="0" i="0" sz="1500" u="none" cap="none" strike="noStrike">
              <a:solidFill>
                <a:schemeClr val="dk1"/>
              </a:solidFill>
              <a:latin typeface="Calibri"/>
              <a:ea typeface="Calibri"/>
              <a:cs typeface="Calibri"/>
              <a:sym typeface="Calibri"/>
            </a:endParaRPr>
          </a:p>
        </p:txBody>
      </p:sp>
      <p:sp>
        <p:nvSpPr>
          <p:cNvPr id="174" name="Google Shape;174;p6"/>
          <p:cNvSpPr/>
          <p:nvPr/>
        </p:nvSpPr>
        <p:spPr>
          <a:xfrm>
            <a:off x="822960" y="3977640"/>
            <a:ext cx="292608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150"/>
              <a:buFont typeface="Calibri"/>
              <a:buNone/>
            </a:pPr>
            <a:r>
              <a:rPr b="0" i="0" lang="en-US" sz="1150" u="none" cap="none" strike="noStrike">
                <a:solidFill>
                  <a:srgbClr val="18271E"/>
                </a:solidFill>
                <a:latin typeface="Calibri"/>
                <a:ea typeface="Calibri"/>
                <a:cs typeface="Calibri"/>
                <a:sym typeface="Calibri"/>
              </a:rPr>
              <a:t>Every stage reads the previous stage's output from disk — so any single stage can be re-run alone, without redoing the chain.</a:t>
            </a:r>
            <a:endParaRPr b="0" i="0" sz="1150" u="none" cap="none" strike="noStrike">
              <a:solidFill>
                <a:schemeClr val="dk1"/>
              </a:solidFill>
              <a:latin typeface="Calibri"/>
              <a:ea typeface="Calibri"/>
              <a:cs typeface="Calibri"/>
              <a:sym typeface="Calibri"/>
            </a:endParaRPr>
          </a:p>
        </p:txBody>
      </p:sp>
      <p:sp>
        <p:nvSpPr>
          <p:cNvPr id="175" name="Google Shape;175;p6"/>
          <p:cNvSpPr/>
          <p:nvPr/>
        </p:nvSpPr>
        <p:spPr>
          <a:xfrm>
            <a:off x="4251960" y="3246120"/>
            <a:ext cx="3383280" cy="1691640"/>
          </a:xfrm>
          <a:prstGeom prst="roundRect">
            <a:avLst>
              <a:gd fmla="val 4865"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4480560" y="3456432"/>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4480560" y="34564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78" name="Google Shape;178;p6"/>
          <p:cNvSpPr/>
          <p:nvPr/>
        </p:nvSpPr>
        <p:spPr>
          <a:xfrm>
            <a:off x="4983480" y="3474720"/>
            <a:ext cx="24688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500"/>
              <a:buFont typeface="Calibri"/>
              <a:buNone/>
            </a:pPr>
            <a:r>
              <a:rPr b="1" i="0" lang="en-US" sz="1500" u="none" cap="none" strike="noStrike">
                <a:solidFill>
                  <a:srgbClr val="2C5F2D"/>
                </a:solidFill>
                <a:latin typeface="Calibri"/>
                <a:ea typeface="Calibri"/>
                <a:cs typeface="Calibri"/>
                <a:sym typeface="Calibri"/>
              </a:rPr>
              <a:t>Cache safety</a:t>
            </a:r>
            <a:endParaRPr b="0" i="0" sz="1500" u="none" cap="none" strike="noStrike">
              <a:solidFill>
                <a:schemeClr val="dk1"/>
              </a:solidFill>
              <a:latin typeface="Calibri"/>
              <a:ea typeface="Calibri"/>
              <a:cs typeface="Calibri"/>
              <a:sym typeface="Calibri"/>
            </a:endParaRPr>
          </a:p>
        </p:txBody>
      </p:sp>
      <p:sp>
        <p:nvSpPr>
          <p:cNvPr id="179" name="Google Shape;179;p6"/>
          <p:cNvSpPr/>
          <p:nvPr/>
        </p:nvSpPr>
        <p:spPr>
          <a:xfrm>
            <a:off x="4480560" y="3977640"/>
            <a:ext cx="292608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150"/>
              <a:buFont typeface="Calibri"/>
              <a:buNone/>
            </a:pPr>
            <a:r>
              <a:rPr b="0" i="0" lang="en-US" sz="1150" u="none" cap="none" strike="noStrike">
                <a:solidFill>
                  <a:srgbClr val="18271E"/>
                </a:solidFill>
                <a:latin typeface="Calibri"/>
                <a:ea typeface="Calibri"/>
                <a:cs typeface="Calibri"/>
                <a:sym typeface="Calibri"/>
              </a:rPr>
              <a:t>Extraction computes a dataset signature — a hash of every raw file's path, size and mtime — so a stale feature cache is detected automatically.</a:t>
            </a:r>
            <a:endParaRPr b="0" i="0" sz="1150" u="none" cap="none" strike="noStrike">
              <a:solidFill>
                <a:schemeClr val="dk1"/>
              </a:solidFill>
              <a:latin typeface="Calibri"/>
              <a:ea typeface="Calibri"/>
              <a:cs typeface="Calibri"/>
              <a:sym typeface="Calibri"/>
            </a:endParaRPr>
          </a:p>
        </p:txBody>
      </p:sp>
      <p:sp>
        <p:nvSpPr>
          <p:cNvPr id="180" name="Google Shape;180;p6"/>
          <p:cNvSpPr/>
          <p:nvPr/>
        </p:nvSpPr>
        <p:spPr>
          <a:xfrm>
            <a:off x="7909560" y="3246120"/>
            <a:ext cx="3383280" cy="1691640"/>
          </a:xfrm>
          <a:prstGeom prst="roundRect">
            <a:avLst>
              <a:gd fmla="val 4865"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8138160" y="3456432"/>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a:off x="8138160" y="34564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83" name="Google Shape;183;p6"/>
          <p:cNvSpPr/>
          <p:nvPr/>
        </p:nvSpPr>
        <p:spPr>
          <a:xfrm>
            <a:off x="8641080" y="3474720"/>
            <a:ext cx="24688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500"/>
              <a:buFont typeface="Calibri"/>
              <a:buNone/>
            </a:pPr>
            <a:r>
              <a:rPr b="1" i="0" lang="en-US" sz="1500" u="none" cap="none" strike="noStrike">
                <a:solidFill>
                  <a:srgbClr val="2C5F2D"/>
                </a:solidFill>
                <a:latin typeface="Calibri"/>
                <a:ea typeface="Calibri"/>
                <a:cs typeface="Calibri"/>
                <a:sym typeface="Calibri"/>
              </a:rPr>
              <a:t>Diagnostics</a:t>
            </a:r>
            <a:endParaRPr b="0" i="0" sz="1500" u="none" cap="none" strike="noStrike">
              <a:solidFill>
                <a:schemeClr val="dk1"/>
              </a:solidFill>
              <a:latin typeface="Calibri"/>
              <a:ea typeface="Calibri"/>
              <a:cs typeface="Calibri"/>
              <a:sym typeface="Calibri"/>
            </a:endParaRPr>
          </a:p>
        </p:txBody>
      </p:sp>
      <p:sp>
        <p:nvSpPr>
          <p:cNvPr id="184" name="Google Shape;184;p6"/>
          <p:cNvSpPr/>
          <p:nvPr/>
        </p:nvSpPr>
        <p:spPr>
          <a:xfrm>
            <a:off x="8138160" y="3977640"/>
            <a:ext cx="292608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150"/>
              <a:buFont typeface="Calibri"/>
              <a:buNone/>
            </a:pPr>
            <a:r>
              <a:rPr b="0" i="0" lang="en-US" sz="1150" u="none" cap="none" strike="noStrike">
                <a:solidFill>
                  <a:srgbClr val="18271E"/>
                </a:solidFill>
                <a:latin typeface="Calibri"/>
                <a:ea typeface="Calibri"/>
                <a:cs typeface="Calibri"/>
                <a:sym typeface="Calibri"/>
              </a:rPr>
              <a:t>check.py verifies cache and label consistency; chart.py plots learning curves and the metric history across every training run.</a:t>
            </a:r>
            <a:endParaRPr b="0" i="0" sz="1150" u="none" cap="none" strike="noStrike">
              <a:solidFill>
                <a:schemeClr val="dk1"/>
              </a:solidFill>
              <a:latin typeface="Calibri"/>
              <a:ea typeface="Calibri"/>
              <a:cs typeface="Calibri"/>
              <a:sym typeface="Calibri"/>
            </a:endParaRPr>
          </a:p>
        </p:txBody>
      </p:sp>
      <p:sp>
        <p:nvSpPr>
          <p:cNvPr id="185" name="Google Shape;185;p6"/>
          <p:cNvSpPr/>
          <p:nvPr/>
        </p:nvSpPr>
        <p:spPr>
          <a:xfrm>
            <a:off x="594360" y="5166360"/>
            <a:ext cx="10927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200"/>
              <a:buFont typeface="Calibri"/>
              <a:buNone/>
            </a:pPr>
            <a:r>
              <a:rPr b="0" i="1" lang="en-US" sz="1200" u="none" cap="none" strike="noStrike">
                <a:solidFill>
                  <a:srgbClr val="6E7C72"/>
                </a:solidFill>
                <a:latin typeface="Calibri"/>
                <a:ea typeface="Calibri"/>
                <a:cs typeface="Calibri"/>
                <a:sym typeface="Calibri"/>
              </a:rPr>
              <a:t>check.py and chart.py sit alongside the pipeline</a:t>
            </a:r>
            <a:r>
              <a:rPr i="1" lang="en-US" sz="1200">
                <a:solidFill>
                  <a:srgbClr val="6E7C72"/>
                </a:solidFill>
                <a:latin typeface="Calibri"/>
                <a:ea typeface="Calibri"/>
                <a:cs typeface="Calibri"/>
                <a:sym typeface="Calibri"/>
              </a:rPr>
              <a:t>, </a:t>
            </a:r>
            <a:r>
              <a:rPr b="0" i="1" lang="en-US" sz="1200" u="none" cap="none" strike="noStrike">
                <a:solidFill>
                  <a:srgbClr val="6E7C72"/>
                </a:solidFill>
                <a:latin typeface="Calibri"/>
                <a:ea typeface="Calibri"/>
                <a:cs typeface="Calibri"/>
                <a:sym typeface="Calibri"/>
              </a:rPr>
              <a:t> they are diagnostics, not stages of it.</a:t>
            </a:r>
            <a:endParaRPr b="0" i="0" sz="1200" u="none" cap="none" strike="noStrike">
              <a:solidFill>
                <a:schemeClr val="dk1"/>
              </a:solidFill>
              <a:latin typeface="Calibri"/>
              <a:ea typeface="Calibri"/>
              <a:cs typeface="Calibri"/>
              <a:sym typeface="Calibri"/>
            </a:endParaRPr>
          </a:p>
        </p:txBody>
      </p:sp>
      <p:sp>
        <p:nvSpPr>
          <p:cNvPr id="186" name="Google Shape;186;p6"/>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4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7"/>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MODULE 1 — TRAINING/</a:t>
            </a:r>
            <a:endParaRPr b="0" i="0" sz="1100" u="none" cap="none" strike="noStrike">
              <a:solidFill>
                <a:schemeClr val="dk1"/>
              </a:solidFill>
              <a:latin typeface="Calibri"/>
              <a:ea typeface="Calibri"/>
              <a:cs typeface="Calibri"/>
              <a:sym typeface="Calibri"/>
            </a:endParaRPr>
          </a:p>
        </p:txBody>
      </p:sp>
      <p:sp>
        <p:nvSpPr>
          <p:cNvPr id="193" name="Google Shape;193;p7"/>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3200"/>
              <a:buFont typeface="Cambria"/>
              <a:buNone/>
            </a:pPr>
            <a:r>
              <a:rPr b="1" i="0" lang="en-US" sz="3200" u="none" cap="none" strike="noStrike">
                <a:solidFill>
                  <a:srgbClr val="18271E"/>
                </a:solidFill>
                <a:latin typeface="Cambria"/>
                <a:ea typeface="Cambria"/>
                <a:cs typeface="Cambria"/>
                <a:sym typeface="Cambria"/>
              </a:rPr>
              <a:t>The dataset: 1,911 recordings </a:t>
            </a:r>
            <a:r>
              <a:rPr b="1" lang="en-US" sz="3200">
                <a:solidFill>
                  <a:srgbClr val="18271E"/>
                </a:solidFill>
                <a:latin typeface="Cambria"/>
                <a:ea typeface="Cambria"/>
                <a:cs typeface="Cambria"/>
                <a:sym typeface="Cambria"/>
              </a:rPr>
              <a:t>and</a:t>
            </a:r>
            <a:r>
              <a:rPr b="1" i="0" lang="en-US" sz="3200" u="none" cap="none" strike="noStrike">
                <a:solidFill>
                  <a:srgbClr val="18271E"/>
                </a:solidFill>
                <a:latin typeface="Cambria"/>
                <a:ea typeface="Cambria"/>
                <a:cs typeface="Cambria"/>
                <a:sym typeface="Cambria"/>
              </a:rPr>
              <a:t> 5</a:t>
            </a:r>
            <a:r>
              <a:rPr b="1" i="0" lang="en-US" sz="3200" u="none" cap="none" strike="noStrike">
                <a:solidFill>
                  <a:srgbClr val="18271E"/>
                </a:solidFill>
                <a:latin typeface="Cambria"/>
                <a:ea typeface="Cambria"/>
                <a:cs typeface="Cambria"/>
                <a:sym typeface="Cambria"/>
              </a:rPr>
              <a:t>,</a:t>
            </a:r>
            <a:r>
              <a:rPr b="1" i="0" lang="en-US" sz="3200" u="none" cap="none" strike="noStrike">
                <a:solidFill>
                  <a:srgbClr val="18271E"/>
                </a:solidFill>
                <a:latin typeface="Cambria"/>
                <a:ea typeface="Cambria"/>
                <a:cs typeface="Cambria"/>
                <a:sym typeface="Cambria"/>
              </a:rPr>
              <a:t>963 windows</a:t>
            </a:r>
            <a:endParaRPr b="0" i="0" sz="3200" u="none" cap="none" strike="noStrike">
              <a:solidFill>
                <a:schemeClr val="dk1"/>
              </a:solidFill>
              <a:latin typeface="Calibri"/>
              <a:ea typeface="Calibri"/>
              <a:cs typeface="Calibri"/>
              <a:sym typeface="Calibri"/>
            </a:endParaRPr>
          </a:p>
        </p:txBody>
      </p:sp>
      <p:sp>
        <p:nvSpPr>
          <p:cNvPr id="194" name="Google Shape;194;p7"/>
          <p:cNvSpPr/>
          <p:nvPr/>
        </p:nvSpPr>
        <p:spPr>
          <a:xfrm>
            <a:off x="594360" y="1188720"/>
            <a:ext cx="2606040" cy="868680"/>
          </a:xfrm>
          <a:prstGeom prst="roundRect">
            <a:avLst>
              <a:gd fmla="val 9474"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594360" y="1243584"/>
            <a:ext cx="260604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2200"/>
              <a:buFont typeface="Cambria"/>
              <a:buNone/>
            </a:pPr>
            <a:r>
              <a:rPr b="1" i="0" lang="en-US" sz="2200" u="none" cap="none" strike="noStrike">
                <a:solidFill>
                  <a:srgbClr val="2C5F2D"/>
                </a:solidFill>
                <a:latin typeface="Cambria"/>
                <a:ea typeface="Cambria"/>
                <a:cs typeface="Cambria"/>
                <a:sym typeface="Cambria"/>
              </a:rPr>
              <a:t>1,911</a:t>
            </a:r>
            <a:endParaRPr b="0" i="0" sz="2200" u="none" cap="none" strike="noStrike">
              <a:solidFill>
                <a:schemeClr val="dk1"/>
              </a:solidFill>
              <a:latin typeface="Calibri"/>
              <a:ea typeface="Calibri"/>
              <a:cs typeface="Calibri"/>
              <a:sym typeface="Calibri"/>
            </a:endParaRPr>
          </a:p>
        </p:txBody>
      </p:sp>
      <p:sp>
        <p:nvSpPr>
          <p:cNvPr id="196" name="Google Shape;196;p7"/>
          <p:cNvSpPr/>
          <p:nvPr/>
        </p:nvSpPr>
        <p:spPr>
          <a:xfrm>
            <a:off x="594360" y="1664208"/>
            <a:ext cx="26060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WAV files</a:t>
            </a:r>
            <a:endParaRPr b="0" i="0" sz="1050" u="none" cap="none" strike="noStrike">
              <a:solidFill>
                <a:schemeClr val="dk1"/>
              </a:solidFill>
              <a:latin typeface="Calibri"/>
              <a:ea typeface="Calibri"/>
              <a:cs typeface="Calibri"/>
              <a:sym typeface="Calibri"/>
            </a:endParaRPr>
          </a:p>
        </p:txBody>
      </p:sp>
      <p:sp>
        <p:nvSpPr>
          <p:cNvPr id="197" name="Google Shape;197;p7"/>
          <p:cNvSpPr/>
          <p:nvPr/>
        </p:nvSpPr>
        <p:spPr>
          <a:xfrm>
            <a:off x="3383280" y="1188720"/>
            <a:ext cx="2606040" cy="868680"/>
          </a:xfrm>
          <a:prstGeom prst="roundRect">
            <a:avLst>
              <a:gd fmla="val 9474"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3383280" y="1243584"/>
            <a:ext cx="260604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2200"/>
              <a:buFont typeface="Cambria"/>
              <a:buNone/>
            </a:pPr>
            <a:r>
              <a:rPr b="1" i="0" lang="en-US" sz="2200" u="none" cap="none" strike="noStrike">
                <a:solidFill>
                  <a:srgbClr val="2C5F2D"/>
                </a:solidFill>
                <a:latin typeface="Cambria"/>
                <a:ea typeface="Cambria"/>
                <a:cs typeface="Cambria"/>
                <a:sym typeface="Cambria"/>
              </a:rPr>
              <a:t>5,963</a:t>
            </a:r>
            <a:endParaRPr b="0" i="0" sz="2200" u="none" cap="none" strike="noStrike">
              <a:solidFill>
                <a:schemeClr val="dk1"/>
              </a:solidFill>
              <a:latin typeface="Calibri"/>
              <a:ea typeface="Calibri"/>
              <a:cs typeface="Calibri"/>
              <a:sym typeface="Calibri"/>
            </a:endParaRPr>
          </a:p>
        </p:txBody>
      </p:sp>
      <p:sp>
        <p:nvSpPr>
          <p:cNvPr id="199" name="Google Shape;199;p7"/>
          <p:cNvSpPr/>
          <p:nvPr/>
        </p:nvSpPr>
        <p:spPr>
          <a:xfrm>
            <a:off x="3383280" y="1664208"/>
            <a:ext cx="26060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2s windows</a:t>
            </a:r>
            <a:endParaRPr b="0" i="0" sz="1050" u="none" cap="none" strike="noStrike">
              <a:solidFill>
                <a:schemeClr val="dk1"/>
              </a:solidFill>
              <a:latin typeface="Calibri"/>
              <a:ea typeface="Calibri"/>
              <a:cs typeface="Calibri"/>
              <a:sym typeface="Calibri"/>
            </a:endParaRPr>
          </a:p>
        </p:txBody>
      </p:sp>
      <p:sp>
        <p:nvSpPr>
          <p:cNvPr id="200" name="Google Shape;200;p7"/>
          <p:cNvSpPr/>
          <p:nvPr/>
        </p:nvSpPr>
        <p:spPr>
          <a:xfrm>
            <a:off x="6172200" y="1188720"/>
            <a:ext cx="2606040" cy="868680"/>
          </a:xfrm>
          <a:prstGeom prst="roundRect">
            <a:avLst>
              <a:gd fmla="val 9474"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6172200" y="1243584"/>
            <a:ext cx="260604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2200"/>
              <a:buFont typeface="Cambria"/>
              <a:buNone/>
            </a:pPr>
            <a:r>
              <a:rPr b="1" i="0" lang="en-US" sz="2200" u="none" cap="none" strike="noStrike">
                <a:solidFill>
                  <a:srgbClr val="2C5F2D"/>
                </a:solidFill>
                <a:latin typeface="Cambria"/>
                <a:ea typeface="Cambria"/>
                <a:cs typeface="Cambria"/>
                <a:sym typeface="Cambria"/>
              </a:rPr>
              <a:t>26 %</a:t>
            </a:r>
            <a:endParaRPr b="0" i="0" sz="2200" u="none" cap="none" strike="noStrike">
              <a:solidFill>
                <a:schemeClr val="dk1"/>
              </a:solidFill>
              <a:latin typeface="Calibri"/>
              <a:ea typeface="Calibri"/>
              <a:cs typeface="Calibri"/>
              <a:sym typeface="Calibri"/>
            </a:endParaRPr>
          </a:p>
        </p:txBody>
      </p:sp>
      <p:sp>
        <p:nvSpPr>
          <p:cNvPr id="202" name="Google Shape;202;p7"/>
          <p:cNvSpPr/>
          <p:nvPr/>
        </p:nvSpPr>
        <p:spPr>
          <a:xfrm>
            <a:off x="6172200" y="1664208"/>
            <a:ext cx="26060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positive windows</a:t>
            </a:r>
            <a:endParaRPr b="0" i="0" sz="1050" u="none" cap="none" strike="noStrike">
              <a:solidFill>
                <a:schemeClr val="dk1"/>
              </a:solidFill>
              <a:latin typeface="Calibri"/>
              <a:ea typeface="Calibri"/>
              <a:cs typeface="Calibri"/>
              <a:sym typeface="Calibri"/>
            </a:endParaRPr>
          </a:p>
        </p:txBody>
      </p:sp>
      <p:sp>
        <p:nvSpPr>
          <p:cNvPr id="203" name="Google Shape;203;p7"/>
          <p:cNvSpPr/>
          <p:nvPr/>
        </p:nvSpPr>
        <p:spPr>
          <a:xfrm>
            <a:off x="8961120" y="1188720"/>
            <a:ext cx="2606040" cy="868680"/>
          </a:xfrm>
          <a:prstGeom prst="roundRect">
            <a:avLst>
              <a:gd fmla="val 9474"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8961120" y="1243584"/>
            <a:ext cx="260604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700"/>
              <a:buFont typeface="Cambria"/>
              <a:buNone/>
            </a:pPr>
            <a:r>
              <a:rPr b="1" i="0" lang="en-US" sz="1700" u="none" cap="none" strike="noStrike">
                <a:solidFill>
                  <a:srgbClr val="2C5F2D"/>
                </a:solidFill>
                <a:latin typeface="Cambria"/>
                <a:ea typeface="Cambria"/>
                <a:cs typeface="Cambria"/>
                <a:sym typeface="Cambria"/>
              </a:rPr>
              <a:t>3,580 / 1,197 / 1,186</a:t>
            </a:r>
            <a:endParaRPr b="0" i="0" sz="1700" u="none" cap="none" strike="noStrike">
              <a:solidFill>
                <a:schemeClr val="dk1"/>
              </a:solidFill>
              <a:latin typeface="Calibri"/>
              <a:ea typeface="Calibri"/>
              <a:cs typeface="Calibri"/>
              <a:sym typeface="Calibri"/>
            </a:endParaRPr>
          </a:p>
        </p:txBody>
      </p:sp>
      <p:sp>
        <p:nvSpPr>
          <p:cNvPr id="205" name="Google Shape;205;p7"/>
          <p:cNvSpPr/>
          <p:nvPr/>
        </p:nvSpPr>
        <p:spPr>
          <a:xfrm>
            <a:off x="8961120" y="1664208"/>
            <a:ext cx="26060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train / val / test</a:t>
            </a:r>
            <a:endParaRPr b="0" i="0" sz="1050" u="none" cap="none" strike="noStrike">
              <a:solidFill>
                <a:schemeClr val="dk1"/>
              </a:solidFill>
              <a:latin typeface="Calibri"/>
              <a:ea typeface="Calibri"/>
              <a:cs typeface="Calibri"/>
              <a:sym typeface="Calibri"/>
            </a:endParaRPr>
          </a:p>
        </p:txBody>
      </p:sp>
      <p:pic>
        <p:nvPicPr>
          <p:cNvPr id="206" name="Google Shape;206;p7"/>
          <p:cNvPicPr preferRelativeResize="0"/>
          <p:nvPr/>
        </p:nvPicPr>
        <p:blipFill rotWithShape="1">
          <a:blip r:embed="rId3">
            <a:alphaModFix/>
          </a:blip>
          <a:srcRect b="0" l="0" r="0" t="0"/>
          <a:stretch/>
        </p:blipFill>
        <p:spPr>
          <a:xfrm>
            <a:off x="457200" y="2194560"/>
            <a:ext cx="3931920" cy="3108960"/>
          </a:xfrm>
          <a:prstGeom prst="rect">
            <a:avLst/>
          </a:prstGeom>
          <a:noFill/>
          <a:ln>
            <a:noFill/>
          </a:ln>
        </p:spPr>
      </p:pic>
      <p:pic>
        <p:nvPicPr>
          <p:cNvPr id="207" name="Google Shape;207;p7"/>
          <p:cNvPicPr preferRelativeResize="0"/>
          <p:nvPr/>
        </p:nvPicPr>
        <p:blipFill rotWithShape="1">
          <a:blip r:embed="rId4">
            <a:alphaModFix/>
          </a:blip>
          <a:srcRect b="0" l="0" r="0" t="0"/>
          <a:stretch/>
        </p:blipFill>
        <p:spPr>
          <a:xfrm>
            <a:off x="4434840" y="2194560"/>
            <a:ext cx="4023360" cy="3108960"/>
          </a:xfrm>
          <a:prstGeom prst="rect">
            <a:avLst/>
          </a:prstGeom>
          <a:noFill/>
          <a:ln>
            <a:noFill/>
          </a:ln>
        </p:spPr>
      </p:pic>
      <p:sp>
        <p:nvSpPr>
          <p:cNvPr id="208" name="Google Shape;208;p7"/>
          <p:cNvSpPr/>
          <p:nvPr/>
        </p:nvSpPr>
        <p:spPr>
          <a:xfrm>
            <a:off x="8595360" y="2240280"/>
            <a:ext cx="2971800" cy="914400"/>
          </a:xfrm>
          <a:prstGeom prst="roundRect">
            <a:avLst>
              <a:gd fmla="val 90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8778240" y="2313432"/>
            <a:ext cx="26517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00"/>
              <a:buFont typeface="Calibri"/>
              <a:buNone/>
            </a:pPr>
            <a:r>
              <a:rPr b="1" i="0" lang="en-US" sz="1200" u="none" cap="none" strike="noStrike">
                <a:solidFill>
                  <a:srgbClr val="2C5F2D"/>
                </a:solidFill>
                <a:latin typeface="Calibri"/>
                <a:ea typeface="Calibri"/>
                <a:cs typeface="Calibri"/>
                <a:sym typeface="Calibri"/>
              </a:rPr>
              <a:t>Automatic labelling</a:t>
            </a:r>
            <a:endParaRPr b="0" i="0" sz="1200" u="none" cap="none" strike="noStrike">
              <a:solidFill>
                <a:schemeClr val="dk1"/>
              </a:solidFill>
              <a:latin typeface="Calibri"/>
              <a:ea typeface="Calibri"/>
              <a:cs typeface="Calibri"/>
              <a:sym typeface="Calibri"/>
            </a:endParaRPr>
          </a:p>
        </p:txBody>
      </p:sp>
      <p:sp>
        <p:nvSpPr>
          <p:cNvPr id="210" name="Google Shape;210;p7"/>
          <p:cNvSpPr/>
          <p:nvPr/>
        </p:nvSpPr>
        <p:spPr>
          <a:xfrm>
            <a:off x="8778240" y="2560320"/>
            <a:ext cx="26517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950"/>
              <a:buFont typeface="Calibri"/>
              <a:buNone/>
            </a:pPr>
            <a:r>
              <a:rPr b="0" i="0" lang="en-US" sz="950" u="none" cap="none" strike="noStrike">
                <a:solidFill>
                  <a:srgbClr val="18271E"/>
                </a:solidFill>
                <a:latin typeface="Calibri"/>
                <a:ea typeface="Calibri"/>
                <a:cs typeface="Calibri"/>
                <a:sym typeface="Calibri"/>
              </a:rPr>
              <a:t>Derived from the folder path </a:t>
            </a:r>
            <a:r>
              <a:rPr lang="en-US" sz="950">
                <a:solidFill>
                  <a:srgbClr val="18271E"/>
                </a:solidFill>
                <a:latin typeface="Calibri"/>
                <a:ea typeface="Calibri"/>
                <a:cs typeface="Calibri"/>
                <a:sym typeface="Calibri"/>
              </a:rPr>
              <a:t>: </a:t>
            </a:r>
            <a:r>
              <a:rPr b="0" i="0" lang="en-US" sz="950" u="none" cap="none" strike="noStrike">
                <a:solidFill>
                  <a:srgbClr val="18271E"/>
                </a:solidFill>
                <a:latin typeface="Calibri"/>
                <a:ea typeface="Calibri"/>
                <a:cs typeface="Calibri"/>
                <a:sym typeface="Calibri"/>
              </a:rPr>
              <a:t> chainsaw / motosierra → 1, birds / lluvia / jaguar → 0. A file matching no token raises an error, so the folder tree is the single source of truth.</a:t>
            </a:r>
            <a:endParaRPr b="0" i="0" sz="950" u="none" cap="none" strike="noStrike">
              <a:solidFill>
                <a:schemeClr val="dk1"/>
              </a:solidFill>
              <a:latin typeface="Calibri"/>
              <a:ea typeface="Calibri"/>
              <a:cs typeface="Calibri"/>
              <a:sym typeface="Calibri"/>
            </a:endParaRPr>
          </a:p>
        </p:txBody>
      </p:sp>
      <p:sp>
        <p:nvSpPr>
          <p:cNvPr id="211" name="Google Shape;211;p7"/>
          <p:cNvSpPr/>
          <p:nvPr/>
        </p:nvSpPr>
        <p:spPr>
          <a:xfrm>
            <a:off x="8595360" y="3273552"/>
            <a:ext cx="2971800" cy="914400"/>
          </a:xfrm>
          <a:prstGeom prst="roundRect">
            <a:avLst>
              <a:gd fmla="val 90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8778240" y="3346704"/>
            <a:ext cx="26517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00"/>
              <a:buFont typeface="Calibri"/>
              <a:buNone/>
            </a:pPr>
            <a:r>
              <a:rPr b="1" i="0" lang="en-US" sz="1200" u="none" cap="none" strike="noStrike">
                <a:solidFill>
                  <a:srgbClr val="2C5F2D"/>
                </a:solidFill>
                <a:latin typeface="Calibri"/>
                <a:ea typeface="Calibri"/>
                <a:cs typeface="Calibri"/>
                <a:sym typeface="Calibri"/>
              </a:rPr>
              <a:t>Grouped split</a:t>
            </a:r>
            <a:endParaRPr b="0" i="0" sz="1200" u="none" cap="none" strike="noStrike">
              <a:solidFill>
                <a:schemeClr val="dk1"/>
              </a:solidFill>
              <a:latin typeface="Calibri"/>
              <a:ea typeface="Calibri"/>
              <a:cs typeface="Calibri"/>
              <a:sym typeface="Calibri"/>
            </a:endParaRPr>
          </a:p>
        </p:txBody>
      </p:sp>
      <p:sp>
        <p:nvSpPr>
          <p:cNvPr id="213" name="Google Shape;213;p7"/>
          <p:cNvSpPr/>
          <p:nvPr/>
        </p:nvSpPr>
        <p:spPr>
          <a:xfrm>
            <a:off x="8778240" y="3593592"/>
            <a:ext cx="26517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950"/>
              <a:buFont typeface="Calibri"/>
              <a:buNone/>
            </a:pPr>
            <a:r>
              <a:rPr b="0" i="0" lang="en-US" sz="950" u="none" cap="none" strike="noStrike">
                <a:solidFill>
                  <a:srgbClr val="18271E"/>
                </a:solidFill>
                <a:latin typeface="Calibri"/>
                <a:ea typeface="Calibri"/>
                <a:cs typeface="Calibri"/>
                <a:sym typeface="Calibri"/>
              </a:rPr>
              <a:t>All windows from one recording stay on the same side of the split</a:t>
            </a:r>
            <a:r>
              <a:rPr lang="en-US" sz="950">
                <a:solidFill>
                  <a:srgbClr val="18271E"/>
                </a:solidFill>
                <a:latin typeface="Calibri"/>
                <a:ea typeface="Calibri"/>
                <a:cs typeface="Calibri"/>
                <a:sym typeface="Calibri"/>
              </a:rPr>
              <a:t>. O</a:t>
            </a:r>
            <a:r>
              <a:rPr b="0" i="0" lang="en-US" sz="950" u="none" cap="none" strike="noStrike">
                <a:solidFill>
                  <a:srgbClr val="18271E"/>
                </a:solidFill>
                <a:latin typeface="Calibri"/>
                <a:ea typeface="Calibri"/>
                <a:cs typeface="Calibri"/>
                <a:sym typeface="Calibri"/>
              </a:rPr>
              <a:t>therwise the model would be tested on windows nearly identical to its training data.</a:t>
            </a:r>
            <a:endParaRPr b="0" i="0" sz="950" u="none" cap="none" strike="noStrike">
              <a:solidFill>
                <a:schemeClr val="dk1"/>
              </a:solidFill>
              <a:latin typeface="Calibri"/>
              <a:ea typeface="Calibri"/>
              <a:cs typeface="Calibri"/>
              <a:sym typeface="Calibri"/>
            </a:endParaRPr>
          </a:p>
        </p:txBody>
      </p:sp>
      <p:sp>
        <p:nvSpPr>
          <p:cNvPr id="214" name="Google Shape;214;p7"/>
          <p:cNvSpPr/>
          <p:nvPr/>
        </p:nvSpPr>
        <p:spPr>
          <a:xfrm>
            <a:off x="8595360" y="4306824"/>
            <a:ext cx="2971800" cy="914400"/>
          </a:xfrm>
          <a:prstGeom prst="roundRect">
            <a:avLst>
              <a:gd fmla="val 90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p:nvPr/>
        </p:nvSpPr>
        <p:spPr>
          <a:xfrm>
            <a:off x="8778240" y="4379976"/>
            <a:ext cx="26517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00"/>
              <a:buFont typeface="Calibri"/>
              <a:buNone/>
            </a:pPr>
            <a:r>
              <a:rPr b="1" i="0" lang="en-US" sz="1200" u="none" cap="none" strike="noStrike">
                <a:solidFill>
                  <a:srgbClr val="2C5F2D"/>
                </a:solidFill>
                <a:latin typeface="Calibri"/>
                <a:ea typeface="Calibri"/>
                <a:cs typeface="Calibri"/>
                <a:sym typeface="Calibri"/>
              </a:rPr>
              <a:t>Hard negative</a:t>
            </a:r>
            <a:endParaRPr b="0" i="0" sz="1200" u="none" cap="none" strike="noStrike">
              <a:solidFill>
                <a:schemeClr val="dk1"/>
              </a:solidFill>
              <a:latin typeface="Calibri"/>
              <a:ea typeface="Calibri"/>
              <a:cs typeface="Calibri"/>
              <a:sym typeface="Calibri"/>
            </a:endParaRPr>
          </a:p>
        </p:txBody>
      </p:sp>
      <p:sp>
        <p:nvSpPr>
          <p:cNvPr id="216" name="Google Shape;216;p7"/>
          <p:cNvSpPr/>
          <p:nvPr/>
        </p:nvSpPr>
        <p:spPr>
          <a:xfrm>
            <a:off x="8778240" y="4626864"/>
            <a:ext cx="26517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950"/>
              <a:buFont typeface="Calibri"/>
              <a:buNone/>
            </a:pPr>
            <a:r>
              <a:rPr b="0" i="0" lang="en-US" sz="950" u="none" cap="none" strike="noStrike">
                <a:solidFill>
                  <a:srgbClr val="18271E"/>
                </a:solidFill>
                <a:latin typeface="Calibri"/>
                <a:ea typeface="Calibri"/>
                <a:cs typeface="Calibri"/>
                <a:sym typeface="Calibri"/>
              </a:rPr>
              <a:t>Motocross is deliberately a negative: a two-stroke engine that is not a chainsaw. Class imbalance is handled with weights 0.68 / 1.90.</a:t>
            </a:r>
            <a:endParaRPr b="0" i="0" sz="950" u="none" cap="none" strike="noStrike">
              <a:solidFill>
                <a:schemeClr val="dk1"/>
              </a:solidFill>
              <a:latin typeface="Calibri"/>
              <a:ea typeface="Calibri"/>
              <a:cs typeface="Calibri"/>
              <a:sym typeface="Calibri"/>
            </a:endParaRPr>
          </a:p>
        </p:txBody>
      </p:sp>
      <p:sp>
        <p:nvSpPr>
          <p:cNvPr id="217" name="Google Shape;217;p7"/>
          <p:cNvSpPr/>
          <p:nvPr/>
        </p:nvSpPr>
        <p:spPr>
          <a:xfrm>
            <a:off x="594360" y="5532120"/>
            <a:ext cx="10927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200"/>
              <a:buFont typeface="Calibri"/>
              <a:buNone/>
            </a:pPr>
            <a:r>
              <a:rPr b="0" i="1" lang="en-US" sz="1200" u="none" cap="none" strike="noStrike">
                <a:solidFill>
                  <a:srgbClr val="6E7C72"/>
                </a:solidFill>
                <a:latin typeface="Calibri"/>
                <a:ea typeface="Calibri"/>
                <a:cs typeface="Calibri"/>
                <a:sym typeface="Calibri"/>
              </a:rPr>
              <a:t>Positives come from three saw sources (generic, Oregon, Stihl) plus two sets recorded over jungle ambience.</a:t>
            </a:r>
            <a:endParaRPr b="0" i="0" sz="1200" u="none" cap="none" strike="noStrike">
              <a:solidFill>
                <a:schemeClr val="dk1"/>
              </a:solidFill>
              <a:latin typeface="Calibri"/>
              <a:ea typeface="Calibri"/>
              <a:cs typeface="Calibri"/>
              <a:sym typeface="Calibri"/>
            </a:endParaRPr>
          </a:p>
        </p:txBody>
      </p:sp>
      <p:sp>
        <p:nvSpPr>
          <p:cNvPr id="218" name="Google Shape;218;p7"/>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5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8"/>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MODULE 1 — TRAINING/</a:t>
            </a:r>
            <a:endParaRPr b="0" i="0" sz="1100" u="none" cap="none" strike="noStrike">
              <a:solidFill>
                <a:schemeClr val="dk1"/>
              </a:solidFill>
              <a:latin typeface="Calibri"/>
              <a:ea typeface="Calibri"/>
              <a:cs typeface="Calibri"/>
              <a:sym typeface="Calibri"/>
            </a:endParaRPr>
          </a:p>
        </p:txBody>
      </p:sp>
      <p:sp>
        <p:nvSpPr>
          <p:cNvPr id="225" name="Google Shape;225;p8"/>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3200"/>
              <a:buFont typeface="Cambria"/>
              <a:buNone/>
            </a:pPr>
            <a:r>
              <a:rPr b="1" i="0" lang="en-US" sz="3200" u="none" cap="none" strike="noStrike">
                <a:solidFill>
                  <a:srgbClr val="18271E"/>
                </a:solidFill>
                <a:latin typeface="Cambria"/>
                <a:ea typeface="Cambria"/>
                <a:cs typeface="Cambria"/>
                <a:sym typeface="Cambria"/>
              </a:rPr>
              <a:t>194 numbers describe two seconds of forest</a:t>
            </a:r>
            <a:endParaRPr b="0" i="0" sz="3200" u="none" cap="none" strike="noStrike">
              <a:solidFill>
                <a:schemeClr val="dk1"/>
              </a:solidFill>
              <a:latin typeface="Calibri"/>
              <a:ea typeface="Calibri"/>
              <a:cs typeface="Calibri"/>
              <a:sym typeface="Calibri"/>
            </a:endParaRPr>
          </a:p>
        </p:txBody>
      </p:sp>
      <p:sp>
        <p:nvSpPr>
          <p:cNvPr id="226" name="Google Shape;226;p8"/>
          <p:cNvSpPr/>
          <p:nvPr/>
        </p:nvSpPr>
        <p:spPr>
          <a:xfrm>
            <a:off x="594360" y="1188720"/>
            <a:ext cx="5029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FEATURE VECTOR </a:t>
            </a:r>
            <a:r>
              <a:rPr b="1" lang="en-US" sz="1000">
                <a:solidFill>
                  <a:srgbClr val="6E7C72"/>
                </a:solidFill>
                <a:latin typeface="Calibri"/>
                <a:ea typeface="Calibri"/>
                <a:cs typeface="Calibri"/>
                <a:sym typeface="Calibri"/>
              </a:rPr>
              <a:t>: </a:t>
            </a:r>
            <a:r>
              <a:rPr b="1" i="0" lang="en-US" sz="1000" u="none" cap="none" strike="noStrike">
                <a:solidFill>
                  <a:srgbClr val="6E7C72"/>
                </a:solidFill>
                <a:latin typeface="Calibri"/>
                <a:ea typeface="Calibri"/>
                <a:cs typeface="Calibri"/>
                <a:sym typeface="Calibri"/>
              </a:rPr>
              <a:t>per 2s window</a:t>
            </a:r>
            <a:endParaRPr b="0" i="0" sz="1000" u="none" cap="none" strike="noStrike">
              <a:solidFill>
                <a:schemeClr val="dk1"/>
              </a:solidFill>
              <a:latin typeface="Calibri"/>
              <a:ea typeface="Calibri"/>
              <a:cs typeface="Calibri"/>
              <a:sym typeface="Calibri"/>
            </a:endParaRPr>
          </a:p>
        </p:txBody>
      </p:sp>
      <p:sp>
        <p:nvSpPr>
          <p:cNvPr id="227" name="Google Shape;227;p8"/>
          <p:cNvSpPr/>
          <p:nvPr/>
        </p:nvSpPr>
        <p:spPr>
          <a:xfrm>
            <a:off x="594360" y="1554480"/>
            <a:ext cx="5486400" cy="731520"/>
          </a:xfrm>
          <a:prstGeom prst="roundRect">
            <a:avLst>
              <a:gd fmla="val 1125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777240" y="1728216"/>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777240" y="172821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30" name="Google Shape;230;p8"/>
          <p:cNvSpPr/>
          <p:nvPr/>
        </p:nvSpPr>
        <p:spPr>
          <a:xfrm>
            <a:off x="1298448" y="1645920"/>
            <a:ext cx="4617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50"/>
              <a:buFont typeface="Calibri"/>
              <a:buNone/>
            </a:pPr>
            <a:r>
              <a:rPr b="1" i="0" lang="en-US" sz="1250" u="none" cap="none" strike="noStrike">
                <a:solidFill>
                  <a:srgbClr val="18271E"/>
                </a:solidFill>
                <a:latin typeface="Calibri"/>
                <a:ea typeface="Calibri"/>
                <a:cs typeface="Calibri"/>
                <a:sym typeface="Calibri"/>
              </a:rPr>
              <a:t>20 MFCC  +  Δ  +  Δ²</a:t>
            </a:r>
            <a:endParaRPr b="0" i="0" sz="1250" u="none" cap="none" strike="noStrike">
              <a:solidFill>
                <a:schemeClr val="dk1"/>
              </a:solidFill>
              <a:latin typeface="Calibri"/>
              <a:ea typeface="Calibri"/>
              <a:cs typeface="Calibri"/>
              <a:sym typeface="Calibri"/>
            </a:endParaRPr>
          </a:p>
        </p:txBody>
      </p:sp>
      <p:sp>
        <p:nvSpPr>
          <p:cNvPr id="231" name="Google Shape;231;p8"/>
          <p:cNvSpPr/>
          <p:nvPr/>
        </p:nvSpPr>
        <p:spPr>
          <a:xfrm>
            <a:off x="1298448" y="1938528"/>
            <a:ext cx="4617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timbre, and how the timbre evolves</a:t>
            </a:r>
            <a:endParaRPr b="0" i="0" sz="1050" u="none" cap="none" strike="noStrike">
              <a:solidFill>
                <a:schemeClr val="dk1"/>
              </a:solidFill>
              <a:latin typeface="Calibri"/>
              <a:ea typeface="Calibri"/>
              <a:cs typeface="Calibri"/>
              <a:sym typeface="Calibri"/>
            </a:endParaRPr>
          </a:p>
        </p:txBody>
      </p:sp>
      <p:sp>
        <p:nvSpPr>
          <p:cNvPr id="232" name="Google Shape;232;p8"/>
          <p:cNvSpPr/>
          <p:nvPr/>
        </p:nvSpPr>
        <p:spPr>
          <a:xfrm>
            <a:off x="594360" y="2395728"/>
            <a:ext cx="5486400" cy="731520"/>
          </a:xfrm>
          <a:prstGeom prst="roundRect">
            <a:avLst>
              <a:gd fmla="val 1125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777240" y="2569464"/>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777240" y="25694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35" name="Google Shape;235;p8"/>
          <p:cNvSpPr/>
          <p:nvPr/>
        </p:nvSpPr>
        <p:spPr>
          <a:xfrm>
            <a:off x="1298448" y="2487168"/>
            <a:ext cx="4617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50"/>
              <a:buFont typeface="Calibri"/>
              <a:buNone/>
            </a:pPr>
            <a:r>
              <a:rPr b="1" i="0" lang="en-US" sz="1250" u="none" cap="none" strike="noStrike">
                <a:solidFill>
                  <a:srgbClr val="18271E"/>
                </a:solidFill>
                <a:latin typeface="Calibri"/>
                <a:ea typeface="Calibri"/>
                <a:cs typeface="Calibri"/>
                <a:sym typeface="Calibri"/>
              </a:rPr>
              <a:t>32-band mel spectrogram (dB)</a:t>
            </a:r>
            <a:endParaRPr b="0" i="0" sz="1250" u="none" cap="none" strike="noStrike">
              <a:solidFill>
                <a:schemeClr val="dk1"/>
              </a:solidFill>
              <a:latin typeface="Calibri"/>
              <a:ea typeface="Calibri"/>
              <a:cs typeface="Calibri"/>
              <a:sym typeface="Calibri"/>
            </a:endParaRPr>
          </a:p>
        </p:txBody>
      </p:sp>
      <p:sp>
        <p:nvSpPr>
          <p:cNvPr id="236" name="Google Shape;236;p8"/>
          <p:cNvSpPr/>
          <p:nvPr/>
        </p:nvSpPr>
        <p:spPr>
          <a:xfrm>
            <a:off x="1298448" y="2779776"/>
            <a:ext cx="4617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coarse spectral envelope</a:t>
            </a:r>
            <a:endParaRPr b="0" i="0" sz="1050" u="none" cap="none" strike="noStrike">
              <a:solidFill>
                <a:schemeClr val="dk1"/>
              </a:solidFill>
              <a:latin typeface="Calibri"/>
              <a:ea typeface="Calibri"/>
              <a:cs typeface="Calibri"/>
              <a:sym typeface="Calibri"/>
            </a:endParaRPr>
          </a:p>
        </p:txBody>
      </p:sp>
      <p:sp>
        <p:nvSpPr>
          <p:cNvPr id="237" name="Google Shape;237;p8"/>
          <p:cNvSpPr/>
          <p:nvPr/>
        </p:nvSpPr>
        <p:spPr>
          <a:xfrm>
            <a:off x="594360" y="3236976"/>
            <a:ext cx="5486400" cy="731520"/>
          </a:xfrm>
          <a:prstGeom prst="roundRect">
            <a:avLst>
              <a:gd fmla="val 1125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777240" y="3410712"/>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777240" y="341071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40" name="Google Shape;240;p8"/>
          <p:cNvSpPr/>
          <p:nvPr/>
        </p:nvSpPr>
        <p:spPr>
          <a:xfrm>
            <a:off x="1298448" y="3328416"/>
            <a:ext cx="4617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50"/>
              <a:buFont typeface="Calibri"/>
              <a:buNone/>
            </a:pPr>
            <a:r>
              <a:rPr b="1" i="0" lang="en-US" sz="1250" u="none" cap="none" strike="noStrike">
                <a:solidFill>
                  <a:srgbClr val="18271E"/>
                </a:solidFill>
                <a:latin typeface="Calibri"/>
                <a:ea typeface="Calibri"/>
                <a:cs typeface="Calibri"/>
                <a:sym typeface="Calibri"/>
              </a:rPr>
              <a:t>centroid · bandwidth · rolloff</a:t>
            </a:r>
            <a:endParaRPr b="0" i="0" sz="1250" u="none" cap="none" strike="noStrike">
              <a:solidFill>
                <a:schemeClr val="dk1"/>
              </a:solidFill>
              <a:latin typeface="Calibri"/>
              <a:ea typeface="Calibri"/>
              <a:cs typeface="Calibri"/>
              <a:sym typeface="Calibri"/>
            </a:endParaRPr>
          </a:p>
        </p:txBody>
      </p:sp>
      <p:sp>
        <p:nvSpPr>
          <p:cNvPr id="241" name="Google Shape;241;p8"/>
          <p:cNvSpPr/>
          <p:nvPr/>
        </p:nvSpPr>
        <p:spPr>
          <a:xfrm>
            <a:off x="1298448" y="3621024"/>
            <a:ext cx="4617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where the energy sits in the spectrum</a:t>
            </a:r>
            <a:endParaRPr b="0" i="0" sz="1050" u="none" cap="none" strike="noStrike">
              <a:solidFill>
                <a:schemeClr val="dk1"/>
              </a:solidFill>
              <a:latin typeface="Calibri"/>
              <a:ea typeface="Calibri"/>
              <a:cs typeface="Calibri"/>
              <a:sym typeface="Calibri"/>
            </a:endParaRPr>
          </a:p>
        </p:txBody>
      </p:sp>
      <p:sp>
        <p:nvSpPr>
          <p:cNvPr id="242" name="Google Shape;242;p8"/>
          <p:cNvSpPr/>
          <p:nvPr/>
        </p:nvSpPr>
        <p:spPr>
          <a:xfrm>
            <a:off x="594360" y="4078224"/>
            <a:ext cx="5486400" cy="731520"/>
          </a:xfrm>
          <a:prstGeom prst="roundRect">
            <a:avLst>
              <a:gd fmla="val 1125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777240" y="4251960"/>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777240" y="4251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45" name="Google Shape;245;p8"/>
          <p:cNvSpPr/>
          <p:nvPr/>
        </p:nvSpPr>
        <p:spPr>
          <a:xfrm>
            <a:off x="1298448" y="4169664"/>
            <a:ext cx="4617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50"/>
              <a:buFont typeface="Calibri"/>
              <a:buNone/>
            </a:pPr>
            <a:r>
              <a:rPr b="1" i="0" lang="en-US" sz="1250" u="none" cap="none" strike="noStrike">
                <a:solidFill>
                  <a:srgbClr val="18271E"/>
                </a:solidFill>
                <a:latin typeface="Calibri"/>
                <a:ea typeface="Calibri"/>
                <a:cs typeface="Calibri"/>
                <a:sym typeface="Calibri"/>
              </a:rPr>
              <a:t>zero-crossing rate · RMS energy</a:t>
            </a:r>
            <a:endParaRPr b="0" i="0" sz="1250" u="none" cap="none" strike="noStrike">
              <a:solidFill>
                <a:schemeClr val="dk1"/>
              </a:solidFill>
              <a:latin typeface="Calibri"/>
              <a:ea typeface="Calibri"/>
              <a:cs typeface="Calibri"/>
              <a:sym typeface="Calibri"/>
            </a:endParaRPr>
          </a:p>
        </p:txBody>
      </p:sp>
      <p:sp>
        <p:nvSpPr>
          <p:cNvPr id="246" name="Google Shape;246;p8"/>
          <p:cNvSpPr/>
          <p:nvPr/>
        </p:nvSpPr>
        <p:spPr>
          <a:xfrm>
            <a:off x="1298448" y="4462272"/>
            <a:ext cx="46177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noisiness and loudness</a:t>
            </a:r>
            <a:endParaRPr b="0" i="0" sz="1050" u="none" cap="none" strike="noStrike">
              <a:solidFill>
                <a:schemeClr val="dk1"/>
              </a:solidFill>
              <a:latin typeface="Calibri"/>
              <a:ea typeface="Calibri"/>
              <a:cs typeface="Calibri"/>
              <a:sym typeface="Calibri"/>
            </a:endParaRPr>
          </a:p>
        </p:txBody>
      </p:sp>
      <p:sp>
        <p:nvSpPr>
          <p:cNvPr id="247" name="Google Shape;247;p8"/>
          <p:cNvSpPr/>
          <p:nvPr/>
        </p:nvSpPr>
        <p:spPr>
          <a:xfrm>
            <a:off x="594360" y="4956048"/>
            <a:ext cx="5486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00"/>
              <a:buFont typeface="Calibri"/>
              <a:buNone/>
            </a:pPr>
            <a:r>
              <a:rPr b="0" i="1" lang="en-US" sz="1200" u="none" cap="none" strike="noStrike">
                <a:solidFill>
                  <a:srgbClr val="2C5F2D"/>
                </a:solidFill>
                <a:latin typeface="Calibri"/>
                <a:ea typeface="Calibri"/>
                <a:cs typeface="Calibri"/>
                <a:sym typeface="Calibri"/>
              </a:rPr>
              <a:t>Each series is reduced to (mean, std) over time  →  a fixed-size vector of 194 values.</a:t>
            </a:r>
            <a:endParaRPr b="0" i="0" sz="1200" u="none" cap="none" strike="noStrike">
              <a:solidFill>
                <a:schemeClr val="dk1"/>
              </a:solidFill>
              <a:latin typeface="Calibri"/>
              <a:ea typeface="Calibri"/>
              <a:cs typeface="Calibri"/>
              <a:sym typeface="Calibri"/>
            </a:endParaRPr>
          </a:p>
        </p:txBody>
      </p:sp>
      <p:sp>
        <p:nvSpPr>
          <p:cNvPr id="248" name="Google Shape;248;p8"/>
          <p:cNvSpPr/>
          <p:nvPr/>
        </p:nvSpPr>
        <p:spPr>
          <a:xfrm>
            <a:off x="6446520" y="1188720"/>
            <a:ext cx="5029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MODEL </a:t>
            </a:r>
            <a:r>
              <a:rPr b="1" lang="en-US" sz="1000">
                <a:solidFill>
                  <a:srgbClr val="6E7C72"/>
                </a:solidFill>
                <a:latin typeface="Calibri"/>
                <a:ea typeface="Calibri"/>
                <a:cs typeface="Calibri"/>
                <a:sym typeface="Calibri"/>
              </a:rPr>
              <a:t>:</a:t>
            </a:r>
            <a:r>
              <a:rPr b="1" i="0" lang="en-US" sz="1000" u="none" cap="none" strike="noStrike">
                <a:solidFill>
                  <a:srgbClr val="6E7C72"/>
                </a:solidFill>
                <a:latin typeface="Calibri"/>
                <a:ea typeface="Calibri"/>
                <a:cs typeface="Calibri"/>
                <a:sym typeface="Calibri"/>
              </a:rPr>
              <a:t> a small dense network</a:t>
            </a:r>
            <a:endParaRPr b="0" i="0" sz="1000" u="none" cap="none" strike="noStrike">
              <a:solidFill>
                <a:schemeClr val="dk1"/>
              </a:solidFill>
              <a:latin typeface="Calibri"/>
              <a:ea typeface="Calibri"/>
              <a:cs typeface="Calibri"/>
              <a:sym typeface="Calibri"/>
            </a:endParaRPr>
          </a:p>
        </p:txBody>
      </p:sp>
      <p:sp>
        <p:nvSpPr>
          <p:cNvPr id="249" name="Google Shape;249;p8"/>
          <p:cNvSpPr/>
          <p:nvPr/>
        </p:nvSpPr>
        <p:spPr>
          <a:xfrm>
            <a:off x="6446520" y="1554480"/>
            <a:ext cx="5074920" cy="457200"/>
          </a:xfrm>
          <a:prstGeom prst="roundRect">
            <a:avLst>
              <a:gd fmla="val 180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6446520" y="1554480"/>
            <a:ext cx="5074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Input (194)</a:t>
            </a:r>
            <a:endParaRPr b="0" i="0" sz="1200" u="none" cap="none" strike="noStrike">
              <a:solidFill>
                <a:schemeClr val="dk1"/>
              </a:solidFill>
              <a:latin typeface="Calibri"/>
              <a:ea typeface="Calibri"/>
              <a:cs typeface="Calibri"/>
              <a:sym typeface="Calibri"/>
            </a:endParaRPr>
          </a:p>
        </p:txBody>
      </p:sp>
      <p:sp>
        <p:nvSpPr>
          <p:cNvPr id="251" name="Google Shape;251;p8"/>
          <p:cNvSpPr/>
          <p:nvPr/>
        </p:nvSpPr>
        <p:spPr>
          <a:xfrm>
            <a:off x="6652260" y="2121408"/>
            <a:ext cx="4663440" cy="457200"/>
          </a:xfrm>
          <a:prstGeom prst="roundRect">
            <a:avLst>
              <a:gd fmla="val 180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6446520" y="2121408"/>
            <a:ext cx="5074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Normalization — adapted on train</a:t>
            </a:r>
            <a:endParaRPr b="0" i="0" sz="1200" u="none" cap="none" strike="noStrike">
              <a:solidFill>
                <a:schemeClr val="dk1"/>
              </a:solidFill>
              <a:latin typeface="Calibri"/>
              <a:ea typeface="Calibri"/>
              <a:cs typeface="Calibri"/>
              <a:sym typeface="Calibri"/>
            </a:endParaRPr>
          </a:p>
        </p:txBody>
      </p:sp>
      <p:sp>
        <p:nvSpPr>
          <p:cNvPr id="253" name="Google Shape;253;p8"/>
          <p:cNvSpPr/>
          <p:nvPr/>
        </p:nvSpPr>
        <p:spPr>
          <a:xfrm>
            <a:off x="6652260" y="2688336"/>
            <a:ext cx="4663440" cy="457200"/>
          </a:xfrm>
          <a:prstGeom prst="roundRect">
            <a:avLst>
              <a:gd fmla="val 180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6446520" y="2688336"/>
            <a:ext cx="5074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Dense 128 · ReLU  →  Dropout</a:t>
            </a:r>
            <a:endParaRPr b="0" i="0" sz="1200" u="none" cap="none" strike="noStrike">
              <a:solidFill>
                <a:schemeClr val="dk1"/>
              </a:solidFill>
              <a:latin typeface="Calibri"/>
              <a:ea typeface="Calibri"/>
              <a:cs typeface="Calibri"/>
              <a:sym typeface="Calibri"/>
            </a:endParaRPr>
          </a:p>
        </p:txBody>
      </p:sp>
      <p:sp>
        <p:nvSpPr>
          <p:cNvPr id="255" name="Google Shape;255;p8"/>
          <p:cNvSpPr/>
          <p:nvPr/>
        </p:nvSpPr>
        <p:spPr>
          <a:xfrm>
            <a:off x="6652260" y="3255264"/>
            <a:ext cx="4663440" cy="457200"/>
          </a:xfrm>
          <a:prstGeom prst="roundRect">
            <a:avLst>
              <a:gd fmla="val 180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6446520" y="3255264"/>
            <a:ext cx="5074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Dense 64 · ReLU  →  Dropout</a:t>
            </a:r>
            <a:endParaRPr b="0" i="0" sz="1200" u="none" cap="none" strike="noStrike">
              <a:solidFill>
                <a:schemeClr val="dk1"/>
              </a:solidFill>
              <a:latin typeface="Calibri"/>
              <a:ea typeface="Calibri"/>
              <a:cs typeface="Calibri"/>
              <a:sym typeface="Calibri"/>
            </a:endParaRPr>
          </a:p>
        </p:txBody>
      </p:sp>
      <p:sp>
        <p:nvSpPr>
          <p:cNvPr id="257" name="Google Shape;257;p8"/>
          <p:cNvSpPr/>
          <p:nvPr/>
        </p:nvSpPr>
        <p:spPr>
          <a:xfrm>
            <a:off x="6652260" y="3822192"/>
            <a:ext cx="4663440" cy="457200"/>
          </a:xfrm>
          <a:prstGeom prst="roundRect">
            <a:avLst>
              <a:gd fmla="val 180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6446520" y="3822192"/>
            <a:ext cx="5074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Dense 32 · ReLU</a:t>
            </a:r>
            <a:endParaRPr b="0" i="0" sz="1200" u="none" cap="none" strike="noStrike">
              <a:solidFill>
                <a:schemeClr val="dk1"/>
              </a:solidFill>
              <a:latin typeface="Calibri"/>
              <a:ea typeface="Calibri"/>
              <a:cs typeface="Calibri"/>
              <a:sym typeface="Calibri"/>
            </a:endParaRPr>
          </a:p>
        </p:txBody>
      </p:sp>
      <p:sp>
        <p:nvSpPr>
          <p:cNvPr id="259" name="Google Shape;259;p8"/>
          <p:cNvSpPr/>
          <p:nvPr/>
        </p:nvSpPr>
        <p:spPr>
          <a:xfrm>
            <a:off x="6446520" y="4389120"/>
            <a:ext cx="5074920" cy="457200"/>
          </a:xfrm>
          <a:prstGeom prst="roundRect">
            <a:avLst>
              <a:gd fmla="val 18000" name="adj"/>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6446520" y="4389120"/>
            <a:ext cx="5074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Dense 1 · sigmoid</a:t>
            </a:r>
            <a:endParaRPr b="0" i="0" sz="1200" u="none" cap="none" strike="noStrike">
              <a:solidFill>
                <a:schemeClr val="dk1"/>
              </a:solidFill>
              <a:latin typeface="Calibri"/>
              <a:ea typeface="Calibri"/>
              <a:cs typeface="Calibri"/>
              <a:sym typeface="Calibri"/>
            </a:endParaRPr>
          </a:p>
        </p:txBody>
      </p:sp>
      <p:sp>
        <p:nvSpPr>
          <p:cNvPr id="261" name="Google Shape;261;p8"/>
          <p:cNvSpPr/>
          <p:nvPr/>
        </p:nvSpPr>
        <p:spPr>
          <a:xfrm>
            <a:off x="6446520" y="5074920"/>
            <a:ext cx="16002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400"/>
              <a:buFont typeface="Cambria"/>
              <a:buNone/>
            </a:pPr>
            <a:r>
              <a:rPr b="1" i="0" lang="en-US" sz="1400" u="none" cap="none" strike="noStrike">
                <a:solidFill>
                  <a:srgbClr val="2C5F2D"/>
                </a:solidFill>
                <a:latin typeface="Cambria"/>
                <a:ea typeface="Cambria"/>
                <a:cs typeface="Cambria"/>
                <a:sym typeface="Cambria"/>
              </a:rPr>
              <a:t>≈ 35,300</a:t>
            </a:r>
            <a:endParaRPr b="0" i="0" sz="1400" u="none" cap="none" strike="noStrike">
              <a:solidFill>
                <a:schemeClr val="dk1"/>
              </a:solidFill>
              <a:latin typeface="Calibri"/>
              <a:ea typeface="Calibri"/>
              <a:cs typeface="Calibri"/>
              <a:sym typeface="Calibri"/>
            </a:endParaRPr>
          </a:p>
        </p:txBody>
      </p:sp>
      <p:sp>
        <p:nvSpPr>
          <p:cNvPr id="262" name="Google Shape;262;p8"/>
          <p:cNvSpPr/>
          <p:nvPr/>
        </p:nvSpPr>
        <p:spPr>
          <a:xfrm>
            <a:off x="6446520" y="5349240"/>
            <a:ext cx="16002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950"/>
              <a:buFont typeface="Calibri"/>
              <a:buNone/>
            </a:pPr>
            <a:r>
              <a:rPr b="0" i="0" lang="en-US" sz="950" u="none" cap="none" strike="noStrike">
                <a:solidFill>
                  <a:srgbClr val="6E7C72"/>
                </a:solidFill>
                <a:latin typeface="Calibri"/>
                <a:ea typeface="Calibri"/>
                <a:cs typeface="Calibri"/>
                <a:sym typeface="Calibri"/>
              </a:rPr>
              <a:t>parameters</a:t>
            </a:r>
            <a:endParaRPr b="0" i="0" sz="950" u="none" cap="none" strike="noStrike">
              <a:solidFill>
                <a:schemeClr val="dk1"/>
              </a:solidFill>
              <a:latin typeface="Calibri"/>
              <a:ea typeface="Calibri"/>
              <a:cs typeface="Calibri"/>
              <a:sym typeface="Calibri"/>
            </a:endParaRPr>
          </a:p>
        </p:txBody>
      </p:sp>
      <p:sp>
        <p:nvSpPr>
          <p:cNvPr id="263" name="Google Shape;263;p8"/>
          <p:cNvSpPr/>
          <p:nvPr/>
        </p:nvSpPr>
        <p:spPr>
          <a:xfrm>
            <a:off x="8183880" y="5074920"/>
            <a:ext cx="16002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400"/>
              <a:buFont typeface="Cambria"/>
              <a:buNone/>
            </a:pPr>
            <a:r>
              <a:rPr b="1" i="0" lang="en-US" sz="1400" u="none" cap="none" strike="noStrike">
                <a:solidFill>
                  <a:srgbClr val="2C5F2D"/>
                </a:solidFill>
                <a:latin typeface="Cambria"/>
                <a:ea typeface="Cambria"/>
                <a:cs typeface="Cambria"/>
                <a:sym typeface="Cambria"/>
              </a:rPr>
              <a:t>Adam</a:t>
            </a:r>
            <a:endParaRPr b="0" i="0" sz="1400" u="none" cap="none" strike="noStrike">
              <a:solidFill>
                <a:schemeClr val="dk1"/>
              </a:solidFill>
              <a:latin typeface="Calibri"/>
              <a:ea typeface="Calibri"/>
              <a:cs typeface="Calibri"/>
              <a:sym typeface="Calibri"/>
            </a:endParaRPr>
          </a:p>
        </p:txBody>
      </p:sp>
      <p:sp>
        <p:nvSpPr>
          <p:cNvPr id="264" name="Google Shape;264;p8"/>
          <p:cNvSpPr/>
          <p:nvPr/>
        </p:nvSpPr>
        <p:spPr>
          <a:xfrm>
            <a:off x="8183880" y="5349240"/>
            <a:ext cx="16002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950"/>
              <a:buFont typeface="Calibri"/>
              <a:buNone/>
            </a:pPr>
            <a:r>
              <a:rPr b="0" i="0" lang="en-US" sz="950" u="none" cap="none" strike="noStrike">
                <a:solidFill>
                  <a:srgbClr val="6E7C72"/>
                </a:solidFill>
                <a:latin typeface="Calibri"/>
                <a:ea typeface="Calibri"/>
                <a:cs typeface="Calibri"/>
                <a:sym typeface="Calibri"/>
              </a:rPr>
              <a:t>+ binary cross-entropy</a:t>
            </a:r>
            <a:endParaRPr b="0" i="0" sz="950" u="none" cap="none" strike="noStrike">
              <a:solidFill>
                <a:schemeClr val="dk1"/>
              </a:solidFill>
              <a:latin typeface="Calibri"/>
              <a:ea typeface="Calibri"/>
              <a:cs typeface="Calibri"/>
              <a:sym typeface="Calibri"/>
            </a:endParaRPr>
          </a:p>
        </p:txBody>
      </p:sp>
      <p:sp>
        <p:nvSpPr>
          <p:cNvPr id="265" name="Google Shape;265;p8"/>
          <p:cNvSpPr/>
          <p:nvPr/>
        </p:nvSpPr>
        <p:spPr>
          <a:xfrm>
            <a:off x="9921240" y="5074920"/>
            <a:ext cx="16002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400"/>
              <a:buFont typeface="Cambria"/>
              <a:buNone/>
            </a:pPr>
            <a:r>
              <a:rPr b="1" i="0" lang="en-US" sz="1400" u="none" cap="none" strike="noStrike">
                <a:solidFill>
                  <a:srgbClr val="2C5F2D"/>
                </a:solidFill>
                <a:latin typeface="Cambria"/>
                <a:ea typeface="Cambria"/>
                <a:cs typeface="Cambria"/>
                <a:sym typeface="Cambria"/>
              </a:rPr>
              <a:t>EarlyStopping</a:t>
            </a:r>
            <a:endParaRPr b="0" i="0" sz="1400" u="none" cap="none" strike="noStrike">
              <a:solidFill>
                <a:schemeClr val="dk1"/>
              </a:solidFill>
              <a:latin typeface="Calibri"/>
              <a:ea typeface="Calibri"/>
              <a:cs typeface="Calibri"/>
              <a:sym typeface="Calibri"/>
            </a:endParaRPr>
          </a:p>
        </p:txBody>
      </p:sp>
      <p:sp>
        <p:nvSpPr>
          <p:cNvPr id="266" name="Google Shape;266;p8"/>
          <p:cNvSpPr/>
          <p:nvPr/>
        </p:nvSpPr>
        <p:spPr>
          <a:xfrm>
            <a:off x="9921240" y="5349240"/>
            <a:ext cx="16002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950"/>
              <a:buFont typeface="Calibri"/>
              <a:buNone/>
            </a:pPr>
            <a:r>
              <a:rPr b="0" i="0" lang="en-US" sz="950" u="none" cap="none" strike="noStrike">
                <a:solidFill>
                  <a:srgbClr val="6E7C72"/>
                </a:solidFill>
                <a:latin typeface="Calibri"/>
                <a:ea typeface="Calibri"/>
                <a:cs typeface="Calibri"/>
                <a:sym typeface="Calibri"/>
              </a:rPr>
              <a:t>+ ReduceLROnPlateau</a:t>
            </a:r>
            <a:endParaRPr b="0" i="0" sz="950" u="none" cap="none" strike="noStrike">
              <a:solidFill>
                <a:schemeClr val="dk1"/>
              </a:solidFill>
              <a:latin typeface="Calibri"/>
              <a:ea typeface="Calibri"/>
              <a:cs typeface="Calibri"/>
              <a:sym typeface="Calibri"/>
            </a:endParaRPr>
          </a:p>
        </p:txBody>
      </p:sp>
      <p:sp>
        <p:nvSpPr>
          <p:cNvPr id="267" name="Google Shape;267;p8"/>
          <p:cNvSpPr/>
          <p:nvPr/>
        </p:nvSpPr>
        <p:spPr>
          <a:xfrm>
            <a:off x="594360" y="5806440"/>
            <a:ext cx="10927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200"/>
              <a:buFont typeface="Calibri"/>
              <a:buNone/>
            </a:pPr>
            <a:r>
              <a:rPr b="0" i="1" lang="en-US" sz="1200" u="none" cap="none" strike="noStrike">
                <a:solidFill>
                  <a:srgbClr val="6E7C72"/>
                </a:solidFill>
                <a:latin typeface="Calibri"/>
                <a:ea typeface="Calibri"/>
                <a:cs typeface="Calibri"/>
                <a:sym typeface="Calibri"/>
              </a:rPr>
              <a:t>Single source of truth: the FeatureConfig dataclass — 8 kHz, 2.0 s / 1.0 s, n_mfcc 20, n_mels 32, n_fft 1024, hop 256.</a:t>
            </a:r>
            <a:endParaRPr b="0" i="0" sz="1200" u="none" cap="none" strike="noStrike">
              <a:solidFill>
                <a:schemeClr val="dk1"/>
              </a:solidFill>
              <a:latin typeface="Calibri"/>
              <a:ea typeface="Calibri"/>
              <a:cs typeface="Calibri"/>
              <a:sym typeface="Calibri"/>
            </a:endParaRPr>
          </a:p>
        </p:txBody>
      </p:sp>
      <p:sp>
        <p:nvSpPr>
          <p:cNvPr id="268" name="Google Shape;268;p8"/>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6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sp>
        <p:nvSpPr>
          <p:cNvPr id="274" name="Google Shape;274;p9"/>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MODULE 1 — TRAINING/</a:t>
            </a:r>
            <a:endParaRPr b="0" i="0" sz="1100" u="none" cap="none" strike="noStrike">
              <a:solidFill>
                <a:schemeClr val="dk1"/>
              </a:solidFill>
              <a:latin typeface="Calibri"/>
              <a:ea typeface="Calibri"/>
              <a:cs typeface="Calibri"/>
              <a:sym typeface="Calibri"/>
            </a:endParaRPr>
          </a:p>
        </p:txBody>
      </p:sp>
      <p:sp>
        <p:nvSpPr>
          <p:cNvPr id="275" name="Google Shape;275;p9"/>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3200"/>
              <a:buFont typeface="Cambria"/>
              <a:buNone/>
            </a:pPr>
            <a:r>
              <a:rPr b="1" i="0" lang="en-US" sz="3200" u="none" cap="none" strike="noStrike">
                <a:solidFill>
                  <a:srgbClr val="18271E"/>
                </a:solidFill>
                <a:latin typeface="Cambria"/>
                <a:ea typeface="Cambria"/>
                <a:cs typeface="Cambria"/>
                <a:sym typeface="Cambria"/>
              </a:rPr>
              <a:t>Training results — report #06</a:t>
            </a:r>
            <a:endParaRPr b="0" i="0" sz="3200" u="none" cap="none" strike="noStrike">
              <a:solidFill>
                <a:schemeClr val="dk1"/>
              </a:solidFill>
              <a:latin typeface="Calibri"/>
              <a:ea typeface="Calibri"/>
              <a:cs typeface="Calibri"/>
              <a:sym typeface="Calibri"/>
            </a:endParaRPr>
          </a:p>
        </p:txBody>
      </p:sp>
      <p:pic>
        <p:nvPicPr>
          <p:cNvPr id="276" name="Google Shape;276;p9"/>
          <p:cNvPicPr preferRelativeResize="0"/>
          <p:nvPr/>
        </p:nvPicPr>
        <p:blipFill rotWithShape="1">
          <a:blip r:embed="rId3">
            <a:alphaModFix/>
          </a:blip>
          <a:srcRect b="0" l="0" r="0" t="0"/>
          <a:stretch/>
        </p:blipFill>
        <p:spPr>
          <a:xfrm>
            <a:off x="457200" y="1234440"/>
            <a:ext cx="6035040" cy="3246120"/>
          </a:xfrm>
          <a:prstGeom prst="rect">
            <a:avLst/>
          </a:prstGeom>
          <a:noFill/>
          <a:ln>
            <a:noFill/>
          </a:ln>
        </p:spPr>
      </p:pic>
      <p:sp>
        <p:nvSpPr>
          <p:cNvPr id="277" name="Google Shape;277;p9"/>
          <p:cNvSpPr/>
          <p:nvPr/>
        </p:nvSpPr>
        <p:spPr>
          <a:xfrm>
            <a:off x="6766560" y="1234440"/>
            <a:ext cx="47548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TEST SET — 1,186 unseen windows</a:t>
            </a:r>
            <a:endParaRPr b="0" i="0" sz="1000" u="none" cap="none" strike="noStrike">
              <a:solidFill>
                <a:schemeClr val="dk1"/>
              </a:solidFill>
              <a:latin typeface="Calibri"/>
              <a:ea typeface="Calibri"/>
              <a:cs typeface="Calibri"/>
              <a:sym typeface="Calibri"/>
            </a:endParaRPr>
          </a:p>
        </p:txBody>
      </p:sp>
      <p:sp>
        <p:nvSpPr>
          <p:cNvPr id="278" name="Google Shape;278;p9"/>
          <p:cNvSpPr/>
          <p:nvPr/>
        </p:nvSpPr>
        <p:spPr>
          <a:xfrm>
            <a:off x="6766560" y="1600200"/>
            <a:ext cx="2240280" cy="1051560"/>
          </a:xfrm>
          <a:prstGeom prst="roundRect">
            <a:avLst>
              <a:gd fmla="val 7826"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6766560" y="1728216"/>
            <a:ext cx="224028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2600"/>
              <a:buFont typeface="Cambria"/>
              <a:buNone/>
            </a:pPr>
            <a:r>
              <a:rPr b="1" i="0" lang="en-US" sz="2600" u="none" cap="none" strike="noStrike">
                <a:solidFill>
                  <a:srgbClr val="2C5F2D"/>
                </a:solidFill>
                <a:latin typeface="Cambria"/>
                <a:ea typeface="Cambria"/>
                <a:cs typeface="Cambria"/>
                <a:sym typeface="Cambria"/>
              </a:rPr>
              <a:t>97.9 %</a:t>
            </a:r>
            <a:endParaRPr b="0" i="0" sz="2600" u="none" cap="none" strike="noStrike">
              <a:solidFill>
                <a:schemeClr val="dk1"/>
              </a:solidFill>
              <a:latin typeface="Calibri"/>
              <a:ea typeface="Calibri"/>
              <a:cs typeface="Calibri"/>
              <a:sym typeface="Calibri"/>
            </a:endParaRPr>
          </a:p>
        </p:txBody>
      </p:sp>
      <p:sp>
        <p:nvSpPr>
          <p:cNvPr id="280" name="Google Shape;280;p9"/>
          <p:cNvSpPr/>
          <p:nvPr/>
        </p:nvSpPr>
        <p:spPr>
          <a:xfrm>
            <a:off x="6766560" y="2258568"/>
            <a:ext cx="224028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100"/>
              <a:buFont typeface="Calibri"/>
              <a:buNone/>
            </a:pPr>
            <a:r>
              <a:rPr b="0" i="0" lang="en-US" sz="1100" u="none" cap="none" strike="noStrike">
                <a:solidFill>
                  <a:srgbClr val="6E7C72"/>
                </a:solidFill>
                <a:latin typeface="Calibri"/>
                <a:ea typeface="Calibri"/>
                <a:cs typeface="Calibri"/>
                <a:sym typeface="Calibri"/>
              </a:rPr>
              <a:t>accuracy</a:t>
            </a:r>
            <a:endParaRPr b="0" i="0" sz="1100" u="none" cap="none" strike="noStrike">
              <a:solidFill>
                <a:schemeClr val="dk1"/>
              </a:solidFill>
              <a:latin typeface="Calibri"/>
              <a:ea typeface="Calibri"/>
              <a:cs typeface="Calibri"/>
              <a:sym typeface="Calibri"/>
            </a:endParaRPr>
          </a:p>
        </p:txBody>
      </p:sp>
      <p:sp>
        <p:nvSpPr>
          <p:cNvPr id="281" name="Google Shape;281;p9"/>
          <p:cNvSpPr/>
          <p:nvPr/>
        </p:nvSpPr>
        <p:spPr>
          <a:xfrm>
            <a:off x="9189720" y="1600200"/>
            <a:ext cx="2240280" cy="1051560"/>
          </a:xfrm>
          <a:prstGeom prst="roundRect">
            <a:avLst>
              <a:gd fmla="val 7826"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9"/>
          <p:cNvSpPr/>
          <p:nvPr/>
        </p:nvSpPr>
        <p:spPr>
          <a:xfrm>
            <a:off x="9189720" y="1728216"/>
            <a:ext cx="224028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2600"/>
              <a:buFont typeface="Cambria"/>
              <a:buNone/>
            </a:pPr>
            <a:r>
              <a:rPr b="1" i="0" lang="en-US" sz="2600" u="none" cap="none" strike="noStrike">
                <a:solidFill>
                  <a:srgbClr val="2C5F2D"/>
                </a:solidFill>
                <a:latin typeface="Cambria"/>
                <a:ea typeface="Cambria"/>
                <a:cs typeface="Cambria"/>
                <a:sym typeface="Cambria"/>
              </a:rPr>
              <a:t>96.1 %</a:t>
            </a:r>
            <a:endParaRPr b="0" i="0" sz="2600" u="none" cap="none" strike="noStrike">
              <a:solidFill>
                <a:schemeClr val="dk1"/>
              </a:solidFill>
              <a:latin typeface="Calibri"/>
              <a:ea typeface="Calibri"/>
              <a:cs typeface="Calibri"/>
              <a:sym typeface="Calibri"/>
            </a:endParaRPr>
          </a:p>
        </p:txBody>
      </p:sp>
      <p:sp>
        <p:nvSpPr>
          <p:cNvPr id="283" name="Google Shape;283;p9"/>
          <p:cNvSpPr/>
          <p:nvPr/>
        </p:nvSpPr>
        <p:spPr>
          <a:xfrm>
            <a:off x="9189720" y="2258568"/>
            <a:ext cx="224028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100"/>
              <a:buFont typeface="Calibri"/>
              <a:buNone/>
            </a:pPr>
            <a:r>
              <a:rPr b="0" i="0" lang="en-US" sz="1100" u="none" cap="none" strike="noStrike">
                <a:solidFill>
                  <a:srgbClr val="6E7C72"/>
                </a:solidFill>
                <a:latin typeface="Calibri"/>
                <a:ea typeface="Calibri"/>
                <a:cs typeface="Calibri"/>
                <a:sym typeface="Calibri"/>
              </a:rPr>
              <a:t>precision</a:t>
            </a:r>
            <a:endParaRPr b="0" i="0" sz="1100" u="none" cap="none" strike="noStrike">
              <a:solidFill>
                <a:schemeClr val="dk1"/>
              </a:solidFill>
              <a:latin typeface="Calibri"/>
              <a:ea typeface="Calibri"/>
              <a:cs typeface="Calibri"/>
              <a:sym typeface="Calibri"/>
            </a:endParaRPr>
          </a:p>
        </p:txBody>
      </p:sp>
      <p:sp>
        <p:nvSpPr>
          <p:cNvPr id="284" name="Google Shape;284;p9"/>
          <p:cNvSpPr/>
          <p:nvPr/>
        </p:nvSpPr>
        <p:spPr>
          <a:xfrm>
            <a:off x="6766560" y="2788920"/>
            <a:ext cx="2240280" cy="1051560"/>
          </a:xfrm>
          <a:prstGeom prst="roundRect">
            <a:avLst>
              <a:gd fmla="val 7826"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p:nvPr/>
        </p:nvSpPr>
        <p:spPr>
          <a:xfrm>
            <a:off x="6766560" y="2916936"/>
            <a:ext cx="224028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2600"/>
              <a:buFont typeface="Cambria"/>
              <a:buNone/>
            </a:pPr>
            <a:r>
              <a:rPr b="1" i="0" lang="en-US" sz="2600" u="none" cap="none" strike="noStrike">
                <a:solidFill>
                  <a:srgbClr val="2C5F2D"/>
                </a:solidFill>
                <a:latin typeface="Cambria"/>
                <a:ea typeface="Cambria"/>
                <a:cs typeface="Cambria"/>
                <a:sym typeface="Cambria"/>
              </a:rPr>
              <a:t>95.8 %</a:t>
            </a:r>
            <a:endParaRPr b="0" i="0" sz="2600" u="none" cap="none" strike="noStrike">
              <a:solidFill>
                <a:schemeClr val="dk1"/>
              </a:solidFill>
              <a:latin typeface="Calibri"/>
              <a:ea typeface="Calibri"/>
              <a:cs typeface="Calibri"/>
              <a:sym typeface="Calibri"/>
            </a:endParaRPr>
          </a:p>
        </p:txBody>
      </p:sp>
      <p:sp>
        <p:nvSpPr>
          <p:cNvPr id="286" name="Google Shape;286;p9"/>
          <p:cNvSpPr/>
          <p:nvPr/>
        </p:nvSpPr>
        <p:spPr>
          <a:xfrm>
            <a:off x="6766560" y="3447288"/>
            <a:ext cx="224028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100"/>
              <a:buFont typeface="Calibri"/>
              <a:buNone/>
            </a:pPr>
            <a:r>
              <a:rPr b="0" i="0" lang="en-US" sz="1100" u="none" cap="none" strike="noStrike">
                <a:solidFill>
                  <a:srgbClr val="6E7C72"/>
                </a:solidFill>
                <a:latin typeface="Calibri"/>
                <a:ea typeface="Calibri"/>
                <a:cs typeface="Calibri"/>
                <a:sym typeface="Calibri"/>
              </a:rPr>
              <a:t>recall</a:t>
            </a:r>
            <a:endParaRPr b="0" i="0" sz="1100" u="none" cap="none" strike="noStrike">
              <a:solidFill>
                <a:schemeClr val="dk1"/>
              </a:solidFill>
              <a:latin typeface="Calibri"/>
              <a:ea typeface="Calibri"/>
              <a:cs typeface="Calibri"/>
              <a:sym typeface="Calibri"/>
            </a:endParaRPr>
          </a:p>
        </p:txBody>
      </p:sp>
      <p:sp>
        <p:nvSpPr>
          <p:cNvPr id="287" name="Google Shape;287;p9"/>
          <p:cNvSpPr/>
          <p:nvPr/>
        </p:nvSpPr>
        <p:spPr>
          <a:xfrm>
            <a:off x="9189720" y="2788920"/>
            <a:ext cx="2240280" cy="1051560"/>
          </a:xfrm>
          <a:prstGeom prst="roundRect">
            <a:avLst>
              <a:gd fmla="val 7826"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
          <p:cNvSpPr/>
          <p:nvPr/>
        </p:nvSpPr>
        <p:spPr>
          <a:xfrm>
            <a:off x="9189720" y="2916936"/>
            <a:ext cx="224028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2600"/>
              <a:buFont typeface="Cambria"/>
              <a:buNone/>
            </a:pPr>
            <a:r>
              <a:rPr b="1" i="0" lang="en-US" sz="2600" u="none" cap="none" strike="noStrike">
                <a:solidFill>
                  <a:srgbClr val="2C5F2D"/>
                </a:solidFill>
                <a:latin typeface="Cambria"/>
                <a:ea typeface="Cambria"/>
                <a:cs typeface="Cambria"/>
                <a:sym typeface="Cambria"/>
              </a:rPr>
              <a:t>0.995</a:t>
            </a:r>
            <a:endParaRPr b="0" i="0" sz="2600" u="none" cap="none" strike="noStrike">
              <a:solidFill>
                <a:schemeClr val="dk1"/>
              </a:solidFill>
              <a:latin typeface="Calibri"/>
              <a:ea typeface="Calibri"/>
              <a:cs typeface="Calibri"/>
              <a:sym typeface="Calibri"/>
            </a:endParaRPr>
          </a:p>
        </p:txBody>
      </p:sp>
      <p:sp>
        <p:nvSpPr>
          <p:cNvPr id="289" name="Google Shape;289;p9"/>
          <p:cNvSpPr/>
          <p:nvPr/>
        </p:nvSpPr>
        <p:spPr>
          <a:xfrm>
            <a:off x="9189720" y="3447288"/>
            <a:ext cx="224028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100"/>
              <a:buFont typeface="Calibri"/>
              <a:buNone/>
            </a:pPr>
            <a:r>
              <a:rPr b="0" i="0" lang="en-US" sz="1100" u="none" cap="none" strike="noStrike">
                <a:solidFill>
                  <a:srgbClr val="6E7C72"/>
                </a:solidFill>
                <a:latin typeface="Calibri"/>
                <a:ea typeface="Calibri"/>
                <a:cs typeface="Calibri"/>
                <a:sym typeface="Calibri"/>
              </a:rPr>
              <a:t>ROC AUC</a:t>
            </a:r>
            <a:endParaRPr b="0" i="0" sz="1100" u="none" cap="none" strike="noStrike">
              <a:solidFill>
                <a:schemeClr val="dk1"/>
              </a:solidFill>
              <a:latin typeface="Calibri"/>
              <a:ea typeface="Calibri"/>
              <a:cs typeface="Calibri"/>
              <a:sym typeface="Calibri"/>
            </a:endParaRPr>
          </a:p>
        </p:txBody>
      </p:sp>
      <p:sp>
        <p:nvSpPr>
          <p:cNvPr id="290" name="Google Shape;290;p9"/>
          <p:cNvSpPr/>
          <p:nvPr/>
        </p:nvSpPr>
        <p:spPr>
          <a:xfrm>
            <a:off x="6766560" y="4023360"/>
            <a:ext cx="4754880" cy="1325880"/>
          </a:xfrm>
          <a:prstGeom prst="roundRect">
            <a:avLst>
              <a:gd fmla="val 6207"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9"/>
          <p:cNvSpPr/>
          <p:nvPr/>
        </p:nvSpPr>
        <p:spPr>
          <a:xfrm>
            <a:off x="6949440" y="4114800"/>
            <a:ext cx="43891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Confusion matrix @ threshold 0.5</a:t>
            </a:r>
            <a:endParaRPr b="0" i="0" sz="1200" u="none" cap="none" strike="noStrike">
              <a:solidFill>
                <a:schemeClr val="dk1"/>
              </a:solidFill>
              <a:latin typeface="Calibri"/>
              <a:ea typeface="Calibri"/>
              <a:cs typeface="Calibri"/>
              <a:sym typeface="Calibri"/>
            </a:endParaRPr>
          </a:p>
        </p:txBody>
      </p:sp>
      <p:sp>
        <p:nvSpPr>
          <p:cNvPr id="292" name="Google Shape;292;p9"/>
          <p:cNvSpPr/>
          <p:nvPr/>
        </p:nvSpPr>
        <p:spPr>
          <a:xfrm>
            <a:off x="6949440" y="4434840"/>
            <a:ext cx="100584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2000"/>
              <a:buFont typeface="Cambria"/>
              <a:buNone/>
            </a:pPr>
            <a:r>
              <a:rPr b="1" i="0" lang="en-US" sz="2000" u="none" cap="none" strike="noStrike">
                <a:solidFill>
                  <a:srgbClr val="2C5F2D"/>
                </a:solidFill>
                <a:latin typeface="Cambria"/>
                <a:ea typeface="Cambria"/>
                <a:cs typeface="Cambria"/>
                <a:sym typeface="Cambria"/>
              </a:rPr>
              <a:t>297</a:t>
            </a:r>
            <a:endParaRPr b="0" i="0" sz="2000" u="none" cap="none" strike="noStrike">
              <a:solidFill>
                <a:schemeClr val="dk1"/>
              </a:solidFill>
              <a:latin typeface="Calibri"/>
              <a:ea typeface="Calibri"/>
              <a:cs typeface="Calibri"/>
              <a:sym typeface="Calibri"/>
            </a:endParaRPr>
          </a:p>
        </p:txBody>
      </p:sp>
      <p:sp>
        <p:nvSpPr>
          <p:cNvPr id="293" name="Google Shape;293;p9"/>
          <p:cNvSpPr/>
          <p:nvPr/>
        </p:nvSpPr>
        <p:spPr>
          <a:xfrm>
            <a:off x="6949440" y="4846320"/>
            <a:ext cx="10058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TP</a:t>
            </a:r>
            <a:endParaRPr b="0" i="0" sz="1050" u="none" cap="none" strike="noStrike">
              <a:solidFill>
                <a:schemeClr val="dk1"/>
              </a:solidFill>
              <a:latin typeface="Calibri"/>
              <a:ea typeface="Calibri"/>
              <a:cs typeface="Calibri"/>
              <a:sym typeface="Calibri"/>
            </a:endParaRPr>
          </a:p>
        </p:txBody>
      </p:sp>
      <p:sp>
        <p:nvSpPr>
          <p:cNvPr id="294" name="Google Shape;294;p9"/>
          <p:cNvSpPr/>
          <p:nvPr/>
        </p:nvSpPr>
        <p:spPr>
          <a:xfrm>
            <a:off x="8092440" y="4434840"/>
            <a:ext cx="100584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2000"/>
              <a:buFont typeface="Cambria"/>
              <a:buNone/>
            </a:pPr>
            <a:r>
              <a:rPr b="1" i="0" lang="en-US" sz="2000" u="none" cap="none" strike="noStrike">
                <a:solidFill>
                  <a:srgbClr val="2C5F2D"/>
                </a:solidFill>
                <a:latin typeface="Cambria"/>
                <a:ea typeface="Cambria"/>
                <a:cs typeface="Cambria"/>
                <a:sym typeface="Cambria"/>
              </a:rPr>
              <a:t>864</a:t>
            </a:r>
            <a:endParaRPr b="0" i="0" sz="2000" u="none" cap="none" strike="noStrike">
              <a:solidFill>
                <a:schemeClr val="dk1"/>
              </a:solidFill>
              <a:latin typeface="Calibri"/>
              <a:ea typeface="Calibri"/>
              <a:cs typeface="Calibri"/>
              <a:sym typeface="Calibri"/>
            </a:endParaRPr>
          </a:p>
        </p:txBody>
      </p:sp>
      <p:sp>
        <p:nvSpPr>
          <p:cNvPr id="295" name="Google Shape;295;p9"/>
          <p:cNvSpPr/>
          <p:nvPr/>
        </p:nvSpPr>
        <p:spPr>
          <a:xfrm>
            <a:off x="8092440" y="4846320"/>
            <a:ext cx="10058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TN</a:t>
            </a:r>
            <a:endParaRPr b="0" i="0" sz="1050" u="none" cap="none" strike="noStrike">
              <a:solidFill>
                <a:schemeClr val="dk1"/>
              </a:solidFill>
              <a:latin typeface="Calibri"/>
              <a:ea typeface="Calibri"/>
              <a:cs typeface="Calibri"/>
              <a:sym typeface="Calibri"/>
            </a:endParaRPr>
          </a:p>
        </p:txBody>
      </p:sp>
      <p:sp>
        <p:nvSpPr>
          <p:cNvPr id="296" name="Google Shape;296;p9"/>
          <p:cNvSpPr/>
          <p:nvPr/>
        </p:nvSpPr>
        <p:spPr>
          <a:xfrm>
            <a:off x="9235440" y="4434840"/>
            <a:ext cx="100584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4442E"/>
              </a:buClr>
              <a:buSzPts val="2000"/>
              <a:buFont typeface="Cambria"/>
              <a:buNone/>
            </a:pPr>
            <a:r>
              <a:rPr b="1" i="0" lang="en-US" sz="2000" u="none" cap="none" strike="noStrike">
                <a:solidFill>
                  <a:srgbClr val="B4442E"/>
                </a:solidFill>
                <a:latin typeface="Cambria"/>
                <a:ea typeface="Cambria"/>
                <a:cs typeface="Cambria"/>
                <a:sym typeface="Cambria"/>
              </a:rPr>
              <a:t>12</a:t>
            </a:r>
            <a:endParaRPr b="0" i="0" sz="2000" u="none" cap="none" strike="noStrike">
              <a:solidFill>
                <a:schemeClr val="dk1"/>
              </a:solidFill>
              <a:latin typeface="Calibri"/>
              <a:ea typeface="Calibri"/>
              <a:cs typeface="Calibri"/>
              <a:sym typeface="Calibri"/>
            </a:endParaRPr>
          </a:p>
        </p:txBody>
      </p:sp>
      <p:sp>
        <p:nvSpPr>
          <p:cNvPr id="297" name="Google Shape;297;p9"/>
          <p:cNvSpPr/>
          <p:nvPr/>
        </p:nvSpPr>
        <p:spPr>
          <a:xfrm>
            <a:off x="9235440" y="4846320"/>
            <a:ext cx="10058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FP</a:t>
            </a:r>
            <a:endParaRPr b="0" i="0" sz="1050" u="none" cap="none" strike="noStrike">
              <a:solidFill>
                <a:schemeClr val="dk1"/>
              </a:solidFill>
              <a:latin typeface="Calibri"/>
              <a:ea typeface="Calibri"/>
              <a:cs typeface="Calibri"/>
              <a:sym typeface="Calibri"/>
            </a:endParaRPr>
          </a:p>
        </p:txBody>
      </p:sp>
      <p:sp>
        <p:nvSpPr>
          <p:cNvPr id="298" name="Google Shape;298;p9"/>
          <p:cNvSpPr/>
          <p:nvPr/>
        </p:nvSpPr>
        <p:spPr>
          <a:xfrm>
            <a:off x="10378440" y="4434840"/>
            <a:ext cx="100584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4442E"/>
              </a:buClr>
              <a:buSzPts val="2000"/>
              <a:buFont typeface="Cambria"/>
              <a:buNone/>
            </a:pPr>
            <a:r>
              <a:rPr b="1" i="0" lang="en-US" sz="2000" u="none" cap="none" strike="noStrike">
                <a:solidFill>
                  <a:srgbClr val="B4442E"/>
                </a:solidFill>
                <a:latin typeface="Cambria"/>
                <a:ea typeface="Cambria"/>
                <a:cs typeface="Cambria"/>
                <a:sym typeface="Cambria"/>
              </a:rPr>
              <a:t>13</a:t>
            </a:r>
            <a:endParaRPr b="0" i="0" sz="2000" u="none" cap="none" strike="noStrike">
              <a:solidFill>
                <a:schemeClr val="dk1"/>
              </a:solidFill>
              <a:latin typeface="Calibri"/>
              <a:ea typeface="Calibri"/>
              <a:cs typeface="Calibri"/>
              <a:sym typeface="Calibri"/>
            </a:endParaRPr>
          </a:p>
        </p:txBody>
      </p:sp>
      <p:sp>
        <p:nvSpPr>
          <p:cNvPr id="299" name="Google Shape;299;p9"/>
          <p:cNvSpPr/>
          <p:nvPr/>
        </p:nvSpPr>
        <p:spPr>
          <a:xfrm>
            <a:off x="10378440" y="4846320"/>
            <a:ext cx="10058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FN</a:t>
            </a:r>
            <a:endParaRPr b="0" i="0" sz="1050" u="none" cap="none" strike="noStrike">
              <a:solidFill>
                <a:schemeClr val="dk1"/>
              </a:solidFill>
              <a:latin typeface="Calibri"/>
              <a:ea typeface="Calibri"/>
              <a:cs typeface="Calibri"/>
              <a:sym typeface="Calibri"/>
            </a:endParaRPr>
          </a:p>
        </p:txBody>
      </p:sp>
      <p:sp>
        <p:nvSpPr>
          <p:cNvPr id="300" name="Google Shape;300;p9"/>
          <p:cNvSpPr/>
          <p:nvPr/>
        </p:nvSpPr>
        <p:spPr>
          <a:xfrm>
            <a:off x="594360" y="4754880"/>
            <a:ext cx="5760720" cy="1188720"/>
          </a:xfrm>
          <a:prstGeom prst="roundRect">
            <a:avLst>
              <a:gd fmla="val 6923"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
          <p:cNvSpPr/>
          <p:nvPr/>
        </p:nvSpPr>
        <p:spPr>
          <a:xfrm>
            <a:off x="777240" y="4846320"/>
            <a:ext cx="544068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00"/>
              <a:buFont typeface="Calibri"/>
              <a:buNone/>
            </a:pPr>
            <a:r>
              <a:rPr b="1" i="0" lang="en-US" sz="1200" u="none" cap="none" strike="noStrike">
                <a:solidFill>
                  <a:srgbClr val="2C5F2D"/>
                </a:solidFill>
                <a:latin typeface="Calibri"/>
                <a:ea typeface="Calibri"/>
                <a:cs typeface="Calibri"/>
                <a:sym typeface="Calibri"/>
              </a:rPr>
              <a:t>Validation:  98.3 % accuracy  ·  97.8 % precision  ·  95.9 % recall  ·  AUC 0.994</a:t>
            </a:r>
            <a:endParaRPr b="0" i="0" sz="1200" u="none" cap="none" strike="noStrike">
              <a:solidFill>
                <a:schemeClr val="dk1"/>
              </a:solidFill>
              <a:latin typeface="Calibri"/>
              <a:ea typeface="Calibri"/>
              <a:cs typeface="Calibri"/>
              <a:sym typeface="Calibri"/>
            </a:endParaRPr>
          </a:p>
        </p:txBody>
      </p:sp>
      <p:sp>
        <p:nvSpPr>
          <p:cNvPr id="302" name="Google Shape;302;p9"/>
          <p:cNvSpPr/>
          <p:nvPr/>
        </p:nvSpPr>
        <p:spPr>
          <a:xfrm>
            <a:off x="777240" y="5138928"/>
            <a:ext cx="544068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100"/>
              <a:buFont typeface="Calibri"/>
              <a:buNone/>
            </a:pPr>
            <a:r>
              <a:rPr b="0" i="0" lang="en-US" sz="1100" u="none" cap="none" strike="noStrike">
                <a:solidFill>
                  <a:srgbClr val="18271E"/>
                </a:solidFill>
                <a:latin typeface="Calibri"/>
                <a:ea typeface="Calibri"/>
                <a:cs typeface="Calibri"/>
                <a:sym typeface="Calibri"/>
              </a:rPr>
              <a:t>The train / validation gap stays small</a:t>
            </a:r>
            <a:r>
              <a:rPr lang="en-US" sz="1100">
                <a:solidFill>
                  <a:srgbClr val="18271E"/>
                </a:solidFill>
                <a:latin typeface="Calibri"/>
                <a:ea typeface="Calibri"/>
                <a:cs typeface="Calibri"/>
                <a:sym typeface="Calibri"/>
              </a:rPr>
              <a:t>,</a:t>
            </a:r>
            <a:r>
              <a:rPr b="0" i="0" lang="en-US" sz="1100" u="none" cap="none" strike="noStrike">
                <a:solidFill>
                  <a:srgbClr val="18271E"/>
                </a:solidFill>
                <a:latin typeface="Calibri"/>
                <a:ea typeface="Calibri"/>
                <a:cs typeface="Calibri"/>
                <a:sym typeface="Calibri"/>
              </a:rPr>
              <a:t> no visible overfitting on this dataset. These numbers describe the same kind of audio the model was trained on; they do not yet describe a real forest.</a:t>
            </a:r>
            <a:endParaRPr b="0" i="0" sz="1100" u="none" cap="none" strike="noStrike">
              <a:solidFill>
                <a:schemeClr val="dk1"/>
              </a:solidFill>
              <a:latin typeface="Calibri"/>
              <a:ea typeface="Calibri"/>
              <a:cs typeface="Calibri"/>
              <a:sym typeface="Calibri"/>
            </a:endParaRPr>
          </a:p>
        </p:txBody>
      </p:sp>
      <p:sp>
        <p:nvSpPr>
          <p:cNvPr id="303" name="Google Shape;303;p9"/>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7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 name="Shape 308"/>
        <p:cNvGrpSpPr/>
        <p:nvPr/>
      </p:nvGrpSpPr>
      <p:grpSpPr>
        <a:xfrm>
          <a:off x="0" y="0"/>
          <a:ext cx="0" cy="0"/>
          <a:chOff x="0" y="0"/>
          <a:chExt cx="0" cy="0"/>
        </a:xfrm>
      </p:grpSpPr>
      <p:sp>
        <p:nvSpPr>
          <p:cNvPr id="309" name="Google Shape;309;p10"/>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MODULE 1 — TRAINING/</a:t>
            </a:r>
            <a:endParaRPr b="0" i="0" sz="1100" u="none" cap="none" strike="noStrike">
              <a:solidFill>
                <a:schemeClr val="dk1"/>
              </a:solidFill>
              <a:latin typeface="Calibri"/>
              <a:ea typeface="Calibri"/>
              <a:cs typeface="Calibri"/>
              <a:sym typeface="Calibri"/>
            </a:endParaRPr>
          </a:p>
        </p:txBody>
      </p:sp>
      <p:sp>
        <p:nvSpPr>
          <p:cNvPr id="310" name="Google Shape;310;p10"/>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3200"/>
              <a:buFont typeface="Cambria"/>
              <a:buNone/>
            </a:pPr>
            <a:r>
              <a:rPr b="1" i="0" lang="en-US" sz="3200" u="none" cap="none" strike="noStrike">
                <a:solidFill>
                  <a:srgbClr val="18271E"/>
                </a:solidFill>
                <a:latin typeface="Cambria"/>
                <a:ea typeface="Cambria"/>
                <a:cs typeface="Cambria"/>
                <a:sym typeface="Cambria"/>
              </a:rPr>
              <a:t>The conversion is numerically lossless</a:t>
            </a:r>
            <a:endParaRPr b="0" i="0" sz="3200" u="none" cap="none" strike="noStrike">
              <a:solidFill>
                <a:schemeClr val="dk1"/>
              </a:solidFill>
              <a:latin typeface="Calibri"/>
              <a:ea typeface="Calibri"/>
              <a:cs typeface="Calibri"/>
              <a:sym typeface="Calibri"/>
            </a:endParaRPr>
          </a:p>
        </p:txBody>
      </p:sp>
      <p:sp>
        <p:nvSpPr>
          <p:cNvPr id="311" name="Google Shape;311;p10"/>
          <p:cNvSpPr/>
          <p:nvPr/>
        </p:nvSpPr>
        <p:spPr>
          <a:xfrm>
            <a:off x="594360" y="1143000"/>
            <a:ext cx="10927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300"/>
              <a:buFont typeface="Calibri"/>
              <a:buNone/>
            </a:pPr>
            <a:r>
              <a:rPr b="1" i="1" lang="en-US" sz="1500" u="none" cap="none" strike="noStrike">
                <a:solidFill>
                  <a:srgbClr val="18271E"/>
                </a:solidFill>
                <a:latin typeface="Calibri"/>
                <a:ea typeface="Calibri"/>
                <a:cs typeface="Calibri"/>
                <a:sym typeface="Calibri"/>
              </a:rPr>
              <a:t>validate_tflite.py</a:t>
            </a:r>
            <a:r>
              <a:rPr b="0" i="0" lang="en-US" sz="1300" u="none" cap="none" strike="noStrike">
                <a:solidFill>
                  <a:srgbClr val="18271E"/>
                </a:solidFill>
                <a:latin typeface="Calibri"/>
                <a:ea typeface="Calibri"/>
                <a:cs typeface="Calibri"/>
                <a:sym typeface="Calibri"/>
              </a:rPr>
              <a:t> runs both models on exactly the same validation and test splits, then compares them window by window.</a:t>
            </a:r>
            <a:endParaRPr b="0" i="0" sz="1300" u="none" cap="none" strike="noStrike">
              <a:solidFill>
                <a:schemeClr val="dk1"/>
              </a:solidFill>
              <a:latin typeface="Calibri"/>
              <a:ea typeface="Calibri"/>
              <a:cs typeface="Calibri"/>
              <a:sym typeface="Calibri"/>
            </a:endParaRPr>
          </a:p>
        </p:txBody>
      </p:sp>
      <p:sp>
        <p:nvSpPr>
          <p:cNvPr id="312" name="Google Shape;312;p10"/>
          <p:cNvSpPr/>
          <p:nvPr/>
        </p:nvSpPr>
        <p:spPr>
          <a:xfrm>
            <a:off x="594360" y="1600200"/>
            <a:ext cx="3383280" cy="1600200"/>
          </a:xfrm>
          <a:prstGeom prst="roundRect">
            <a:avLst>
              <a:gd fmla="val 5143"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p:nvPr/>
        </p:nvSpPr>
        <p:spPr>
          <a:xfrm>
            <a:off x="594360" y="1737360"/>
            <a:ext cx="338328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3000"/>
              <a:buFont typeface="Cambria"/>
              <a:buNone/>
            </a:pPr>
            <a:r>
              <a:rPr b="1" i="0" lang="en-US" sz="3000" u="none" cap="none" strike="noStrike">
                <a:solidFill>
                  <a:srgbClr val="2C5F2D"/>
                </a:solidFill>
                <a:latin typeface="Cambria"/>
                <a:ea typeface="Cambria"/>
                <a:cs typeface="Cambria"/>
                <a:sym typeface="Cambria"/>
              </a:rPr>
              <a:t>0</a:t>
            </a:r>
            <a:endParaRPr b="0" i="0" sz="3000" u="none" cap="none" strike="noStrike">
              <a:solidFill>
                <a:schemeClr val="dk1"/>
              </a:solidFill>
              <a:latin typeface="Calibri"/>
              <a:ea typeface="Calibri"/>
              <a:cs typeface="Calibri"/>
              <a:sym typeface="Calibri"/>
            </a:endParaRPr>
          </a:p>
        </p:txBody>
      </p:sp>
      <p:sp>
        <p:nvSpPr>
          <p:cNvPr id="314" name="Google Shape;314;p10"/>
          <p:cNvSpPr/>
          <p:nvPr/>
        </p:nvSpPr>
        <p:spPr>
          <a:xfrm>
            <a:off x="777240" y="2377440"/>
            <a:ext cx="301752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100"/>
              <a:buFont typeface="Calibri"/>
              <a:buNone/>
            </a:pPr>
            <a:r>
              <a:rPr b="0" i="0" lang="en-US" sz="1100" u="none" cap="none" strike="noStrike">
                <a:solidFill>
                  <a:srgbClr val="6E7C72"/>
                </a:solidFill>
                <a:latin typeface="Calibri"/>
                <a:ea typeface="Calibri"/>
                <a:cs typeface="Calibri"/>
                <a:sym typeface="Calibri"/>
              </a:rPr>
              <a:t>prediction mismatches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72"/>
              </a:buClr>
              <a:buSzPts val="1100"/>
              <a:buFont typeface="Calibri"/>
              <a:buNone/>
            </a:pPr>
            <a:r>
              <a:rPr b="0" i="0" lang="en-US" sz="1100" u="none" cap="none" strike="noStrike">
                <a:solidFill>
                  <a:srgbClr val="6E7C72"/>
                </a:solidFill>
                <a:latin typeface="Calibri"/>
                <a:ea typeface="Calibri"/>
                <a:cs typeface="Calibri"/>
                <a:sym typeface="Calibri"/>
              </a:rPr>
              <a:t>out of 2,383 windows</a:t>
            </a:r>
            <a:endParaRPr b="0" i="0" sz="1100" u="none" cap="none" strike="noStrike">
              <a:solidFill>
                <a:schemeClr val="dk1"/>
              </a:solidFill>
              <a:latin typeface="Calibri"/>
              <a:ea typeface="Calibri"/>
              <a:cs typeface="Calibri"/>
              <a:sym typeface="Calibri"/>
            </a:endParaRPr>
          </a:p>
        </p:txBody>
      </p:sp>
      <p:sp>
        <p:nvSpPr>
          <p:cNvPr id="315" name="Google Shape;315;p10"/>
          <p:cNvSpPr/>
          <p:nvPr/>
        </p:nvSpPr>
        <p:spPr>
          <a:xfrm>
            <a:off x="4251960" y="1600200"/>
            <a:ext cx="3383280" cy="1600200"/>
          </a:xfrm>
          <a:prstGeom prst="roundRect">
            <a:avLst>
              <a:gd fmla="val 5143"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0"/>
          <p:cNvSpPr/>
          <p:nvPr/>
        </p:nvSpPr>
        <p:spPr>
          <a:xfrm>
            <a:off x="4251960" y="1737360"/>
            <a:ext cx="338328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3000"/>
              <a:buFont typeface="Cambria"/>
              <a:buNone/>
            </a:pPr>
            <a:r>
              <a:rPr b="1" i="0" lang="en-US" sz="3000" u="none" cap="none" strike="noStrike">
                <a:solidFill>
                  <a:srgbClr val="2C5F2D"/>
                </a:solidFill>
                <a:latin typeface="Cambria"/>
                <a:ea typeface="Cambria"/>
                <a:cs typeface="Cambria"/>
                <a:sym typeface="Cambria"/>
              </a:rPr>
              <a:t>5 × 10⁻⁹</a:t>
            </a:r>
            <a:endParaRPr b="0" i="0" sz="3000" u="none" cap="none" strike="noStrike">
              <a:solidFill>
                <a:schemeClr val="dk1"/>
              </a:solidFill>
              <a:latin typeface="Calibri"/>
              <a:ea typeface="Calibri"/>
              <a:cs typeface="Calibri"/>
              <a:sym typeface="Calibri"/>
            </a:endParaRPr>
          </a:p>
        </p:txBody>
      </p:sp>
      <p:sp>
        <p:nvSpPr>
          <p:cNvPr id="317" name="Google Shape;317;p10"/>
          <p:cNvSpPr/>
          <p:nvPr/>
        </p:nvSpPr>
        <p:spPr>
          <a:xfrm>
            <a:off x="4434840" y="2377440"/>
            <a:ext cx="301752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100"/>
              <a:buFont typeface="Calibri"/>
              <a:buNone/>
            </a:pPr>
            <a:r>
              <a:rPr b="0" i="0" lang="en-US" sz="1100" u="none" cap="none" strike="noStrike">
                <a:solidFill>
                  <a:srgbClr val="6E7C72"/>
                </a:solidFill>
                <a:latin typeface="Calibri"/>
                <a:ea typeface="Calibri"/>
                <a:cs typeface="Calibri"/>
                <a:sym typeface="Calibri"/>
              </a:rPr>
              <a:t>mean absolute difference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72"/>
              </a:buClr>
              <a:buSzPts val="1100"/>
              <a:buFont typeface="Calibri"/>
              <a:buNone/>
            </a:pPr>
            <a:r>
              <a:rPr b="0" i="0" lang="en-US" sz="1100" u="none" cap="none" strike="noStrike">
                <a:solidFill>
                  <a:srgbClr val="6E7C72"/>
                </a:solidFill>
                <a:latin typeface="Calibri"/>
                <a:ea typeface="Calibri"/>
                <a:cs typeface="Calibri"/>
                <a:sym typeface="Calibri"/>
              </a:rPr>
              <a:t>on the output probability</a:t>
            </a:r>
            <a:endParaRPr b="0" i="0" sz="1100" u="none" cap="none" strike="noStrike">
              <a:solidFill>
                <a:schemeClr val="dk1"/>
              </a:solidFill>
              <a:latin typeface="Calibri"/>
              <a:ea typeface="Calibri"/>
              <a:cs typeface="Calibri"/>
              <a:sym typeface="Calibri"/>
            </a:endParaRPr>
          </a:p>
        </p:txBody>
      </p:sp>
      <p:sp>
        <p:nvSpPr>
          <p:cNvPr id="318" name="Google Shape;318;p10"/>
          <p:cNvSpPr/>
          <p:nvPr/>
        </p:nvSpPr>
        <p:spPr>
          <a:xfrm>
            <a:off x="7909560" y="1600200"/>
            <a:ext cx="3383280" cy="1600200"/>
          </a:xfrm>
          <a:prstGeom prst="roundRect">
            <a:avLst>
              <a:gd fmla="val 5143"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
          <p:cNvSpPr/>
          <p:nvPr/>
        </p:nvSpPr>
        <p:spPr>
          <a:xfrm>
            <a:off x="7909560" y="1737360"/>
            <a:ext cx="3383280" cy="5943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3000"/>
              <a:buFont typeface="Cambria"/>
              <a:buNone/>
            </a:pPr>
            <a:r>
              <a:rPr b="1" i="0" lang="en-US" sz="3000" u="none" cap="none" strike="noStrike">
                <a:solidFill>
                  <a:srgbClr val="2C5F2D"/>
                </a:solidFill>
                <a:latin typeface="Cambria"/>
                <a:ea typeface="Cambria"/>
                <a:cs typeface="Cambria"/>
                <a:sym typeface="Cambria"/>
              </a:rPr>
              <a:t>8 × 10⁻⁷</a:t>
            </a:r>
            <a:endParaRPr b="0" i="0" sz="3000" u="none" cap="none" strike="noStrike">
              <a:solidFill>
                <a:schemeClr val="dk1"/>
              </a:solidFill>
              <a:latin typeface="Calibri"/>
              <a:ea typeface="Calibri"/>
              <a:cs typeface="Calibri"/>
              <a:sym typeface="Calibri"/>
            </a:endParaRPr>
          </a:p>
        </p:txBody>
      </p:sp>
      <p:sp>
        <p:nvSpPr>
          <p:cNvPr id="320" name="Google Shape;320;p10"/>
          <p:cNvSpPr/>
          <p:nvPr/>
        </p:nvSpPr>
        <p:spPr>
          <a:xfrm>
            <a:off x="8092440" y="2377440"/>
            <a:ext cx="301752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100"/>
              <a:buFont typeface="Calibri"/>
              <a:buNone/>
            </a:pPr>
            <a:r>
              <a:rPr b="0" i="0" lang="en-US" sz="1100" u="none" cap="none" strike="noStrike">
                <a:solidFill>
                  <a:srgbClr val="6E7C72"/>
                </a:solidFill>
                <a:latin typeface="Calibri"/>
                <a:ea typeface="Calibri"/>
                <a:cs typeface="Calibri"/>
                <a:sym typeface="Calibri"/>
              </a:rPr>
              <a:t>worst-case difference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72"/>
              </a:buClr>
              <a:buSzPts val="1100"/>
              <a:buFont typeface="Calibri"/>
              <a:buNone/>
            </a:pPr>
            <a:r>
              <a:rPr b="0" i="0" lang="en-US" sz="1100" u="none" cap="none" strike="noStrike">
                <a:solidFill>
                  <a:srgbClr val="6E7C72"/>
                </a:solidFill>
                <a:latin typeface="Calibri"/>
                <a:ea typeface="Calibri"/>
                <a:cs typeface="Calibri"/>
                <a:sym typeface="Calibri"/>
              </a:rPr>
              <a:t>observed on any window</a:t>
            </a:r>
            <a:endParaRPr b="0" i="0" sz="1100" u="none" cap="none" strike="noStrike">
              <a:solidFill>
                <a:schemeClr val="dk1"/>
              </a:solidFill>
              <a:latin typeface="Calibri"/>
              <a:ea typeface="Calibri"/>
              <a:cs typeface="Calibri"/>
              <a:sym typeface="Calibri"/>
            </a:endParaRPr>
          </a:p>
        </p:txBody>
      </p:sp>
      <p:sp>
        <p:nvSpPr>
          <p:cNvPr id="321" name="Google Shape;321;p10"/>
          <p:cNvSpPr/>
          <p:nvPr/>
        </p:nvSpPr>
        <p:spPr>
          <a:xfrm>
            <a:off x="594360" y="3310128"/>
            <a:ext cx="10927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200"/>
              <a:buFont typeface="Calibri"/>
              <a:buNone/>
            </a:pPr>
            <a:r>
              <a:rPr b="0" i="1" lang="en-US" sz="1200" u="none" cap="none" strike="noStrike">
                <a:solidFill>
                  <a:srgbClr val="6E7C72"/>
                </a:solidFill>
                <a:latin typeface="Calibri"/>
                <a:ea typeface="Calibri"/>
                <a:cs typeface="Calibri"/>
                <a:sym typeface="Calibri"/>
              </a:rPr>
              <a:t>That is six orders of magnitude below anything that could change a decision at a 0.5 threshold </a:t>
            </a:r>
            <a:r>
              <a:rPr i="1" lang="en-US" sz="1200">
                <a:solidFill>
                  <a:srgbClr val="6E7C72"/>
                </a:solidFill>
                <a:latin typeface="Calibri"/>
                <a:ea typeface="Calibri"/>
                <a:cs typeface="Calibri"/>
                <a:sym typeface="Calibri"/>
              </a:rPr>
              <a:t>(</a:t>
            </a:r>
            <a:r>
              <a:rPr b="0" i="1" lang="en-US" sz="1200" u="none" cap="none" strike="noStrike">
                <a:solidFill>
                  <a:srgbClr val="6E7C72"/>
                </a:solidFill>
                <a:latin typeface="Calibri"/>
                <a:ea typeface="Calibri"/>
                <a:cs typeface="Calibri"/>
                <a:sym typeface="Calibri"/>
              </a:rPr>
              <a:t>pure float32 rounding).</a:t>
            </a:r>
            <a:endParaRPr b="0" i="0" sz="1200" u="none" cap="none" strike="noStrike">
              <a:solidFill>
                <a:schemeClr val="dk1"/>
              </a:solidFill>
              <a:latin typeface="Calibri"/>
              <a:ea typeface="Calibri"/>
              <a:cs typeface="Calibri"/>
              <a:sym typeface="Calibri"/>
            </a:endParaRPr>
          </a:p>
        </p:txBody>
      </p:sp>
      <p:sp>
        <p:nvSpPr>
          <p:cNvPr id="322" name="Google Shape;322;p10"/>
          <p:cNvSpPr/>
          <p:nvPr/>
        </p:nvSpPr>
        <p:spPr>
          <a:xfrm>
            <a:off x="594360" y="3794760"/>
            <a:ext cx="5349240" cy="2148840"/>
          </a:xfrm>
          <a:prstGeom prst="roundRect">
            <a:avLst>
              <a:gd fmla="val 3830" name="adj"/>
            </a:avLst>
          </a:prstGeom>
          <a:solidFill>
            <a:srgbClr val="F7E9E5"/>
          </a:solidFill>
          <a:ln cap="flat" cmpd="sng" w="12700">
            <a:solidFill>
              <a:srgbClr val="F7E9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0"/>
          <p:cNvSpPr/>
          <p:nvPr/>
        </p:nvSpPr>
        <p:spPr>
          <a:xfrm>
            <a:off x="868680" y="4023360"/>
            <a:ext cx="411480" cy="411480"/>
          </a:xfrm>
          <a:prstGeom prst="ellipse">
            <a:avLst/>
          </a:prstGeom>
          <a:solidFill>
            <a:srgbClr val="B4442E"/>
          </a:solidFill>
          <a:ln cap="flat" cmpd="sng" w="12700">
            <a:solidFill>
              <a:srgbClr val="B444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0"/>
          <p:cNvSpPr/>
          <p:nvPr/>
        </p:nvSpPr>
        <p:spPr>
          <a:xfrm>
            <a:off x="868680" y="40233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25" name="Google Shape;325;p10"/>
          <p:cNvSpPr/>
          <p:nvPr/>
        </p:nvSpPr>
        <p:spPr>
          <a:xfrm>
            <a:off x="1417320" y="4050792"/>
            <a:ext cx="42062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442E"/>
              </a:buClr>
              <a:buSzPts val="1400"/>
              <a:buFont typeface="Calibri"/>
              <a:buNone/>
            </a:pPr>
            <a:r>
              <a:rPr b="1" i="0" lang="en-US" sz="1400" u="none" cap="none" strike="noStrike">
                <a:solidFill>
                  <a:srgbClr val="B4442E"/>
                </a:solidFill>
                <a:latin typeface="Calibri"/>
                <a:ea typeface="Calibri"/>
                <a:cs typeface="Calibri"/>
                <a:sym typeface="Calibri"/>
              </a:rPr>
              <a:t>The negative result worth reporting</a:t>
            </a:r>
            <a:endParaRPr b="0" i="0" sz="1400" u="none" cap="none" strike="noStrike">
              <a:solidFill>
                <a:schemeClr val="dk1"/>
              </a:solidFill>
              <a:latin typeface="Calibri"/>
              <a:ea typeface="Calibri"/>
              <a:cs typeface="Calibri"/>
              <a:sym typeface="Calibri"/>
            </a:endParaRPr>
          </a:p>
        </p:txBody>
      </p:sp>
      <p:sp>
        <p:nvSpPr>
          <p:cNvPr id="326" name="Google Shape;326;p10"/>
          <p:cNvSpPr/>
          <p:nvPr/>
        </p:nvSpPr>
        <p:spPr>
          <a:xfrm>
            <a:off x="868680" y="4572000"/>
            <a:ext cx="480060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0" i="0" lang="en-US" sz="1200" u="none" cap="none" strike="noStrike">
                <a:solidFill>
                  <a:srgbClr val="18271E"/>
                </a:solidFill>
                <a:latin typeface="Calibri"/>
                <a:ea typeface="Calibri"/>
                <a:cs typeface="Calibri"/>
                <a:sym typeface="Calibri"/>
              </a:rPr>
              <a:t>Enabling Optimize.DEFAULT applies dynamic-range int8 quantization. It works perfectly with the desktop interpreter and produced </a:t>
            </a:r>
            <a:r>
              <a:rPr b="1" i="0" lang="en-US" sz="1200" u="none" cap="none" strike="noStrike">
                <a:solidFill>
                  <a:srgbClr val="18271E"/>
                </a:solidFill>
                <a:latin typeface="Calibri"/>
                <a:ea typeface="Calibri"/>
                <a:cs typeface="Calibri"/>
                <a:sym typeface="Calibri"/>
              </a:rPr>
              <a:t>NaN </a:t>
            </a:r>
            <a:r>
              <a:rPr b="0" i="0" lang="en-US" sz="1200" u="none" cap="none" strike="noStrike">
                <a:solidFill>
                  <a:srgbClr val="18271E"/>
                </a:solidFill>
                <a:latin typeface="Calibri"/>
                <a:ea typeface="Calibri"/>
                <a:cs typeface="Calibri"/>
                <a:sym typeface="Calibri"/>
              </a:rPr>
              <a:t>outputs on TFLite Micro, on the ESP32.</a:t>
            </a:r>
            <a:endParaRPr b="0" i="0" sz="1200" u="none" cap="none" strike="noStrike">
              <a:solidFill>
                <a:schemeClr val="dk1"/>
              </a:solidFill>
              <a:latin typeface="Calibri"/>
              <a:ea typeface="Calibri"/>
              <a:cs typeface="Calibri"/>
              <a:sym typeface="Calibri"/>
            </a:endParaRPr>
          </a:p>
        </p:txBody>
      </p:sp>
      <p:sp>
        <p:nvSpPr>
          <p:cNvPr id="327" name="Google Shape;327;p10"/>
          <p:cNvSpPr/>
          <p:nvPr/>
        </p:nvSpPr>
        <p:spPr>
          <a:xfrm>
            <a:off x="868680" y="5532120"/>
            <a:ext cx="4800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442E"/>
              </a:buClr>
              <a:buSzPts val="1200"/>
              <a:buFont typeface="Calibri"/>
              <a:buNone/>
            </a:pPr>
            <a:r>
              <a:rPr b="1" i="0" lang="en-US" sz="1200" u="none" cap="none" strike="noStrike">
                <a:solidFill>
                  <a:srgbClr val="B4442E"/>
                </a:solidFill>
                <a:latin typeface="Calibri"/>
                <a:ea typeface="Calibri"/>
                <a:cs typeface="Calibri"/>
                <a:sym typeface="Calibri"/>
              </a:rPr>
              <a:t>→ the exported model stays plain float32.</a:t>
            </a:r>
            <a:endParaRPr b="0" i="0" sz="1200" u="none" cap="none" strike="noStrike">
              <a:solidFill>
                <a:schemeClr val="dk1"/>
              </a:solidFill>
              <a:latin typeface="Calibri"/>
              <a:ea typeface="Calibri"/>
              <a:cs typeface="Calibri"/>
              <a:sym typeface="Calibri"/>
            </a:endParaRPr>
          </a:p>
        </p:txBody>
      </p:sp>
      <p:sp>
        <p:nvSpPr>
          <p:cNvPr id="328" name="Google Shape;328;p10"/>
          <p:cNvSpPr/>
          <p:nvPr/>
        </p:nvSpPr>
        <p:spPr>
          <a:xfrm>
            <a:off x="6172200" y="3794760"/>
            <a:ext cx="5349240" cy="2148840"/>
          </a:xfrm>
          <a:prstGeom prst="roundRect">
            <a:avLst>
              <a:gd fmla="val 383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0"/>
          <p:cNvSpPr/>
          <p:nvPr/>
        </p:nvSpPr>
        <p:spPr>
          <a:xfrm>
            <a:off x="6446520" y="4023360"/>
            <a:ext cx="411480" cy="411480"/>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0"/>
          <p:cNvSpPr/>
          <p:nvPr/>
        </p:nvSpPr>
        <p:spPr>
          <a:xfrm>
            <a:off x="6446520" y="40233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31" name="Google Shape;331;p10"/>
          <p:cNvSpPr/>
          <p:nvPr/>
        </p:nvSpPr>
        <p:spPr>
          <a:xfrm>
            <a:off x="6995160" y="4050792"/>
            <a:ext cx="42062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400"/>
              <a:buFont typeface="Calibri"/>
              <a:buNone/>
            </a:pPr>
            <a:r>
              <a:rPr b="1" i="0" lang="en-US" sz="1400" u="none" cap="none" strike="noStrike">
                <a:solidFill>
                  <a:srgbClr val="2C5F2D"/>
                </a:solidFill>
                <a:latin typeface="Calibri"/>
                <a:ea typeface="Calibri"/>
                <a:cs typeface="Calibri"/>
                <a:sym typeface="Calibri"/>
              </a:rPr>
              <a:t>Report caching</a:t>
            </a:r>
            <a:endParaRPr b="0" i="0" sz="1400" u="none" cap="none" strike="noStrike">
              <a:solidFill>
                <a:schemeClr val="dk1"/>
              </a:solidFill>
              <a:latin typeface="Calibri"/>
              <a:ea typeface="Calibri"/>
              <a:cs typeface="Calibri"/>
              <a:sym typeface="Calibri"/>
            </a:endParaRPr>
          </a:p>
        </p:txBody>
      </p:sp>
      <p:sp>
        <p:nvSpPr>
          <p:cNvPr id="332" name="Google Shape;332;p10"/>
          <p:cNvSpPr/>
          <p:nvPr/>
        </p:nvSpPr>
        <p:spPr>
          <a:xfrm>
            <a:off x="6446520" y="4572000"/>
            <a:ext cx="4800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0" i="0" lang="en-US" sz="1200" u="none" cap="none" strike="noStrike">
                <a:solidFill>
                  <a:srgbClr val="18271E"/>
                </a:solidFill>
                <a:latin typeface="Calibri"/>
                <a:ea typeface="Calibri"/>
                <a:cs typeface="Calibri"/>
                <a:sym typeface="Calibri"/>
              </a:rPr>
              <a:t>A validation report is only written for a new combination of (reference training report, threshold, SHA-256 of the .tflite file).</a:t>
            </a:r>
            <a:endParaRPr b="0" i="0" sz="1200" u="none" cap="none" strike="noStrike">
              <a:solidFill>
                <a:schemeClr val="dk1"/>
              </a:solidFill>
              <a:latin typeface="Calibri"/>
              <a:ea typeface="Calibri"/>
              <a:cs typeface="Calibri"/>
              <a:sym typeface="Calibri"/>
            </a:endParaRPr>
          </a:p>
        </p:txBody>
      </p:sp>
      <p:sp>
        <p:nvSpPr>
          <p:cNvPr id="333" name="Google Shape;333;p10"/>
          <p:cNvSpPr/>
          <p:nvPr/>
        </p:nvSpPr>
        <p:spPr>
          <a:xfrm>
            <a:off x="6446520" y="5257800"/>
            <a:ext cx="4800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00"/>
              <a:buFont typeface="Calibri"/>
              <a:buNone/>
            </a:pPr>
            <a:r>
              <a:rPr b="1" i="0" lang="en-US" sz="1200" u="none" cap="none" strike="noStrike">
                <a:solidFill>
                  <a:srgbClr val="2C5F2D"/>
                </a:solidFill>
                <a:latin typeface="Calibri"/>
                <a:ea typeface="Calibri"/>
                <a:cs typeface="Calibri"/>
                <a:sym typeface="Calibri"/>
              </a:rPr>
              <a:t>→ re-running validation on an unchanged model never produces a redundant, byte-identical report.</a:t>
            </a:r>
            <a:endParaRPr b="0" i="0" sz="1200" u="none" cap="none" strike="noStrike">
              <a:solidFill>
                <a:schemeClr val="dk1"/>
              </a:solidFill>
              <a:latin typeface="Calibri"/>
              <a:ea typeface="Calibri"/>
              <a:cs typeface="Calibri"/>
              <a:sym typeface="Calibri"/>
            </a:endParaRPr>
          </a:p>
        </p:txBody>
      </p:sp>
      <p:sp>
        <p:nvSpPr>
          <p:cNvPr id="334" name="Google Shape;334;p10"/>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8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9" name="Shape 339"/>
        <p:cNvGrpSpPr/>
        <p:nvPr/>
      </p:nvGrpSpPr>
      <p:grpSpPr>
        <a:xfrm>
          <a:off x="0" y="0"/>
          <a:ext cx="0" cy="0"/>
          <a:chOff x="0" y="0"/>
          <a:chExt cx="0" cy="0"/>
        </a:xfrm>
      </p:grpSpPr>
      <p:sp>
        <p:nvSpPr>
          <p:cNvPr id="340" name="Google Shape;340;p11"/>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MODULE 1 — TRAINING/</a:t>
            </a:r>
            <a:endParaRPr b="0" i="0" sz="1100" u="none" cap="none" strike="noStrike">
              <a:solidFill>
                <a:schemeClr val="dk1"/>
              </a:solidFill>
              <a:latin typeface="Calibri"/>
              <a:ea typeface="Calibri"/>
              <a:cs typeface="Calibri"/>
              <a:sym typeface="Calibri"/>
            </a:endParaRPr>
          </a:p>
        </p:txBody>
      </p:sp>
      <p:sp>
        <p:nvSpPr>
          <p:cNvPr id="341" name="Google Shape;341;p11"/>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3200"/>
              <a:buFont typeface="Cambria"/>
              <a:buNone/>
            </a:pPr>
            <a:r>
              <a:rPr b="1" i="0" lang="en-US" sz="3200" u="none" cap="none" strike="noStrike">
                <a:solidFill>
                  <a:srgbClr val="18271E"/>
                </a:solidFill>
                <a:latin typeface="Cambria"/>
                <a:ea typeface="Cambria"/>
                <a:cs typeface="Cambria"/>
                <a:sym typeface="Cambria"/>
              </a:rPr>
              <a:t>Choosing the threshold: which error do we prefer?</a:t>
            </a:r>
            <a:endParaRPr b="0" i="0" sz="3200" u="none" cap="none" strike="noStrike">
              <a:solidFill>
                <a:schemeClr val="dk1"/>
              </a:solidFill>
              <a:latin typeface="Calibri"/>
              <a:ea typeface="Calibri"/>
              <a:cs typeface="Calibri"/>
              <a:sym typeface="Calibri"/>
            </a:endParaRPr>
          </a:p>
        </p:txBody>
      </p:sp>
      <p:pic>
        <p:nvPicPr>
          <p:cNvPr id="342" name="Google Shape;342;p11"/>
          <p:cNvPicPr preferRelativeResize="0"/>
          <p:nvPr/>
        </p:nvPicPr>
        <p:blipFill rotWithShape="1">
          <a:blip r:embed="rId3">
            <a:alphaModFix/>
          </a:blip>
          <a:srcRect b="0" l="0" r="0" t="0"/>
          <a:stretch/>
        </p:blipFill>
        <p:spPr>
          <a:xfrm>
            <a:off x="457200" y="1188720"/>
            <a:ext cx="6400800" cy="3566160"/>
          </a:xfrm>
          <a:prstGeom prst="rect">
            <a:avLst/>
          </a:prstGeom>
          <a:noFill/>
          <a:ln>
            <a:noFill/>
          </a:ln>
        </p:spPr>
      </p:pic>
      <p:sp>
        <p:nvSpPr>
          <p:cNvPr id="343" name="Google Shape;343;p11"/>
          <p:cNvSpPr/>
          <p:nvPr/>
        </p:nvSpPr>
        <p:spPr>
          <a:xfrm>
            <a:off x="7086600" y="1234440"/>
            <a:ext cx="4434840" cy="1417320"/>
          </a:xfrm>
          <a:prstGeom prst="roundRect">
            <a:avLst>
              <a:gd fmla="val 5806"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1"/>
          <p:cNvSpPr/>
          <p:nvPr/>
        </p:nvSpPr>
        <p:spPr>
          <a:xfrm>
            <a:off x="7269480" y="1325880"/>
            <a:ext cx="40690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800"/>
              <a:buFont typeface="Cambria"/>
              <a:buNone/>
            </a:pPr>
            <a:r>
              <a:rPr b="1" i="0" lang="en-US" sz="1800" u="none" cap="none" strike="noStrike">
                <a:solidFill>
                  <a:srgbClr val="2C5F2D"/>
                </a:solidFill>
                <a:latin typeface="Cambria"/>
                <a:ea typeface="Cambria"/>
                <a:cs typeface="Cambria"/>
                <a:sym typeface="Cambria"/>
              </a:rPr>
              <a:t>0.30  →  0.60</a:t>
            </a:r>
            <a:endParaRPr b="0" i="0" sz="1800" u="none" cap="none" strike="noStrike">
              <a:solidFill>
                <a:schemeClr val="dk1"/>
              </a:solidFill>
              <a:latin typeface="Calibri"/>
              <a:ea typeface="Calibri"/>
              <a:cs typeface="Calibri"/>
              <a:sym typeface="Calibri"/>
            </a:endParaRPr>
          </a:p>
        </p:txBody>
      </p:sp>
      <p:sp>
        <p:nvSpPr>
          <p:cNvPr id="345" name="Google Shape;345;p11"/>
          <p:cNvSpPr/>
          <p:nvPr/>
        </p:nvSpPr>
        <p:spPr>
          <a:xfrm>
            <a:off x="7269480" y="1737360"/>
            <a:ext cx="406908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0" i="0" lang="en-US" sz="1200" u="none" cap="none" strike="noStrike">
                <a:solidFill>
                  <a:srgbClr val="18271E"/>
                </a:solidFill>
                <a:latin typeface="Calibri"/>
                <a:ea typeface="Calibri"/>
                <a:cs typeface="Calibri"/>
                <a:sym typeface="Calibri"/>
              </a:rPr>
              <a:t>False positives drop from 20 to 9 </a:t>
            </a:r>
            <a:r>
              <a:rPr lang="en-US" sz="1200">
                <a:solidFill>
                  <a:srgbClr val="18271E"/>
                </a:solidFill>
                <a:latin typeface="Calibri"/>
                <a:ea typeface="Calibri"/>
                <a:cs typeface="Calibri"/>
                <a:sym typeface="Calibri"/>
              </a:rPr>
              <a:t>:</a:t>
            </a:r>
            <a:r>
              <a:rPr b="0" i="0" lang="en-US" sz="1200" u="none" cap="none" strike="noStrike">
                <a:solidFill>
                  <a:srgbClr val="18271E"/>
                </a:solidFill>
                <a:latin typeface="Calibri"/>
                <a:ea typeface="Calibri"/>
                <a:cs typeface="Calibri"/>
                <a:sym typeface="Calibri"/>
              </a:rPr>
              <a:t> a 55 % reduction  for the cost of only two additional false negatives.</a:t>
            </a:r>
            <a:endParaRPr b="0" i="0" sz="1200" u="none" cap="none" strike="noStrike">
              <a:solidFill>
                <a:schemeClr val="dk1"/>
              </a:solidFill>
              <a:latin typeface="Calibri"/>
              <a:ea typeface="Calibri"/>
              <a:cs typeface="Calibri"/>
              <a:sym typeface="Calibri"/>
            </a:endParaRPr>
          </a:p>
        </p:txBody>
      </p:sp>
      <p:sp>
        <p:nvSpPr>
          <p:cNvPr id="346" name="Google Shape;346;p11"/>
          <p:cNvSpPr/>
          <p:nvPr/>
        </p:nvSpPr>
        <p:spPr>
          <a:xfrm>
            <a:off x="7086600" y="2788920"/>
            <a:ext cx="4434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THE TWO ERRORS DO NOT COST THE SAME</a:t>
            </a:r>
            <a:endParaRPr b="0" i="0" sz="1000" u="none" cap="none" strike="noStrike">
              <a:solidFill>
                <a:schemeClr val="dk1"/>
              </a:solidFill>
              <a:latin typeface="Calibri"/>
              <a:ea typeface="Calibri"/>
              <a:cs typeface="Calibri"/>
              <a:sym typeface="Calibri"/>
            </a:endParaRPr>
          </a:p>
        </p:txBody>
      </p:sp>
      <p:sp>
        <p:nvSpPr>
          <p:cNvPr id="347" name="Google Shape;347;p11"/>
          <p:cNvSpPr/>
          <p:nvPr/>
        </p:nvSpPr>
        <p:spPr>
          <a:xfrm>
            <a:off x="7086600" y="3154680"/>
            <a:ext cx="4434840" cy="1005840"/>
          </a:xfrm>
          <a:prstGeom prst="roundRect">
            <a:avLst>
              <a:gd fmla="val 8182"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
          <p:cNvSpPr/>
          <p:nvPr/>
        </p:nvSpPr>
        <p:spPr>
          <a:xfrm>
            <a:off x="7269480" y="3291840"/>
            <a:ext cx="365760" cy="365760"/>
          </a:xfrm>
          <a:prstGeom prst="ellipse">
            <a:avLst/>
          </a:prstGeom>
          <a:solidFill>
            <a:srgbClr val="97BC6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1"/>
          <p:cNvSpPr/>
          <p:nvPr/>
        </p:nvSpPr>
        <p:spPr>
          <a:xfrm>
            <a:off x="7269480" y="329184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50" name="Google Shape;350;p11"/>
          <p:cNvSpPr/>
          <p:nvPr/>
        </p:nvSpPr>
        <p:spPr>
          <a:xfrm>
            <a:off x="7772400" y="3291840"/>
            <a:ext cx="3566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7BC62"/>
              </a:buClr>
              <a:buSzPts val="1250"/>
              <a:buFont typeface="Calibri"/>
              <a:buNone/>
            </a:pPr>
            <a:r>
              <a:rPr b="1" i="0" lang="en-US" sz="1250" u="none" cap="none" strike="noStrike">
                <a:solidFill>
                  <a:srgbClr val="97BC62"/>
                </a:solidFill>
                <a:latin typeface="Calibri"/>
                <a:ea typeface="Calibri"/>
                <a:cs typeface="Calibri"/>
                <a:sym typeface="Calibri"/>
              </a:rPr>
              <a:t>False negative</a:t>
            </a:r>
            <a:endParaRPr b="0" i="0" sz="1250" u="none" cap="none" strike="noStrike">
              <a:solidFill>
                <a:schemeClr val="dk1"/>
              </a:solidFill>
              <a:latin typeface="Calibri"/>
              <a:ea typeface="Calibri"/>
              <a:cs typeface="Calibri"/>
              <a:sym typeface="Calibri"/>
            </a:endParaRPr>
          </a:p>
        </p:txBody>
      </p:sp>
      <p:sp>
        <p:nvSpPr>
          <p:cNvPr id="351" name="Google Shape;351;p11"/>
          <p:cNvSpPr/>
          <p:nvPr/>
        </p:nvSpPr>
        <p:spPr>
          <a:xfrm>
            <a:off x="7772400" y="3566160"/>
            <a:ext cx="36118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100"/>
              <a:buFont typeface="Calibri"/>
              <a:buNone/>
            </a:pPr>
            <a:r>
              <a:rPr b="0" i="0" lang="en-US" sz="1100" u="none" cap="none" strike="noStrike">
                <a:solidFill>
                  <a:srgbClr val="18271E"/>
                </a:solidFill>
                <a:latin typeface="Calibri"/>
                <a:ea typeface="Calibri"/>
                <a:cs typeface="Calibri"/>
                <a:sym typeface="Calibri"/>
              </a:rPr>
              <a:t>A chainsaw we did not hear. A tree is cut.</a:t>
            </a:r>
            <a:endParaRPr b="0" i="0" sz="1100" u="none" cap="none" strike="noStrike">
              <a:solidFill>
                <a:schemeClr val="dk1"/>
              </a:solidFill>
              <a:latin typeface="Calibri"/>
              <a:ea typeface="Calibri"/>
              <a:cs typeface="Calibri"/>
              <a:sym typeface="Calibri"/>
            </a:endParaRPr>
          </a:p>
        </p:txBody>
      </p:sp>
      <p:sp>
        <p:nvSpPr>
          <p:cNvPr id="352" name="Google Shape;352;p11"/>
          <p:cNvSpPr/>
          <p:nvPr/>
        </p:nvSpPr>
        <p:spPr>
          <a:xfrm>
            <a:off x="7086600" y="4297680"/>
            <a:ext cx="4434840" cy="1005840"/>
          </a:xfrm>
          <a:prstGeom prst="roundRect">
            <a:avLst>
              <a:gd fmla="val 8182"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1"/>
          <p:cNvSpPr/>
          <p:nvPr/>
        </p:nvSpPr>
        <p:spPr>
          <a:xfrm>
            <a:off x="7269480" y="4434840"/>
            <a:ext cx="365760" cy="365760"/>
          </a:xfrm>
          <a:prstGeom prst="ellipse">
            <a:avLst/>
          </a:prstGeom>
          <a:solidFill>
            <a:srgbClr val="B4442E"/>
          </a:solidFill>
          <a:ln cap="flat" cmpd="sng" w="12700">
            <a:solidFill>
              <a:srgbClr val="B444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1"/>
          <p:cNvSpPr/>
          <p:nvPr/>
        </p:nvSpPr>
        <p:spPr>
          <a:xfrm>
            <a:off x="7269480" y="443484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55" name="Google Shape;355;p11"/>
          <p:cNvSpPr/>
          <p:nvPr/>
        </p:nvSpPr>
        <p:spPr>
          <a:xfrm>
            <a:off x="7772400" y="4434840"/>
            <a:ext cx="3566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442E"/>
              </a:buClr>
              <a:buSzPts val="1250"/>
              <a:buFont typeface="Calibri"/>
              <a:buNone/>
            </a:pPr>
            <a:r>
              <a:rPr b="1" i="0" lang="en-US" sz="1250" u="none" cap="none" strike="noStrike">
                <a:solidFill>
                  <a:srgbClr val="B4442E"/>
                </a:solidFill>
                <a:latin typeface="Calibri"/>
                <a:ea typeface="Calibri"/>
                <a:cs typeface="Calibri"/>
                <a:sym typeface="Calibri"/>
              </a:rPr>
              <a:t>False positive</a:t>
            </a:r>
            <a:endParaRPr b="0" i="0" sz="1250" u="none" cap="none" strike="noStrike">
              <a:solidFill>
                <a:schemeClr val="dk1"/>
              </a:solidFill>
              <a:latin typeface="Calibri"/>
              <a:ea typeface="Calibri"/>
              <a:cs typeface="Calibri"/>
              <a:sym typeface="Calibri"/>
            </a:endParaRPr>
          </a:p>
        </p:txBody>
      </p:sp>
      <p:sp>
        <p:nvSpPr>
          <p:cNvPr id="356" name="Google Shape;356;p11"/>
          <p:cNvSpPr/>
          <p:nvPr/>
        </p:nvSpPr>
        <p:spPr>
          <a:xfrm>
            <a:off x="7772400" y="4709160"/>
            <a:ext cx="36118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100"/>
              <a:buFont typeface="Calibri"/>
              <a:buNone/>
            </a:pPr>
            <a:r>
              <a:rPr b="0" i="0" lang="en-US" sz="1100" u="none" cap="none" strike="noStrike">
                <a:solidFill>
                  <a:srgbClr val="18271E"/>
                </a:solidFill>
                <a:latin typeface="Calibri"/>
                <a:ea typeface="Calibri"/>
                <a:cs typeface="Calibri"/>
                <a:sym typeface="Calibri"/>
              </a:rPr>
              <a:t>A patrol sent into the jungle for nothing  and, worse, a device nobody trusts any more.</a:t>
            </a:r>
            <a:endParaRPr b="0" i="0" sz="1100" u="none" cap="none" strike="noStrike">
              <a:solidFill>
                <a:schemeClr val="dk1"/>
              </a:solidFill>
              <a:latin typeface="Calibri"/>
              <a:ea typeface="Calibri"/>
              <a:cs typeface="Calibri"/>
              <a:sym typeface="Calibri"/>
            </a:endParaRPr>
          </a:p>
        </p:txBody>
      </p:sp>
      <p:sp>
        <p:nvSpPr>
          <p:cNvPr id="357" name="Google Shape;357;p11"/>
          <p:cNvSpPr/>
          <p:nvPr/>
        </p:nvSpPr>
        <p:spPr>
          <a:xfrm>
            <a:off x="7086600" y="5440680"/>
            <a:ext cx="4434840" cy="685800"/>
          </a:xfrm>
          <a:prstGeom prst="roundRect">
            <a:avLst>
              <a:gd fmla="val 12000" name="adj"/>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p:nvPr/>
        </p:nvSpPr>
        <p:spPr>
          <a:xfrm>
            <a:off x="7269480" y="5440680"/>
            <a:ext cx="40690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In the field, alarm fatigue kills a system faster than a missed event → the firmware runs at 0.65</a:t>
            </a:r>
            <a:endParaRPr b="0" i="0" sz="1150" u="none" cap="none" strike="noStrike">
              <a:solidFill>
                <a:schemeClr val="dk1"/>
              </a:solidFill>
              <a:latin typeface="Calibri"/>
              <a:ea typeface="Calibri"/>
              <a:cs typeface="Calibri"/>
              <a:sym typeface="Calibri"/>
            </a:endParaRPr>
          </a:p>
        </p:txBody>
      </p:sp>
      <p:sp>
        <p:nvSpPr>
          <p:cNvPr id="359" name="Google Shape;359;p11"/>
          <p:cNvSpPr/>
          <p:nvPr/>
        </p:nvSpPr>
        <p:spPr>
          <a:xfrm>
            <a:off x="685800" y="4892040"/>
            <a:ext cx="60350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72"/>
              </a:buClr>
              <a:buSzPts val="1100"/>
              <a:buFont typeface="Courier New"/>
              <a:buNone/>
            </a:pPr>
            <a:r>
              <a:rPr b="1" i="0" lang="en-US" sz="1100" u="none" cap="none" strike="noStrike">
                <a:solidFill>
                  <a:srgbClr val="6E7C72"/>
                </a:solidFill>
                <a:latin typeface="Courier New"/>
                <a:ea typeface="Courier New"/>
                <a:cs typeface="Courier New"/>
                <a:sym typeface="Courier New"/>
              </a:rPr>
              <a:t>Thresholds     0.30      0.40      0.50      0.60</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7C72"/>
              </a:buClr>
              <a:buSzPts val="1100"/>
              <a:buFont typeface="Courier New"/>
              <a:buNone/>
            </a:pPr>
            <a:r>
              <a:rPr b="0" i="0" lang="en-US" sz="1100" u="none" cap="none" strike="noStrike">
                <a:solidFill>
                  <a:srgbClr val="6E7C72"/>
                </a:solidFill>
                <a:latin typeface="Courier New"/>
                <a:ea typeface="Courier New"/>
                <a:cs typeface="Courier New"/>
                <a:sym typeface="Courier New"/>
              </a:rPr>
              <a:t>Precision      93.7 %   94.6 %   96.1 %   97.1 %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7C72"/>
              </a:buClr>
              <a:buSzPts val="1100"/>
              <a:buFont typeface="Courier New"/>
              <a:buNone/>
            </a:pPr>
            <a:r>
              <a:rPr b="0" i="0" lang="en-US" sz="1100" u="none" cap="none" strike="noStrike">
                <a:solidFill>
                  <a:srgbClr val="6E7C72"/>
                </a:solidFill>
                <a:latin typeface="Courier New"/>
                <a:ea typeface="Courier New"/>
                <a:cs typeface="Courier New"/>
                <a:sym typeface="Courier New"/>
              </a:rPr>
              <a:t>Recall         96.1 %   95.8 %   95.8 %   95.5 %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7C72"/>
              </a:buClr>
              <a:buSzPts val="1100"/>
              <a:buFont typeface="Courier New"/>
              <a:buNone/>
            </a:pPr>
            <a:r>
              <a:rPr b="0" i="0" lang="en-US" sz="1100" u="none" cap="none" strike="noStrike">
                <a:solidFill>
                  <a:srgbClr val="6E7C72"/>
                </a:solidFill>
                <a:latin typeface="Courier New"/>
                <a:ea typeface="Courier New"/>
                <a:cs typeface="Courier New"/>
                <a:sym typeface="Courier New"/>
              </a:rPr>
              <a:t>F1 score       94.9 %   95.2 %   96.0 %   96.3 %</a:t>
            </a:r>
            <a:endParaRPr b="0" i="0" sz="1100" u="none" cap="none" strike="noStrike">
              <a:solidFill>
                <a:schemeClr val="dk1"/>
              </a:solidFill>
              <a:latin typeface="Calibri"/>
              <a:ea typeface="Calibri"/>
              <a:cs typeface="Calibri"/>
              <a:sym typeface="Calibri"/>
            </a:endParaRPr>
          </a:p>
        </p:txBody>
      </p:sp>
      <p:sp>
        <p:nvSpPr>
          <p:cNvPr id="360" name="Google Shape;360;p11"/>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9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417"/>
        </a:solidFill>
      </p:bgPr>
    </p:bg>
    <p:spTree>
      <p:nvGrpSpPr>
        <p:cNvPr id="365" name="Shape 365"/>
        <p:cNvGrpSpPr/>
        <p:nvPr/>
      </p:nvGrpSpPr>
      <p:grpSpPr>
        <a:xfrm>
          <a:off x="0" y="0"/>
          <a:ext cx="0" cy="0"/>
          <a:chOff x="0" y="0"/>
          <a:chExt cx="0" cy="0"/>
        </a:xfrm>
      </p:grpSpPr>
      <p:sp>
        <p:nvSpPr>
          <p:cNvPr id="366" name="Google Shape;366;p12"/>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alibri"/>
              <a:buNone/>
            </a:pPr>
            <a:r>
              <a:rPr b="1" i="0" lang="en-US" sz="1100" u="none" cap="none" strike="noStrike">
                <a:solidFill>
                  <a:srgbClr val="97BC62"/>
                </a:solidFill>
                <a:latin typeface="Calibri"/>
                <a:ea typeface="Calibri"/>
                <a:cs typeface="Calibri"/>
                <a:sym typeface="Calibri"/>
              </a:rPr>
              <a:t>THE BRIDGE BETWEEN THE TWO MODULES</a:t>
            </a:r>
            <a:endParaRPr b="0" i="0" sz="1100" u="none" cap="none" strike="noStrike">
              <a:solidFill>
                <a:schemeClr val="dk1"/>
              </a:solidFill>
              <a:latin typeface="Calibri"/>
              <a:ea typeface="Calibri"/>
              <a:cs typeface="Calibri"/>
              <a:sym typeface="Calibri"/>
            </a:endParaRPr>
          </a:p>
        </p:txBody>
      </p:sp>
      <p:sp>
        <p:nvSpPr>
          <p:cNvPr id="367" name="Google Shape;367;p12"/>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3200"/>
              <a:buFont typeface="Cambria"/>
              <a:buNone/>
            </a:pPr>
            <a:r>
              <a:rPr b="1" i="0" lang="en-US" sz="3200" u="none" cap="none" strike="noStrike">
                <a:solidFill>
                  <a:srgbClr val="F5F5F0"/>
                </a:solidFill>
                <a:latin typeface="Cambria"/>
                <a:ea typeface="Cambria"/>
                <a:cs typeface="Cambria"/>
                <a:sym typeface="Cambria"/>
              </a:rPr>
              <a:t>Python writes the C++</a:t>
            </a:r>
            <a:endParaRPr b="0" i="0" sz="3200" u="none" cap="none" strike="noStrike">
              <a:solidFill>
                <a:schemeClr val="dk1"/>
              </a:solidFill>
              <a:latin typeface="Calibri"/>
              <a:ea typeface="Calibri"/>
              <a:cs typeface="Calibri"/>
              <a:sym typeface="Calibri"/>
            </a:endParaRPr>
          </a:p>
        </p:txBody>
      </p:sp>
      <p:sp>
        <p:nvSpPr>
          <p:cNvPr id="368" name="Google Shape;368;p12"/>
          <p:cNvSpPr/>
          <p:nvPr/>
        </p:nvSpPr>
        <p:spPr>
          <a:xfrm>
            <a:off x="594360" y="1188720"/>
            <a:ext cx="10927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7BC62"/>
              </a:buClr>
              <a:buSzPts val="1350"/>
              <a:buFont typeface="Calibri"/>
              <a:buNone/>
            </a:pPr>
            <a:r>
              <a:rPr b="1" i="1" lang="en-US" sz="1550" u="none" cap="none" strike="noStrike">
                <a:solidFill>
                  <a:srgbClr val="97BC62"/>
                </a:solidFill>
                <a:latin typeface="Calibri"/>
                <a:ea typeface="Calibri"/>
                <a:cs typeface="Calibri"/>
                <a:sym typeface="Calibri"/>
              </a:rPr>
              <a:t>generate_firmware.py</a:t>
            </a:r>
            <a:r>
              <a:rPr b="0" i="0" lang="en-US" sz="1350" u="none" cap="none" strike="noStrike">
                <a:solidFill>
                  <a:srgbClr val="97BC62"/>
                </a:solidFill>
                <a:latin typeface="Calibri"/>
                <a:ea typeface="Calibri"/>
                <a:cs typeface="Calibri"/>
                <a:sym typeface="Calibri"/>
              </a:rPr>
              <a:t> takes the trained model and the feature configuration, and emits three C++ files.</a:t>
            </a:r>
            <a:endParaRPr b="0" i="0" sz="1350" u="none" cap="none" strike="noStrike">
              <a:solidFill>
                <a:schemeClr val="dk1"/>
              </a:solidFill>
              <a:latin typeface="Calibri"/>
              <a:ea typeface="Calibri"/>
              <a:cs typeface="Calibri"/>
              <a:sym typeface="Calibri"/>
            </a:endParaRPr>
          </a:p>
        </p:txBody>
      </p:sp>
      <p:sp>
        <p:nvSpPr>
          <p:cNvPr id="369" name="Google Shape;369;p12"/>
          <p:cNvSpPr/>
          <p:nvPr/>
        </p:nvSpPr>
        <p:spPr>
          <a:xfrm>
            <a:off x="594360" y="1691640"/>
            <a:ext cx="3383280" cy="2286000"/>
          </a:xfrm>
          <a:prstGeom prst="roundRect">
            <a:avLst>
              <a:gd fmla="val 3600" name="adj"/>
            </a:avLst>
          </a:prstGeom>
          <a:solidFill>
            <a:srgbClr val="163524"/>
          </a:solidFill>
          <a:ln cap="flat" cmpd="sng" w="12700">
            <a:solidFill>
              <a:srgbClr val="1635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2"/>
          <p:cNvSpPr/>
          <p:nvPr/>
        </p:nvSpPr>
        <p:spPr>
          <a:xfrm>
            <a:off x="822960" y="1901952"/>
            <a:ext cx="384048" cy="384048"/>
          </a:xfrm>
          <a:prstGeom prst="ellipse">
            <a:avLst/>
          </a:prstGeom>
          <a:solidFill>
            <a:srgbClr val="97BC6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2"/>
          <p:cNvSpPr/>
          <p:nvPr/>
        </p:nvSpPr>
        <p:spPr>
          <a:xfrm>
            <a:off x="822960" y="19019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2417"/>
              </a:buClr>
              <a:buSzPts val="1400"/>
              <a:buFont typeface="Calibri"/>
              <a:buNone/>
            </a:pPr>
            <a:r>
              <a:rPr b="1" i="0" lang="en-US" sz="1400" u="none" cap="none" strike="noStrike">
                <a:solidFill>
                  <a:srgbClr val="0E2417"/>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372" name="Google Shape;372;p12"/>
          <p:cNvSpPr/>
          <p:nvPr/>
        </p:nvSpPr>
        <p:spPr>
          <a:xfrm>
            <a:off x="1325880" y="1938528"/>
            <a:ext cx="2514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1" i="0" lang="en-US" sz="1100" u="none" cap="none" strike="noStrike">
                <a:solidFill>
                  <a:srgbClr val="97BC62"/>
                </a:solidFill>
                <a:latin typeface="Courier New"/>
                <a:ea typeface="Courier New"/>
                <a:cs typeface="Courier New"/>
                <a:sym typeface="Courier New"/>
              </a:rPr>
              <a:t>generate_feature_config.py</a:t>
            </a:r>
            <a:endParaRPr b="0" i="0" sz="1100" u="none" cap="none" strike="noStrike">
              <a:solidFill>
                <a:schemeClr val="dk1"/>
              </a:solidFill>
              <a:latin typeface="Calibri"/>
              <a:ea typeface="Calibri"/>
              <a:cs typeface="Calibri"/>
              <a:sym typeface="Calibri"/>
            </a:endParaRPr>
          </a:p>
        </p:txBody>
      </p:sp>
      <p:sp>
        <p:nvSpPr>
          <p:cNvPr id="373" name="Google Shape;373;p12"/>
          <p:cNvSpPr/>
          <p:nvPr/>
        </p:nvSpPr>
        <p:spPr>
          <a:xfrm>
            <a:off x="822960" y="2395728"/>
            <a:ext cx="29718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9A2B"/>
              </a:buClr>
              <a:buSzPts val="1150"/>
              <a:buFont typeface="Courier New"/>
              <a:buNone/>
            </a:pPr>
            <a:r>
              <a:rPr b="1" i="0" lang="en-US" sz="1150" u="none" cap="none" strike="noStrike">
                <a:solidFill>
                  <a:srgbClr val="E09A2B"/>
                </a:solidFill>
                <a:latin typeface="Courier New"/>
                <a:ea typeface="Courier New"/>
                <a:cs typeface="Courier New"/>
                <a:sym typeface="Courier New"/>
              </a:rPr>
              <a:t>include/app/config.h</a:t>
            </a:r>
            <a:endParaRPr b="0" i="0" sz="1150" u="none" cap="none" strike="noStrike">
              <a:solidFill>
                <a:schemeClr val="dk1"/>
              </a:solidFill>
              <a:latin typeface="Calibri"/>
              <a:ea typeface="Calibri"/>
              <a:cs typeface="Calibri"/>
              <a:sym typeface="Calibri"/>
            </a:endParaRPr>
          </a:p>
        </p:txBody>
      </p:sp>
      <p:sp>
        <p:nvSpPr>
          <p:cNvPr id="374" name="Google Shape;374;p12"/>
          <p:cNvSpPr/>
          <p:nvPr/>
        </p:nvSpPr>
        <p:spPr>
          <a:xfrm>
            <a:off x="822960" y="2724912"/>
            <a:ext cx="29718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5F0"/>
              </a:buClr>
              <a:buSzPts val="1150"/>
              <a:buFont typeface="Calibri"/>
              <a:buNone/>
            </a:pPr>
            <a:r>
              <a:rPr b="0" i="0" lang="en-US" sz="1150" u="none" cap="none" strike="noStrike">
                <a:solidFill>
                  <a:srgbClr val="F5F5F0"/>
                </a:solidFill>
                <a:latin typeface="Calibri"/>
                <a:ea typeface="Calibri"/>
                <a:cs typeface="Calibri"/>
                <a:sym typeface="Calibri"/>
              </a:rPr>
              <a:t>AUDIO_CONFIG </a:t>
            </a:r>
            <a:r>
              <a:rPr lang="en-US" sz="1150">
                <a:solidFill>
                  <a:srgbClr val="F5F5F0"/>
                </a:solidFill>
                <a:latin typeface="Calibri"/>
                <a:ea typeface="Calibri"/>
                <a:cs typeface="Calibri"/>
                <a:sym typeface="Calibri"/>
              </a:rPr>
              <a:t>:</a:t>
            </a:r>
            <a:r>
              <a:rPr b="0" i="0" lang="en-US" sz="1150" u="none" cap="none" strike="noStrike">
                <a:solidFill>
                  <a:srgbClr val="F5F5F0"/>
                </a:solidFill>
                <a:latin typeface="Calibri"/>
                <a:ea typeface="Calibri"/>
                <a:cs typeface="Calibri"/>
                <a:sym typeface="Calibri"/>
              </a:rPr>
              <a:t> sample rate, window &amp; hop, n_mfcc, n_mels, FFT and hop length.</a:t>
            </a:r>
            <a:endParaRPr b="0" i="0" sz="1150" u="none" cap="none" strike="noStrike">
              <a:solidFill>
                <a:schemeClr val="dk1"/>
              </a:solidFill>
              <a:latin typeface="Calibri"/>
              <a:ea typeface="Calibri"/>
              <a:cs typeface="Calibri"/>
              <a:sym typeface="Calibri"/>
            </a:endParaRPr>
          </a:p>
        </p:txBody>
      </p:sp>
      <p:sp>
        <p:nvSpPr>
          <p:cNvPr id="375" name="Google Shape;375;p12"/>
          <p:cNvSpPr/>
          <p:nvPr/>
        </p:nvSpPr>
        <p:spPr>
          <a:xfrm>
            <a:off x="4251960" y="1691640"/>
            <a:ext cx="3383280" cy="2286000"/>
          </a:xfrm>
          <a:prstGeom prst="roundRect">
            <a:avLst>
              <a:gd fmla="val 3600" name="adj"/>
            </a:avLst>
          </a:prstGeom>
          <a:solidFill>
            <a:srgbClr val="163524"/>
          </a:solidFill>
          <a:ln cap="flat" cmpd="sng" w="12700">
            <a:solidFill>
              <a:srgbClr val="1635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2"/>
          <p:cNvSpPr/>
          <p:nvPr/>
        </p:nvSpPr>
        <p:spPr>
          <a:xfrm>
            <a:off x="4480560" y="1901952"/>
            <a:ext cx="384048" cy="384048"/>
          </a:xfrm>
          <a:prstGeom prst="ellipse">
            <a:avLst/>
          </a:prstGeom>
          <a:solidFill>
            <a:srgbClr val="97BC6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2"/>
          <p:cNvSpPr/>
          <p:nvPr/>
        </p:nvSpPr>
        <p:spPr>
          <a:xfrm>
            <a:off x="4480560" y="19019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2417"/>
              </a:buClr>
              <a:buSzPts val="1400"/>
              <a:buFont typeface="Calibri"/>
              <a:buNone/>
            </a:pPr>
            <a:r>
              <a:rPr b="1" i="0" lang="en-US" sz="1400" u="none" cap="none" strike="noStrike">
                <a:solidFill>
                  <a:srgbClr val="0E2417"/>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378" name="Google Shape;378;p12"/>
          <p:cNvSpPr/>
          <p:nvPr/>
        </p:nvSpPr>
        <p:spPr>
          <a:xfrm>
            <a:off x="4983480" y="1938528"/>
            <a:ext cx="2514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1" i="0" lang="en-US" sz="1100" u="none" cap="none" strike="noStrike">
                <a:solidFill>
                  <a:srgbClr val="97BC62"/>
                </a:solidFill>
                <a:latin typeface="Courier New"/>
                <a:ea typeface="Courier New"/>
                <a:cs typeface="Courier New"/>
                <a:sym typeface="Courier New"/>
              </a:rPr>
              <a:t>generate_dsp_constants.py</a:t>
            </a:r>
            <a:endParaRPr b="0" i="0" sz="1100" u="none" cap="none" strike="noStrike">
              <a:solidFill>
                <a:schemeClr val="dk1"/>
              </a:solidFill>
              <a:latin typeface="Calibri"/>
              <a:ea typeface="Calibri"/>
              <a:cs typeface="Calibri"/>
              <a:sym typeface="Calibri"/>
            </a:endParaRPr>
          </a:p>
        </p:txBody>
      </p:sp>
      <p:sp>
        <p:nvSpPr>
          <p:cNvPr id="379" name="Google Shape;379;p12"/>
          <p:cNvSpPr/>
          <p:nvPr/>
        </p:nvSpPr>
        <p:spPr>
          <a:xfrm>
            <a:off x="4480560" y="2395728"/>
            <a:ext cx="29718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9A2B"/>
              </a:buClr>
              <a:buSzPts val="1150"/>
              <a:buFont typeface="Courier New"/>
              <a:buNone/>
            </a:pPr>
            <a:r>
              <a:rPr b="1" i="0" lang="en-US" sz="1150" u="none" cap="none" strike="noStrike">
                <a:solidFill>
                  <a:srgbClr val="E09A2B"/>
                </a:solidFill>
                <a:latin typeface="Courier New"/>
                <a:ea typeface="Courier New"/>
                <a:cs typeface="Courier New"/>
                <a:sym typeface="Courier New"/>
              </a:rPr>
              <a:t>src/app/dsp_constants.cpp</a:t>
            </a:r>
            <a:endParaRPr b="0" i="0" sz="1150" u="none" cap="none" strike="noStrike">
              <a:solidFill>
                <a:schemeClr val="dk1"/>
              </a:solidFill>
              <a:latin typeface="Calibri"/>
              <a:ea typeface="Calibri"/>
              <a:cs typeface="Calibri"/>
              <a:sym typeface="Calibri"/>
            </a:endParaRPr>
          </a:p>
        </p:txBody>
      </p:sp>
      <p:sp>
        <p:nvSpPr>
          <p:cNvPr id="380" name="Google Shape;380;p12"/>
          <p:cNvSpPr/>
          <p:nvPr/>
        </p:nvSpPr>
        <p:spPr>
          <a:xfrm>
            <a:off x="4480560" y="2724912"/>
            <a:ext cx="29718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5F0"/>
              </a:buClr>
              <a:buSzPts val="1150"/>
              <a:buFont typeface="Calibri"/>
              <a:buNone/>
            </a:pPr>
            <a:r>
              <a:rPr b="0" i="0" lang="en-US" sz="1150" u="none" cap="none" strike="noStrike">
                <a:solidFill>
                  <a:srgbClr val="F5F5F0"/>
                </a:solidFill>
                <a:latin typeface="Calibri"/>
                <a:ea typeface="Calibri"/>
                <a:cs typeface="Calibri"/>
                <a:sym typeface="Calibri"/>
              </a:rPr>
              <a:t>The mel filterbank and DCT matrices, precomputed as flat float arrays </a:t>
            </a:r>
            <a:r>
              <a:rPr lang="en-US" sz="1150">
                <a:solidFill>
                  <a:srgbClr val="F5F5F0"/>
                </a:solidFill>
                <a:latin typeface="Calibri"/>
                <a:ea typeface="Calibri"/>
                <a:cs typeface="Calibri"/>
                <a:sym typeface="Calibri"/>
              </a:rPr>
              <a:t>:</a:t>
            </a:r>
            <a:r>
              <a:rPr b="0" i="0" lang="en-US" sz="1150" u="none" cap="none" strike="noStrike">
                <a:solidFill>
                  <a:srgbClr val="F5F5F0"/>
                </a:solidFill>
                <a:latin typeface="Calibri"/>
                <a:ea typeface="Calibri"/>
                <a:cs typeface="Calibri"/>
                <a:sym typeface="Calibri"/>
              </a:rPr>
              <a:t> the same ones librosa builds internally.</a:t>
            </a:r>
            <a:endParaRPr b="0" i="0" sz="1150" u="none" cap="none" strike="noStrike">
              <a:solidFill>
                <a:schemeClr val="dk1"/>
              </a:solidFill>
              <a:latin typeface="Calibri"/>
              <a:ea typeface="Calibri"/>
              <a:cs typeface="Calibri"/>
              <a:sym typeface="Calibri"/>
            </a:endParaRPr>
          </a:p>
        </p:txBody>
      </p:sp>
      <p:sp>
        <p:nvSpPr>
          <p:cNvPr id="381" name="Google Shape;381;p12"/>
          <p:cNvSpPr/>
          <p:nvPr/>
        </p:nvSpPr>
        <p:spPr>
          <a:xfrm>
            <a:off x="7909560" y="1691640"/>
            <a:ext cx="3383280" cy="2286000"/>
          </a:xfrm>
          <a:prstGeom prst="roundRect">
            <a:avLst>
              <a:gd fmla="val 3600" name="adj"/>
            </a:avLst>
          </a:prstGeom>
          <a:solidFill>
            <a:srgbClr val="163524"/>
          </a:solidFill>
          <a:ln cap="flat" cmpd="sng" w="12700">
            <a:solidFill>
              <a:srgbClr val="1635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2"/>
          <p:cNvSpPr/>
          <p:nvPr/>
        </p:nvSpPr>
        <p:spPr>
          <a:xfrm>
            <a:off x="8138160" y="1901952"/>
            <a:ext cx="384048" cy="384048"/>
          </a:xfrm>
          <a:prstGeom prst="ellipse">
            <a:avLst/>
          </a:prstGeom>
          <a:solidFill>
            <a:srgbClr val="97BC6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2"/>
          <p:cNvSpPr/>
          <p:nvPr/>
        </p:nvSpPr>
        <p:spPr>
          <a:xfrm>
            <a:off x="8138160" y="19019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2417"/>
              </a:buClr>
              <a:buSzPts val="1400"/>
              <a:buFont typeface="Calibri"/>
              <a:buNone/>
            </a:pPr>
            <a:r>
              <a:rPr b="1" i="0" lang="en-US" sz="1400" u="none" cap="none" strike="noStrike">
                <a:solidFill>
                  <a:srgbClr val="0E2417"/>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384" name="Google Shape;384;p12"/>
          <p:cNvSpPr/>
          <p:nvPr/>
        </p:nvSpPr>
        <p:spPr>
          <a:xfrm>
            <a:off x="8641080" y="1938528"/>
            <a:ext cx="2514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7BC62"/>
              </a:buClr>
              <a:buSzPts val="1100"/>
              <a:buFont typeface="Courier New"/>
              <a:buNone/>
            </a:pPr>
            <a:r>
              <a:rPr b="1" i="0" lang="en-US" sz="1100" u="none" cap="none" strike="noStrike">
                <a:solidFill>
                  <a:srgbClr val="97BC62"/>
                </a:solidFill>
                <a:latin typeface="Courier New"/>
                <a:ea typeface="Courier New"/>
                <a:cs typeface="Courier New"/>
                <a:sym typeface="Courier New"/>
              </a:rPr>
              <a:t>generate_inference.py</a:t>
            </a:r>
            <a:endParaRPr b="0" i="0" sz="1100" u="none" cap="none" strike="noStrike">
              <a:solidFill>
                <a:schemeClr val="dk1"/>
              </a:solidFill>
              <a:latin typeface="Calibri"/>
              <a:ea typeface="Calibri"/>
              <a:cs typeface="Calibri"/>
              <a:sym typeface="Calibri"/>
            </a:endParaRPr>
          </a:p>
        </p:txBody>
      </p:sp>
      <p:sp>
        <p:nvSpPr>
          <p:cNvPr id="385" name="Google Shape;385;p12"/>
          <p:cNvSpPr/>
          <p:nvPr/>
        </p:nvSpPr>
        <p:spPr>
          <a:xfrm>
            <a:off x="8138160" y="2395728"/>
            <a:ext cx="29718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9A2B"/>
              </a:buClr>
              <a:buSzPts val="1150"/>
              <a:buFont typeface="Courier New"/>
              <a:buNone/>
            </a:pPr>
            <a:r>
              <a:rPr b="1" i="0" lang="en-US" sz="1150" u="none" cap="none" strike="noStrike">
                <a:solidFill>
                  <a:srgbClr val="E09A2B"/>
                </a:solidFill>
                <a:latin typeface="Courier New"/>
                <a:ea typeface="Courier New"/>
                <a:cs typeface="Courier New"/>
                <a:sym typeface="Courier New"/>
              </a:rPr>
              <a:t>src/model/inference.cpp</a:t>
            </a:r>
            <a:endParaRPr b="0" i="0" sz="1150" u="none" cap="none" strike="noStrike">
              <a:solidFill>
                <a:schemeClr val="dk1"/>
              </a:solidFill>
              <a:latin typeface="Calibri"/>
              <a:ea typeface="Calibri"/>
              <a:cs typeface="Calibri"/>
              <a:sym typeface="Calibri"/>
            </a:endParaRPr>
          </a:p>
        </p:txBody>
      </p:sp>
      <p:sp>
        <p:nvSpPr>
          <p:cNvPr id="386" name="Google Shape;386;p12"/>
          <p:cNvSpPr/>
          <p:nvPr/>
        </p:nvSpPr>
        <p:spPr>
          <a:xfrm>
            <a:off x="8138160" y="2724912"/>
            <a:ext cx="29718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5F0"/>
              </a:buClr>
              <a:buSzPts val="1150"/>
              <a:buFont typeface="Calibri"/>
              <a:buNone/>
            </a:pPr>
            <a:r>
              <a:rPr b="0" i="0" lang="en-US" sz="1150" u="none" cap="none" strike="noStrike">
                <a:solidFill>
                  <a:srgbClr val="F5F5F0"/>
                </a:solidFill>
                <a:latin typeface="Calibri"/>
                <a:ea typeface="Calibri"/>
                <a:cs typeface="Calibri"/>
                <a:sym typeface="Calibri"/>
              </a:rPr>
              <a:t>The .tflite bytes as const uint8_t </a:t>
            </a:r>
            <a:r>
              <a:rPr b="1" i="1" lang="en-US" sz="1250" u="none" cap="none" strike="noStrike">
                <a:solidFill>
                  <a:srgbClr val="F5F5F0"/>
                </a:solidFill>
                <a:latin typeface="Calibri"/>
                <a:ea typeface="Calibri"/>
                <a:cs typeface="Calibri"/>
                <a:sym typeface="Calibri"/>
              </a:rPr>
              <a:t>g_model_data[]</a:t>
            </a:r>
            <a:r>
              <a:rPr b="0" i="0" lang="en-US" sz="1150" u="none" cap="none" strike="noStrike">
                <a:solidFill>
                  <a:srgbClr val="F5F5F0"/>
                </a:solidFill>
                <a:latin typeface="Calibri"/>
                <a:ea typeface="Calibri"/>
                <a:cs typeface="Calibri"/>
                <a:sym typeface="Calibri"/>
              </a:rPr>
              <a:t>, with a SHA-256 and size comment for traceability.</a:t>
            </a:r>
            <a:endParaRPr b="0" i="0" sz="1150" u="none" cap="none" strike="noStrike">
              <a:solidFill>
                <a:schemeClr val="dk1"/>
              </a:solidFill>
              <a:latin typeface="Calibri"/>
              <a:ea typeface="Calibri"/>
              <a:cs typeface="Calibri"/>
              <a:sym typeface="Calibri"/>
            </a:endParaRPr>
          </a:p>
        </p:txBody>
      </p:sp>
      <p:sp>
        <p:nvSpPr>
          <p:cNvPr id="387" name="Google Shape;387;p12"/>
          <p:cNvSpPr/>
          <p:nvPr/>
        </p:nvSpPr>
        <p:spPr>
          <a:xfrm>
            <a:off x="594360" y="4206240"/>
            <a:ext cx="10927080" cy="1051560"/>
          </a:xfrm>
          <a:prstGeom prst="roundRect">
            <a:avLst>
              <a:gd fmla="val 7826" name="adj"/>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2"/>
          <p:cNvSpPr/>
          <p:nvPr/>
        </p:nvSpPr>
        <p:spPr>
          <a:xfrm>
            <a:off x="914400" y="4315968"/>
            <a:ext cx="103327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This is the contract between the two modules.</a:t>
            </a:r>
            <a:endParaRPr b="0" i="0" sz="1500" u="none" cap="none" strike="noStrike">
              <a:solidFill>
                <a:schemeClr val="dk1"/>
              </a:solidFill>
              <a:latin typeface="Calibri"/>
              <a:ea typeface="Calibri"/>
              <a:cs typeface="Calibri"/>
              <a:sym typeface="Calibri"/>
            </a:endParaRPr>
          </a:p>
        </p:txBody>
      </p:sp>
      <p:sp>
        <p:nvSpPr>
          <p:cNvPr id="389" name="Google Shape;389;p12"/>
          <p:cNvSpPr/>
          <p:nvPr/>
        </p:nvSpPr>
        <p:spPr>
          <a:xfrm>
            <a:off x="914400" y="4645152"/>
            <a:ext cx="103327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5F0"/>
              </a:buClr>
              <a:buSzPts val="1200"/>
              <a:buFont typeface="Calibri"/>
              <a:buNone/>
            </a:pPr>
            <a:r>
              <a:rPr b="0" i="0" lang="en-US" sz="1200" u="none" cap="none" strike="noStrike">
                <a:solidFill>
                  <a:srgbClr val="F5F5F0"/>
                </a:solidFill>
                <a:latin typeface="Calibri"/>
                <a:ea typeface="Calibri"/>
                <a:cs typeface="Calibri"/>
                <a:sym typeface="Calibri"/>
              </a:rPr>
              <a:t>The Python extractor and the C++ extractor cannot drift apart, because both are derived from the same </a:t>
            </a:r>
            <a:r>
              <a:rPr b="1" i="0" lang="en-US" sz="1200" u="none" cap="none" strike="noStrike">
                <a:solidFill>
                  <a:srgbClr val="F5F5F0"/>
                </a:solidFill>
                <a:latin typeface="Calibri"/>
                <a:ea typeface="Calibri"/>
                <a:cs typeface="Calibri"/>
                <a:sym typeface="Calibri"/>
              </a:rPr>
              <a:t>FeatureConfig </a:t>
            </a:r>
            <a:r>
              <a:rPr b="0" i="0" lang="en-US" sz="1200" u="none" cap="none" strike="noStrike">
                <a:solidFill>
                  <a:srgbClr val="F5F5F0"/>
                </a:solidFill>
                <a:latin typeface="Calibri"/>
                <a:ea typeface="Calibri"/>
                <a:cs typeface="Calibri"/>
                <a:sym typeface="Calibri"/>
              </a:rPr>
              <a:t>object. And the firmware needs no Python, no TensorFlow and no filesystem — everything is compiled in.</a:t>
            </a:r>
            <a:endParaRPr b="0" i="0" sz="1200" u="none" cap="none" strike="noStrike">
              <a:solidFill>
                <a:schemeClr val="dk1"/>
              </a:solidFill>
              <a:latin typeface="Calibri"/>
              <a:ea typeface="Calibri"/>
              <a:cs typeface="Calibri"/>
              <a:sym typeface="Calibri"/>
            </a:endParaRPr>
          </a:p>
        </p:txBody>
      </p:sp>
      <p:sp>
        <p:nvSpPr>
          <p:cNvPr id="390" name="Google Shape;390;p12"/>
          <p:cNvSpPr/>
          <p:nvPr/>
        </p:nvSpPr>
        <p:spPr>
          <a:xfrm>
            <a:off x="594360" y="5486400"/>
            <a:ext cx="1092708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9A2B"/>
              </a:buClr>
              <a:buSzPts val="1200"/>
              <a:buFont typeface="Calibri"/>
              <a:buNone/>
            </a:pPr>
            <a:r>
              <a:rPr b="0" i="0" lang="en-US" sz="1200" u="none" cap="none" strike="noStrike">
                <a:solidFill>
                  <a:srgbClr val="E09A2B"/>
                </a:solidFill>
                <a:latin typeface="Calibri"/>
                <a:ea typeface="Calibri"/>
                <a:cs typeface="Calibri"/>
                <a:sym typeface="Calibri"/>
              </a:rPr>
              <a:t>⛔  These three files are generated, never hand-edited </a:t>
            </a:r>
            <a:r>
              <a:rPr lang="en-US" sz="1200">
                <a:solidFill>
                  <a:srgbClr val="E09A2B"/>
                </a:solidFill>
                <a:latin typeface="Calibri"/>
                <a:ea typeface="Calibri"/>
                <a:cs typeface="Calibri"/>
                <a:sym typeface="Calibri"/>
              </a:rPr>
              <a:t>and</a:t>
            </a:r>
            <a:r>
              <a:rPr b="0" i="0" lang="en-US" sz="1200" u="none" cap="none" strike="noStrike">
                <a:solidFill>
                  <a:srgbClr val="E09A2B"/>
                </a:solidFill>
                <a:latin typeface="Calibri"/>
                <a:ea typeface="Calibri"/>
                <a:cs typeface="Calibri"/>
                <a:sym typeface="Calibri"/>
              </a:rPr>
              <a:t> any manual change is silently overwritten. Everything that must survive a regeneration (pins, detection thresholds, watchdog timeout) lives in the hand-maintained board_config.h.</a:t>
            </a:r>
            <a:endParaRPr b="0" i="0" sz="1200" u="none" cap="none" strike="noStrike">
              <a:solidFill>
                <a:schemeClr val="dk1"/>
              </a:solidFill>
              <a:latin typeface="Calibri"/>
              <a:ea typeface="Calibri"/>
              <a:cs typeface="Calibri"/>
              <a:sym typeface="Calibri"/>
            </a:endParaRPr>
          </a:p>
        </p:txBody>
      </p:sp>
      <p:sp>
        <p:nvSpPr>
          <p:cNvPr id="391" name="Google Shape;391;p12"/>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7BC62"/>
              </a:buClr>
              <a:buSzPts val="1000"/>
              <a:buFont typeface="Calibri"/>
              <a:buNone/>
            </a:pPr>
            <a:r>
              <a:rPr b="0" i="0" lang="en-US" sz="1000" u="none" cap="none" strike="noStrike">
                <a:solidFill>
                  <a:srgbClr val="97BC62"/>
                </a:solidFill>
                <a:latin typeface="Calibri"/>
                <a:ea typeface="Calibri"/>
                <a:cs typeface="Calibri"/>
                <a:sym typeface="Calibri"/>
              </a:rPr>
              <a:t>10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6" name="Shape 396"/>
        <p:cNvGrpSpPr/>
        <p:nvPr/>
      </p:nvGrpSpPr>
      <p:grpSpPr>
        <a:xfrm>
          <a:off x="0" y="0"/>
          <a:ext cx="0" cy="0"/>
          <a:chOff x="0" y="0"/>
          <a:chExt cx="0" cy="0"/>
        </a:xfrm>
      </p:grpSpPr>
      <p:sp>
        <p:nvSpPr>
          <p:cNvPr id="397" name="Google Shape;397;p13"/>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MODULE 2 — FIRMWARE/</a:t>
            </a:r>
            <a:endParaRPr b="0" i="0" sz="1100" u="none" cap="none" strike="noStrike">
              <a:solidFill>
                <a:schemeClr val="dk1"/>
              </a:solidFill>
              <a:latin typeface="Calibri"/>
              <a:ea typeface="Calibri"/>
              <a:cs typeface="Calibri"/>
              <a:sym typeface="Calibri"/>
            </a:endParaRPr>
          </a:p>
        </p:txBody>
      </p:sp>
      <p:sp>
        <p:nvSpPr>
          <p:cNvPr id="398" name="Google Shape;398;p13"/>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3200"/>
              <a:buFont typeface="Cambria"/>
              <a:buNone/>
            </a:pPr>
            <a:r>
              <a:rPr b="1" i="0" lang="en-US" sz="3200" u="none" cap="none" strike="noStrike">
                <a:solidFill>
                  <a:srgbClr val="18271E"/>
                </a:solidFill>
                <a:latin typeface="Cambria"/>
                <a:ea typeface="Cambria"/>
                <a:cs typeface="Cambria"/>
                <a:sym typeface="Cambria"/>
              </a:rPr>
              <a:t>A layered C++ application on the ESP32</a:t>
            </a:r>
            <a:endParaRPr b="0" i="0" sz="3200" u="none" cap="none" strike="noStrike">
              <a:solidFill>
                <a:schemeClr val="dk1"/>
              </a:solidFill>
              <a:latin typeface="Calibri"/>
              <a:ea typeface="Calibri"/>
              <a:cs typeface="Calibri"/>
              <a:sym typeface="Calibri"/>
            </a:endParaRPr>
          </a:p>
        </p:txBody>
      </p:sp>
      <p:sp>
        <p:nvSpPr>
          <p:cNvPr id="399" name="Google Shape;399;p13"/>
          <p:cNvSpPr/>
          <p:nvPr/>
        </p:nvSpPr>
        <p:spPr>
          <a:xfrm>
            <a:off x="594360" y="1143000"/>
            <a:ext cx="109270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50"/>
              <a:buFont typeface="Calibri"/>
              <a:buNone/>
            </a:pPr>
            <a:r>
              <a:rPr b="1" i="0" lang="en-US" sz="1250" u="none" cap="none" strike="noStrike">
                <a:solidFill>
                  <a:srgbClr val="2C5F2D"/>
                </a:solidFill>
                <a:latin typeface="Calibri"/>
                <a:ea typeface="Calibri"/>
                <a:cs typeface="Calibri"/>
                <a:sym typeface="Calibri"/>
              </a:rPr>
              <a:t>PlatformIO · Arduino framework · C++17 · board nodemcu-32s (ESP32-WROOM-32)</a:t>
            </a:r>
            <a:endParaRPr b="0" i="0" sz="1250" u="none" cap="none" strike="noStrike">
              <a:solidFill>
                <a:schemeClr val="dk1"/>
              </a:solidFill>
              <a:latin typeface="Calibri"/>
              <a:ea typeface="Calibri"/>
              <a:cs typeface="Calibri"/>
              <a:sym typeface="Calibri"/>
            </a:endParaRPr>
          </a:p>
        </p:txBody>
      </p:sp>
      <p:sp>
        <p:nvSpPr>
          <p:cNvPr id="400" name="Google Shape;400;p13"/>
          <p:cNvSpPr/>
          <p:nvPr/>
        </p:nvSpPr>
        <p:spPr>
          <a:xfrm>
            <a:off x="594360" y="1554480"/>
            <a:ext cx="6400800" cy="658368"/>
          </a:xfrm>
          <a:prstGeom prst="roundRect">
            <a:avLst>
              <a:gd fmla="val 125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3"/>
          <p:cNvSpPr/>
          <p:nvPr/>
        </p:nvSpPr>
        <p:spPr>
          <a:xfrm>
            <a:off x="822960" y="1554480"/>
            <a:ext cx="2057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250"/>
              <a:buFont typeface="Courier New"/>
              <a:buNone/>
            </a:pPr>
            <a:r>
              <a:rPr b="1" i="0" lang="en-US" sz="1250" u="none" cap="none" strike="noStrike">
                <a:solidFill>
                  <a:srgbClr val="2C5F2D"/>
                </a:solidFill>
                <a:latin typeface="Courier New"/>
                <a:ea typeface="Courier New"/>
                <a:cs typeface="Courier New"/>
                <a:sym typeface="Courier New"/>
              </a:rPr>
              <a:t>main.cpp</a:t>
            </a:r>
            <a:endParaRPr b="0" i="0" sz="1250" u="none" cap="none" strike="noStrike">
              <a:solidFill>
                <a:schemeClr val="dk1"/>
              </a:solidFill>
              <a:latin typeface="Calibri"/>
              <a:ea typeface="Calibri"/>
              <a:cs typeface="Calibri"/>
              <a:sym typeface="Calibri"/>
            </a:endParaRPr>
          </a:p>
        </p:txBody>
      </p:sp>
      <p:sp>
        <p:nvSpPr>
          <p:cNvPr id="402" name="Google Shape;402;p13"/>
          <p:cNvSpPr/>
          <p:nvPr/>
        </p:nvSpPr>
        <p:spPr>
          <a:xfrm>
            <a:off x="2971800" y="1554480"/>
            <a:ext cx="39319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1050"/>
              <a:buFont typeface="Calibri"/>
              <a:buNone/>
            </a:pPr>
            <a:r>
              <a:rPr b="0" i="0" lang="en-US" sz="1050" u="none" cap="none" strike="noStrike">
                <a:solidFill>
                  <a:srgbClr val="18271E"/>
                </a:solidFill>
                <a:latin typeface="Calibri"/>
                <a:ea typeface="Calibri"/>
                <a:cs typeface="Calibri"/>
                <a:sym typeface="Calibri"/>
              </a:rPr>
              <a:t>orchestrator </a:t>
            </a:r>
            <a:r>
              <a:rPr lang="en-US" sz="1050">
                <a:solidFill>
                  <a:srgbClr val="18271E"/>
                </a:solidFill>
                <a:latin typeface="Calibri"/>
                <a:ea typeface="Calibri"/>
                <a:cs typeface="Calibri"/>
                <a:sym typeface="Calibri"/>
              </a:rPr>
              <a:t>:</a:t>
            </a:r>
            <a:r>
              <a:rPr b="0" i="0" lang="en-US" sz="1050" u="none" cap="none" strike="noStrike">
                <a:solidFill>
                  <a:srgbClr val="18271E"/>
                </a:solidFill>
                <a:latin typeface="Calibri"/>
                <a:ea typeface="Calibri"/>
                <a:cs typeface="Calibri"/>
                <a:sym typeface="Calibri"/>
              </a:rPr>
              <a:t> setup() and loop()</a:t>
            </a:r>
            <a:endParaRPr b="0" i="0" sz="1050" u="none" cap="none" strike="noStrike">
              <a:solidFill>
                <a:schemeClr val="dk1"/>
              </a:solidFill>
              <a:latin typeface="Calibri"/>
              <a:ea typeface="Calibri"/>
              <a:cs typeface="Calibri"/>
              <a:sym typeface="Calibri"/>
            </a:endParaRPr>
          </a:p>
        </p:txBody>
      </p:sp>
      <p:sp>
        <p:nvSpPr>
          <p:cNvPr id="403" name="Google Shape;403;p13"/>
          <p:cNvSpPr/>
          <p:nvPr/>
        </p:nvSpPr>
        <p:spPr>
          <a:xfrm>
            <a:off x="594360" y="2331720"/>
            <a:ext cx="6400800" cy="658368"/>
          </a:xfrm>
          <a:prstGeom prst="roundRect">
            <a:avLst>
              <a:gd fmla="val 125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3"/>
          <p:cNvSpPr/>
          <p:nvPr/>
        </p:nvSpPr>
        <p:spPr>
          <a:xfrm>
            <a:off x="822960" y="2331720"/>
            <a:ext cx="2057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250"/>
              <a:buFont typeface="Courier New"/>
              <a:buNone/>
            </a:pPr>
            <a:r>
              <a:rPr b="1" i="0" lang="en-US" sz="1250" u="none" cap="none" strike="noStrike">
                <a:solidFill>
                  <a:srgbClr val="2C5F2D"/>
                </a:solidFill>
                <a:latin typeface="Courier New"/>
                <a:ea typeface="Courier New"/>
                <a:cs typeface="Courier New"/>
                <a:sym typeface="Courier New"/>
              </a:rPr>
              <a:t>services/</a:t>
            </a:r>
            <a:endParaRPr b="0" i="0" sz="1250" u="none" cap="none" strike="noStrike">
              <a:solidFill>
                <a:schemeClr val="dk1"/>
              </a:solidFill>
              <a:latin typeface="Calibri"/>
              <a:ea typeface="Calibri"/>
              <a:cs typeface="Calibri"/>
              <a:sym typeface="Calibri"/>
            </a:endParaRPr>
          </a:p>
        </p:txBody>
      </p:sp>
      <p:sp>
        <p:nvSpPr>
          <p:cNvPr id="405" name="Google Shape;405;p13"/>
          <p:cNvSpPr/>
          <p:nvPr/>
        </p:nvSpPr>
        <p:spPr>
          <a:xfrm>
            <a:off x="2971800" y="2331720"/>
            <a:ext cx="39319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1050"/>
              <a:buFont typeface="Calibri"/>
              <a:buNone/>
            </a:pPr>
            <a:r>
              <a:rPr b="0" i="0" lang="en-US" sz="1050" u="none" cap="none" strike="noStrike">
                <a:solidFill>
                  <a:srgbClr val="18271E"/>
                </a:solidFill>
                <a:latin typeface="Calibri"/>
                <a:ea typeface="Calibri"/>
                <a:cs typeface="Calibri"/>
                <a:sym typeface="Calibri"/>
              </a:rPr>
              <a:t>mfcc </a:t>
            </a:r>
            <a:r>
              <a:rPr lang="en-US" sz="1050">
                <a:solidFill>
                  <a:srgbClr val="18271E"/>
                </a:solidFill>
                <a:latin typeface="Calibri"/>
                <a:ea typeface="Calibri"/>
                <a:cs typeface="Calibri"/>
                <a:sym typeface="Calibri"/>
              </a:rPr>
              <a:t>: </a:t>
            </a:r>
            <a:r>
              <a:rPr b="0" i="0" lang="en-US" sz="1050" u="none" cap="none" strike="noStrike">
                <a:solidFill>
                  <a:srgbClr val="18271E"/>
                </a:solidFill>
                <a:latin typeface="Calibri"/>
                <a:ea typeface="Calibri"/>
                <a:cs typeface="Calibri"/>
                <a:sym typeface="Calibri"/>
              </a:rPr>
              <a:t> feature extraction   ·   watchdog</a:t>
            </a:r>
            <a:endParaRPr b="0" i="0" sz="1050" u="none" cap="none" strike="noStrike">
              <a:solidFill>
                <a:schemeClr val="dk1"/>
              </a:solidFill>
              <a:latin typeface="Calibri"/>
              <a:ea typeface="Calibri"/>
              <a:cs typeface="Calibri"/>
              <a:sym typeface="Calibri"/>
            </a:endParaRPr>
          </a:p>
        </p:txBody>
      </p:sp>
      <p:sp>
        <p:nvSpPr>
          <p:cNvPr id="406" name="Google Shape;406;p13"/>
          <p:cNvSpPr/>
          <p:nvPr/>
        </p:nvSpPr>
        <p:spPr>
          <a:xfrm>
            <a:off x="594360" y="3108960"/>
            <a:ext cx="6400800" cy="658368"/>
          </a:xfrm>
          <a:prstGeom prst="roundRect">
            <a:avLst>
              <a:gd fmla="val 125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3"/>
          <p:cNvSpPr/>
          <p:nvPr/>
        </p:nvSpPr>
        <p:spPr>
          <a:xfrm>
            <a:off x="822960" y="3108960"/>
            <a:ext cx="2057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050"/>
              <a:buFont typeface="Courier New"/>
              <a:buNone/>
            </a:pPr>
            <a:r>
              <a:rPr b="1" i="0" lang="en-US" sz="1050" u="none" cap="none" strike="noStrike">
                <a:solidFill>
                  <a:srgbClr val="2C5F2D"/>
                </a:solidFill>
                <a:latin typeface="Courier New"/>
                <a:ea typeface="Courier New"/>
                <a:cs typeface="Courier New"/>
                <a:sym typeface="Courier New"/>
              </a:rPr>
              <a:t>drivers/ · model/</a:t>
            </a:r>
            <a:endParaRPr b="0" i="0" sz="1050" u="none" cap="none" strike="noStrike">
              <a:solidFill>
                <a:schemeClr val="dk1"/>
              </a:solidFill>
              <a:latin typeface="Calibri"/>
              <a:ea typeface="Calibri"/>
              <a:cs typeface="Calibri"/>
              <a:sym typeface="Calibri"/>
            </a:endParaRPr>
          </a:p>
        </p:txBody>
      </p:sp>
      <p:sp>
        <p:nvSpPr>
          <p:cNvPr id="408" name="Google Shape;408;p13"/>
          <p:cNvSpPr/>
          <p:nvPr/>
        </p:nvSpPr>
        <p:spPr>
          <a:xfrm>
            <a:off x="2971800" y="3108960"/>
            <a:ext cx="39319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1050"/>
              <a:buFont typeface="Calibri"/>
              <a:buNone/>
            </a:pPr>
            <a:r>
              <a:rPr b="0" i="0" lang="en-US" sz="1050" u="none" cap="none" strike="noStrike">
                <a:solidFill>
                  <a:srgbClr val="18271E"/>
                </a:solidFill>
                <a:latin typeface="Calibri"/>
                <a:ea typeface="Calibri"/>
                <a:cs typeface="Calibri"/>
                <a:sym typeface="Calibri"/>
              </a:rPr>
              <a:t>I2S microphone (INMP441)  ·  generated model bytes + TFLite Micro interpreter</a:t>
            </a:r>
            <a:endParaRPr b="0" i="0" sz="1050" u="none" cap="none" strike="noStrike">
              <a:solidFill>
                <a:schemeClr val="dk1"/>
              </a:solidFill>
              <a:latin typeface="Calibri"/>
              <a:ea typeface="Calibri"/>
              <a:cs typeface="Calibri"/>
              <a:sym typeface="Calibri"/>
            </a:endParaRPr>
          </a:p>
        </p:txBody>
      </p:sp>
      <p:sp>
        <p:nvSpPr>
          <p:cNvPr id="409" name="Google Shape;409;p13"/>
          <p:cNvSpPr/>
          <p:nvPr/>
        </p:nvSpPr>
        <p:spPr>
          <a:xfrm>
            <a:off x="594360" y="3886200"/>
            <a:ext cx="6400800" cy="658368"/>
          </a:xfrm>
          <a:prstGeom prst="roundRect">
            <a:avLst>
              <a:gd fmla="val 125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3"/>
          <p:cNvSpPr/>
          <p:nvPr/>
        </p:nvSpPr>
        <p:spPr>
          <a:xfrm>
            <a:off x="822960" y="3886200"/>
            <a:ext cx="2057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250"/>
              <a:buFont typeface="Courier New"/>
              <a:buNone/>
            </a:pPr>
            <a:r>
              <a:rPr b="1" i="0" lang="en-US" sz="1250" u="none" cap="none" strike="noStrike">
                <a:solidFill>
                  <a:srgbClr val="2C5F2D"/>
                </a:solidFill>
                <a:latin typeface="Courier New"/>
                <a:ea typeface="Courier New"/>
                <a:cs typeface="Courier New"/>
                <a:sym typeface="Courier New"/>
              </a:rPr>
              <a:t>app/</a:t>
            </a:r>
            <a:endParaRPr b="0" i="0" sz="1250" u="none" cap="none" strike="noStrike">
              <a:solidFill>
                <a:schemeClr val="dk1"/>
              </a:solidFill>
              <a:latin typeface="Calibri"/>
              <a:ea typeface="Calibri"/>
              <a:cs typeface="Calibri"/>
              <a:sym typeface="Calibri"/>
            </a:endParaRPr>
          </a:p>
        </p:txBody>
      </p:sp>
      <p:sp>
        <p:nvSpPr>
          <p:cNvPr id="411" name="Google Shape;411;p13"/>
          <p:cNvSpPr/>
          <p:nvPr/>
        </p:nvSpPr>
        <p:spPr>
          <a:xfrm>
            <a:off x="2971800" y="3886200"/>
            <a:ext cx="39319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1050"/>
              <a:buFont typeface="Calibri"/>
              <a:buNone/>
            </a:pPr>
            <a:r>
              <a:rPr b="0" i="0" lang="en-US" sz="1050" u="none" cap="none" strike="noStrike">
                <a:solidFill>
                  <a:srgbClr val="18271E"/>
                </a:solidFill>
                <a:latin typeface="Calibri"/>
                <a:ea typeface="Calibri"/>
                <a:cs typeface="Calibri"/>
                <a:sym typeface="Calibri"/>
              </a:rPr>
              <a:t>config.h (generated)   ·   board_config.h (hand-maintained)   ·   flags.h</a:t>
            </a:r>
            <a:endParaRPr b="0" i="0" sz="1050" u="none" cap="none" strike="noStrike">
              <a:solidFill>
                <a:schemeClr val="dk1"/>
              </a:solidFill>
              <a:latin typeface="Calibri"/>
              <a:ea typeface="Calibri"/>
              <a:cs typeface="Calibri"/>
              <a:sym typeface="Calibri"/>
            </a:endParaRPr>
          </a:p>
        </p:txBody>
      </p:sp>
      <p:sp>
        <p:nvSpPr>
          <p:cNvPr id="412" name="Google Shape;412;p13"/>
          <p:cNvSpPr/>
          <p:nvPr/>
        </p:nvSpPr>
        <p:spPr>
          <a:xfrm>
            <a:off x="7269480" y="1554480"/>
            <a:ext cx="4270248" cy="1005840"/>
          </a:xfrm>
          <a:prstGeom prst="roundRect">
            <a:avLst>
              <a:gd fmla="val 8182"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3"/>
          <p:cNvSpPr/>
          <p:nvPr/>
        </p:nvSpPr>
        <p:spPr>
          <a:xfrm>
            <a:off x="7452360" y="1627632"/>
            <a:ext cx="39319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50"/>
              <a:buFont typeface="Calibri"/>
              <a:buNone/>
            </a:pPr>
            <a:r>
              <a:rPr b="1" i="0" lang="en-US" sz="1250" u="none" cap="none" strike="noStrike">
                <a:solidFill>
                  <a:srgbClr val="2C5F2D"/>
                </a:solidFill>
                <a:latin typeface="Calibri"/>
                <a:ea typeface="Calibri"/>
                <a:cs typeface="Calibri"/>
                <a:sym typeface="Calibri"/>
              </a:rPr>
              <a:t>Only two libraries</a:t>
            </a:r>
            <a:endParaRPr b="0" i="0" sz="1250" u="none" cap="none" strike="noStrike">
              <a:solidFill>
                <a:schemeClr val="dk1"/>
              </a:solidFill>
              <a:latin typeface="Calibri"/>
              <a:ea typeface="Calibri"/>
              <a:cs typeface="Calibri"/>
              <a:sym typeface="Calibri"/>
            </a:endParaRPr>
          </a:p>
        </p:txBody>
      </p:sp>
      <p:sp>
        <p:nvSpPr>
          <p:cNvPr id="414" name="Google Shape;414;p13"/>
          <p:cNvSpPr/>
          <p:nvPr/>
        </p:nvSpPr>
        <p:spPr>
          <a:xfrm>
            <a:off x="7452360" y="1883664"/>
            <a:ext cx="3931920"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050"/>
              <a:buFont typeface="Calibri"/>
              <a:buNone/>
            </a:pPr>
            <a:r>
              <a:rPr b="0" i="0" lang="en-US" sz="1050" u="none" cap="none" strike="noStrike">
                <a:solidFill>
                  <a:srgbClr val="18271E"/>
                </a:solidFill>
                <a:latin typeface="Calibri"/>
                <a:ea typeface="Calibri"/>
                <a:cs typeface="Calibri"/>
                <a:sym typeface="Calibri"/>
              </a:rPr>
              <a:t>The TFLite Micro runtime for ESP32, and a small FFT library. Nothing else.</a:t>
            </a:r>
            <a:endParaRPr b="0" i="0" sz="1050" u="none" cap="none" strike="noStrike">
              <a:solidFill>
                <a:schemeClr val="dk1"/>
              </a:solidFill>
              <a:latin typeface="Calibri"/>
              <a:ea typeface="Calibri"/>
              <a:cs typeface="Calibri"/>
              <a:sym typeface="Calibri"/>
            </a:endParaRPr>
          </a:p>
        </p:txBody>
      </p:sp>
      <p:sp>
        <p:nvSpPr>
          <p:cNvPr id="415" name="Google Shape;415;p13"/>
          <p:cNvSpPr/>
          <p:nvPr/>
        </p:nvSpPr>
        <p:spPr>
          <a:xfrm>
            <a:off x="7269480" y="2651760"/>
            <a:ext cx="4270248" cy="1005840"/>
          </a:xfrm>
          <a:prstGeom prst="roundRect">
            <a:avLst>
              <a:gd fmla="val 8182"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3"/>
          <p:cNvSpPr/>
          <p:nvPr/>
        </p:nvSpPr>
        <p:spPr>
          <a:xfrm>
            <a:off x="7452360" y="2724912"/>
            <a:ext cx="39319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50"/>
              <a:buFont typeface="Calibri"/>
              <a:buNone/>
            </a:pPr>
            <a:r>
              <a:rPr b="1" i="0" lang="en-US" sz="1250" u="none" cap="none" strike="noStrike">
                <a:solidFill>
                  <a:srgbClr val="2C5F2D"/>
                </a:solidFill>
                <a:latin typeface="Calibri"/>
                <a:ea typeface="Calibri"/>
                <a:cs typeface="Calibri"/>
                <a:sym typeface="Calibri"/>
              </a:rPr>
              <a:t>Compile-time flags</a:t>
            </a:r>
            <a:endParaRPr b="0" i="0" sz="1250" u="none" cap="none" strike="noStrike">
              <a:solidFill>
                <a:schemeClr val="dk1"/>
              </a:solidFill>
              <a:latin typeface="Calibri"/>
              <a:ea typeface="Calibri"/>
              <a:cs typeface="Calibri"/>
              <a:sym typeface="Calibri"/>
            </a:endParaRPr>
          </a:p>
        </p:txBody>
      </p:sp>
      <p:sp>
        <p:nvSpPr>
          <p:cNvPr id="417" name="Google Shape;417;p13"/>
          <p:cNvSpPr/>
          <p:nvPr/>
        </p:nvSpPr>
        <p:spPr>
          <a:xfrm>
            <a:off x="7452360" y="2980944"/>
            <a:ext cx="3931920"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050"/>
              <a:buFont typeface="Calibri"/>
              <a:buNone/>
            </a:pPr>
            <a:r>
              <a:rPr b="0" i="0" lang="en-US" sz="1050" u="none" cap="none" strike="noStrike">
                <a:solidFill>
                  <a:srgbClr val="18271E"/>
                </a:solidFill>
                <a:latin typeface="Calibri"/>
                <a:ea typeface="Calibri"/>
                <a:cs typeface="Calibri"/>
                <a:sym typeface="Calibri"/>
              </a:rPr>
              <a:t>A disabled feature costs zero bytes of flash and zero CPU cycles</a:t>
            </a:r>
            <a:r>
              <a:rPr lang="en-US" sz="1050">
                <a:solidFill>
                  <a:srgbClr val="18271E"/>
                </a:solidFill>
                <a:latin typeface="Calibri"/>
                <a:ea typeface="Calibri"/>
                <a:cs typeface="Calibri"/>
                <a:sym typeface="Calibri"/>
              </a:rPr>
              <a:t>,</a:t>
            </a:r>
            <a:r>
              <a:rPr b="0" i="0" lang="en-US" sz="1050" u="none" cap="none" strike="noStrike">
                <a:solidFill>
                  <a:srgbClr val="18271E"/>
                </a:solidFill>
                <a:latin typeface="Calibri"/>
                <a:ea typeface="Calibri"/>
                <a:cs typeface="Calibri"/>
                <a:sym typeface="Calibri"/>
              </a:rPr>
              <a:t> verbose serial output is off by default.</a:t>
            </a:r>
            <a:endParaRPr b="0" i="0" sz="1050" u="none" cap="none" strike="noStrike">
              <a:solidFill>
                <a:schemeClr val="dk1"/>
              </a:solidFill>
              <a:latin typeface="Calibri"/>
              <a:ea typeface="Calibri"/>
              <a:cs typeface="Calibri"/>
              <a:sym typeface="Calibri"/>
            </a:endParaRPr>
          </a:p>
        </p:txBody>
      </p:sp>
      <p:sp>
        <p:nvSpPr>
          <p:cNvPr id="418" name="Google Shape;418;p13"/>
          <p:cNvSpPr/>
          <p:nvPr/>
        </p:nvSpPr>
        <p:spPr>
          <a:xfrm>
            <a:off x="7269480" y="3749040"/>
            <a:ext cx="4270248" cy="1005840"/>
          </a:xfrm>
          <a:prstGeom prst="roundRect">
            <a:avLst>
              <a:gd fmla="val 8182"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3"/>
          <p:cNvSpPr/>
          <p:nvPr/>
        </p:nvSpPr>
        <p:spPr>
          <a:xfrm>
            <a:off x="7452360" y="3822192"/>
            <a:ext cx="39319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50"/>
              <a:buFont typeface="Calibri"/>
              <a:buNone/>
            </a:pPr>
            <a:r>
              <a:rPr b="1" i="0" lang="en-US" sz="1250" u="none" cap="none" strike="noStrike">
                <a:solidFill>
                  <a:srgbClr val="2C5F2D"/>
                </a:solidFill>
                <a:latin typeface="Calibri"/>
                <a:ea typeface="Calibri"/>
                <a:cs typeface="Calibri"/>
                <a:sym typeface="Calibri"/>
              </a:rPr>
              <a:t>Fail-safe by design</a:t>
            </a:r>
            <a:endParaRPr b="0" i="0" sz="1250" u="none" cap="none" strike="noStrike">
              <a:solidFill>
                <a:schemeClr val="dk1"/>
              </a:solidFill>
              <a:latin typeface="Calibri"/>
              <a:ea typeface="Calibri"/>
              <a:cs typeface="Calibri"/>
              <a:sym typeface="Calibri"/>
            </a:endParaRPr>
          </a:p>
        </p:txBody>
      </p:sp>
      <p:sp>
        <p:nvSpPr>
          <p:cNvPr id="420" name="Google Shape;420;p13"/>
          <p:cNvSpPr/>
          <p:nvPr/>
        </p:nvSpPr>
        <p:spPr>
          <a:xfrm>
            <a:off x="7452360" y="4078224"/>
            <a:ext cx="3931920"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050"/>
              <a:buFont typeface="Calibri"/>
              <a:buNone/>
            </a:pPr>
            <a:r>
              <a:rPr b="0" i="0" lang="en-US" sz="1050" u="none" cap="none" strike="noStrike">
                <a:solidFill>
                  <a:srgbClr val="18271E"/>
                </a:solidFill>
                <a:latin typeface="Calibri"/>
                <a:ea typeface="Calibri"/>
                <a:cs typeface="Calibri"/>
                <a:sym typeface="Calibri"/>
              </a:rPr>
              <a:t>If a service cannot be initialised, the firmware warns once and keeps running with that feature disabled. On a device meant to sit alone in a forest, never blocking is worth more than being complete.</a:t>
            </a:r>
            <a:endParaRPr b="0" i="0" sz="1050" u="none" cap="none" strike="noStrike">
              <a:solidFill>
                <a:schemeClr val="dk1"/>
              </a:solidFill>
              <a:latin typeface="Calibri"/>
              <a:ea typeface="Calibri"/>
              <a:cs typeface="Calibri"/>
              <a:sym typeface="Calibri"/>
            </a:endParaRPr>
          </a:p>
        </p:txBody>
      </p:sp>
      <p:sp>
        <p:nvSpPr>
          <p:cNvPr id="421" name="Google Shape;421;p13"/>
          <p:cNvSpPr/>
          <p:nvPr/>
        </p:nvSpPr>
        <p:spPr>
          <a:xfrm>
            <a:off x="594360" y="4892040"/>
            <a:ext cx="10945368" cy="1051560"/>
          </a:xfrm>
          <a:prstGeom prst="roundRect">
            <a:avLst>
              <a:gd fmla="val 7826"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3"/>
          <p:cNvSpPr/>
          <p:nvPr/>
        </p:nvSpPr>
        <p:spPr>
          <a:xfrm>
            <a:off x="822960" y="4983480"/>
            <a:ext cx="10424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00"/>
              <a:buFont typeface="Calibri"/>
              <a:buNone/>
            </a:pPr>
            <a:r>
              <a:rPr b="1" i="0" lang="en-US" sz="1200" u="none" cap="none" strike="noStrike">
                <a:solidFill>
                  <a:srgbClr val="2C5F2D"/>
                </a:solidFill>
                <a:latin typeface="Calibri"/>
                <a:ea typeface="Calibri"/>
                <a:cs typeface="Calibri"/>
                <a:sym typeface="Calibri"/>
              </a:rPr>
              <a:t>Generated vs. hand-maintained — the distinction is visible in the file tree itself</a:t>
            </a:r>
            <a:endParaRPr b="0" i="0" sz="1200" u="none" cap="none" strike="noStrike">
              <a:solidFill>
                <a:schemeClr val="dk1"/>
              </a:solidFill>
              <a:latin typeface="Calibri"/>
              <a:ea typeface="Calibri"/>
              <a:cs typeface="Calibri"/>
              <a:sym typeface="Calibri"/>
            </a:endParaRPr>
          </a:p>
        </p:txBody>
      </p:sp>
      <p:sp>
        <p:nvSpPr>
          <p:cNvPr id="423" name="Google Shape;423;p13"/>
          <p:cNvSpPr/>
          <p:nvPr/>
        </p:nvSpPr>
        <p:spPr>
          <a:xfrm>
            <a:off x="822960" y="5303520"/>
            <a:ext cx="104241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150"/>
              <a:buFont typeface="Calibri"/>
              <a:buNone/>
            </a:pPr>
            <a:r>
              <a:rPr b="0" i="0" lang="en-US" sz="1150" u="none" cap="none" strike="noStrike">
                <a:solidFill>
                  <a:srgbClr val="18271E"/>
                </a:solidFill>
                <a:latin typeface="Calibri"/>
                <a:ea typeface="Calibri"/>
                <a:cs typeface="Calibri"/>
                <a:sym typeface="Calibri"/>
              </a:rPr>
              <a:t>GENERATED  ·  config.h  ·  dsp_constants.cpp  ·  inference.cpp                    HAND-MAINTAINED  ·  board_config.h  ·  flags.h  ·  every driver and service</a:t>
            </a:r>
            <a:endParaRPr b="0" i="0" sz="1150" u="none" cap="none" strike="noStrike">
              <a:solidFill>
                <a:schemeClr val="dk1"/>
              </a:solidFill>
              <a:latin typeface="Calibri"/>
              <a:ea typeface="Calibri"/>
              <a:cs typeface="Calibri"/>
              <a:sym typeface="Calibri"/>
            </a:endParaRPr>
          </a:p>
        </p:txBody>
      </p:sp>
      <p:sp>
        <p:nvSpPr>
          <p:cNvPr id="424" name="Google Shape;424;p13"/>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11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14"/>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MODULE 2 — FIRMWARE/</a:t>
            </a:r>
            <a:endParaRPr b="0" i="0" sz="1100" u="none" cap="none" strike="noStrike">
              <a:solidFill>
                <a:schemeClr val="dk1"/>
              </a:solidFill>
              <a:latin typeface="Calibri"/>
              <a:ea typeface="Calibri"/>
              <a:cs typeface="Calibri"/>
              <a:sym typeface="Calibri"/>
            </a:endParaRPr>
          </a:p>
        </p:txBody>
      </p:sp>
      <p:sp>
        <p:nvSpPr>
          <p:cNvPr id="431" name="Google Shape;431;p14"/>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3200"/>
              <a:buFont typeface="Cambria"/>
              <a:buNone/>
            </a:pPr>
            <a:r>
              <a:rPr b="1" i="0" lang="en-US" sz="3200" u="none" cap="none" strike="noStrike">
                <a:solidFill>
                  <a:srgbClr val="18271E"/>
                </a:solidFill>
                <a:latin typeface="Cambria"/>
                <a:ea typeface="Cambria"/>
                <a:cs typeface="Cambria"/>
                <a:sym typeface="Cambria"/>
              </a:rPr>
              <a:t>Re-implementing librosa in C++, exactly</a:t>
            </a:r>
            <a:endParaRPr b="0" i="0" sz="3200" u="none" cap="none" strike="noStrike">
              <a:solidFill>
                <a:schemeClr val="dk1"/>
              </a:solidFill>
              <a:latin typeface="Calibri"/>
              <a:ea typeface="Calibri"/>
              <a:cs typeface="Calibri"/>
              <a:sym typeface="Calibri"/>
            </a:endParaRPr>
          </a:p>
        </p:txBody>
      </p:sp>
      <p:sp>
        <p:nvSpPr>
          <p:cNvPr id="432" name="Google Shape;432;p14"/>
          <p:cNvSpPr/>
          <p:nvPr/>
        </p:nvSpPr>
        <p:spPr>
          <a:xfrm>
            <a:off x="594360" y="1143000"/>
            <a:ext cx="10927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300"/>
              <a:buFont typeface="Calibri"/>
              <a:buNone/>
            </a:pPr>
            <a:r>
              <a:rPr b="0" i="0" lang="en-US" sz="1300" u="none" cap="none" strike="noStrike">
                <a:solidFill>
                  <a:srgbClr val="18271E"/>
                </a:solidFill>
                <a:latin typeface="Calibri"/>
                <a:ea typeface="Calibri"/>
                <a:cs typeface="Calibri"/>
                <a:sym typeface="Calibri"/>
              </a:rPr>
              <a:t>The firmware must compute the same 194 numbers as the Python extractor </a:t>
            </a:r>
            <a:r>
              <a:rPr lang="en-US" sz="1300">
                <a:solidFill>
                  <a:srgbClr val="18271E"/>
                </a:solidFill>
                <a:latin typeface="Calibri"/>
                <a:ea typeface="Calibri"/>
                <a:cs typeface="Calibri"/>
                <a:sym typeface="Calibri"/>
              </a:rPr>
              <a:t>(</a:t>
            </a:r>
            <a:r>
              <a:rPr b="0" i="0" lang="en-US" sz="1300" u="none" cap="none" strike="noStrike">
                <a:solidFill>
                  <a:srgbClr val="18271E"/>
                </a:solidFill>
                <a:latin typeface="Calibri"/>
                <a:ea typeface="Calibri"/>
                <a:cs typeface="Calibri"/>
                <a:sym typeface="Calibri"/>
              </a:rPr>
              <a:t>without librosa</a:t>
            </a:r>
            <a:r>
              <a:rPr lang="en-US" sz="1300">
                <a:solidFill>
                  <a:srgbClr val="18271E"/>
                </a:solidFill>
                <a:latin typeface="Calibri"/>
                <a:ea typeface="Calibri"/>
                <a:cs typeface="Calibri"/>
                <a:sym typeface="Calibri"/>
              </a:rPr>
              <a:t> and</a:t>
            </a:r>
            <a:r>
              <a:rPr b="0" i="0" lang="en-US" sz="1300" u="none" cap="none" strike="noStrike">
                <a:solidFill>
                  <a:srgbClr val="18271E"/>
                </a:solidFill>
                <a:latin typeface="Calibri"/>
                <a:ea typeface="Calibri"/>
                <a:cs typeface="Calibri"/>
                <a:sym typeface="Calibri"/>
              </a:rPr>
              <a:t> without NumPy). Any mismatch and the model receives inputs from a distribution it never saw, and fails silently.</a:t>
            </a:r>
            <a:endParaRPr b="0" i="0" sz="1300" u="none" cap="none" strike="noStrike">
              <a:solidFill>
                <a:schemeClr val="dk1"/>
              </a:solidFill>
              <a:latin typeface="Calibri"/>
              <a:ea typeface="Calibri"/>
              <a:cs typeface="Calibri"/>
              <a:sym typeface="Calibri"/>
            </a:endParaRPr>
          </a:p>
        </p:txBody>
      </p:sp>
      <p:sp>
        <p:nvSpPr>
          <p:cNvPr id="433" name="Google Shape;433;p14"/>
          <p:cNvSpPr/>
          <p:nvPr/>
        </p:nvSpPr>
        <p:spPr>
          <a:xfrm>
            <a:off x="594360" y="1737360"/>
            <a:ext cx="5577840" cy="658368"/>
          </a:xfrm>
          <a:prstGeom prst="roundRect">
            <a:avLst>
              <a:gd fmla="val 125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4"/>
          <p:cNvSpPr/>
          <p:nvPr/>
        </p:nvSpPr>
        <p:spPr>
          <a:xfrm>
            <a:off x="777240" y="1865376"/>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4"/>
          <p:cNvSpPr/>
          <p:nvPr/>
        </p:nvSpPr>
        <p:spPr>
          <a:xfrm>
            <a:off x="777240" y="186537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436" name="Google Shape;436;p14"/>
          <p:cNvSpPr/>
          <p:nvPr/>
        </p:nvSpPr>
        <p:spPr>
          <a:xfrm>
            <a:off x="1325880" y="1792224"/>
            <a:ext cx="20116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63 STFT frames</a:t>
            </a:r>
            <a:endParaRPr b="0" i="0" sz="1200" u="none" cap="none" strike="noStrike">
              <a:solidFill>
                <a:schemeClr val="dk1"/>
              </a:solidFill>
              <a:latin typeface="Calibri"/>
              <a:ea typeface="Calibri"/>
              <a:cs typeface="Calibri"/>
              <a:sym typeface="Calibri"/>
            </a:endParaRPr>
          </a:p>
        </p:txBody>
      </p:sp>
      <p:sp>
        <p:nvSpPr>
          <p:cNvPr id="437" name="Google Shape;437;p14"/>
          <p:cNvSpPr/>
          <p:nvPr/>
        </p:nvSpPr>
        <p:spPr>
          <a:xfrm>
            <a:off x="1325880" y="2066544"/>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Hann window, reflect padding at the signal edges</a:t>
            </a:r>
            <a:endParaRPr b="0" i="0" sz="1050" u="none" cap="none" strike="noStrike">
              <a:solidFill>
                <a:schemeClr val="dk1"/>
              </a:solidFill>
              <a:latin typeface="Calibri"/>
              <a:ea typeface="Calibri"/>
              <a:cs typeface="Calibri"/>
              <a:sym typeface="Calibri"/>
            </a:endParaRPr>
          </a:p>
        </p:txBody>
      </p:sp>
      <p:sp>
        <p:nvSpPr>
          <p:cNvPr id="438" name="Google Shape;438;p14"/>
          <p:cNvSpPr/>
          <p:nvPr/>
        </p:nvSpPr>
        <p:spPr>
          <a:xfrm>
            <a:off x="594360" y="2514600"/>
            <a:ext cx="5577840" cy="658368"/>
          </a:xfrm>
          <a:prstGeom prst="roundRect">
            <a:avLst>
              <a:gd fmla="val 125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4"/>
          <p:cNvSpPr/>
          <p:nvPr/>
        </p:nvSpPr>
        <p:spPr>
          <a:xfrm>
            <a:off x="777240" y="2642616"/>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4"/>
          <p:cNvSpPr/>
          <p:nvPr/>
        </p:nvSpPr>
        <p:spPr>
          <a:xfrm>
            <a:off x="777240" y="264261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441" name="Google Shape;441;p14"/>
          <p:cNvSpPr/>
          <p:nvPr/>
        </p:nvSpPr>
        <p:spPr>
          <a:xfrm>
            <a:off x="1325880" y="2569464"/>
            <a:ext cx="20116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Mel energies</a:t>
            </a:r>
            <a:endParaRPr b="0" i="0" sz="1200" u="none" cap="none" strike="noStrike">
              <a:solidFill>
                <a:schemeClr val="dk1"/>
              </a:solidFill>
              <a:latin typeface="Calibri"/>
              <a:ea typeface="Calibri"/>
              <a:cs typeface="Calibri"/>
              <a:sym typeface="Calibri"/>
            </a:endParaRPr>
          </a:p>
        </p:txBody>
      </p:sp>
      <p:sp>
        <p:nvSpPr>
          <p:cNvPr id="442" name="Google Shape;442;p14"/>
          <p:cNvSpPr/>
          <p:nvPr/>
        </p:nvSpPr>
        <p:spPr>
          <a:xfrm>
            <a:off x="1325880" y="2843784"/>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MEL_MATRIX, generated by Python</a:t>
            </a:r>
            <a:endParaRPr b="0" i="0" sz="1050" u="none" cap="none" strike="noStrike">
              <a:solidFill>
                <a:schemeClr val="dk1"/>
              </a:solidFill>
              <a:latin typeface="Calibri"/>
              <a:ea typeface="Calibri"/>
              <a:cs typeface="Calibri"/>
              <a:sym typeface="Calibri"/>
            </a:endParaRPr>
          </a:p>
        </p:txBody>
      </p:sp>
      <p:sp>
        <p:nvSpPr>
          <p:cNvPr id="443" name="Google Shape;443;p14"/>
          <p:cNvSpPr/>
          <p:nvPr/>
        </p:nvSpPr>
        <p:spPr>
          <a:xfrm>
            <a:off x="594360" y="3291840"/>
            <a:ext cx="5577840" cy="658368"/>
          </a:xfrm>
          <a:prstGeom prst="roundRect">
            <a:avLst>
              <a:gd fmla="val 125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4"/>
          <p:cNvSpPr/>
          <p:nvPr/>
        </p:nvSpPr>
        <p:spPr>
          <a:xfrm>
            <a:off x="777240" y="3419856"/>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4"/>
          <p:cNvSpPr/>
          <p:nvPr/>
        </p:nvSpPr>
        <p:spPr>
          <a:xfrm>
            <a:off x="777240" y="341985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446" name="Google Shape;446;p14"/>
          <p:cNvSpPr/>
          <p:nvPr/>
        </p:nvSpPr>
        <p:spPr>
          <a:xfrm>
            <a:off x="1325880" y="3346704"/>
            <a:ext cx="20116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20 MFCC</a:t>
            </a:r>
            <a:endParaRPr b="0" i="0" sz="1200" u="none" cap="none" strike="noStrike">
              <a:solidFill>
                <a:schemeClr val="dk1"/>
              </a:solidFill>
              <a:latin typeface="Calibri"/>
              <a:ea typeface="Calibri"/>
              <a:cs typeface="Calibri"/>
              <a:sym typeface="Calibri"/>
            </a:endParaRPr>
          </a:p>
        </p:txBody>
      </p:sp>
      <p:sp>
        <p:nvSpPr>
          <p:cNvPr id="447" name="Google Shape;447;p14"/>
          <p:cNvSpPr/>
          <p:nvPr/>
        </p:nvSpPr>
        <p:spPr>
          <a:xfrm>
            <a:off x="1325880" y="3621024"/>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DCT_MATRIX, generated by Python</a:t>
            </a:r>
            <a:endParaRPr b="0" i="0" sz="1050" u="none" cap="none" strike="noStrike">
              <a:solidFill>
                <a:schemeClr val="dk1"/>
              </a:solidFill>
              <a:latin typeface="Calibri"/>
              <a:ea typeface="Calibri"/>
              <a:cs typeface="Calibri"/>
              <a:sym typeface="Calibri"/>
            </a:endParaRPr>
          </a:p>
        </p:txBody>
      </p:sp>
      <p:sp>
        <p:nvSpPr>
          <p:cNvPr id="448" name="Google Shape;448;p14"/>
          <p:cNvSpPr/>
          <p:nvPr/>
        </p:nvSpPr>
        <p:spPr>
          <a:xfrm>
            <a:off x="594360" y="4069080"/>
            <a:ext cx="5577840" cy="658368"/>
          </a:xfrm>
          <a:prstGeom prst="roundRect">
            <a:avLst>
              <a:gd fmla="val 125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4"/>
          <p:cNvSpPr/>
          <p:nvPr/>
        </p:nvSpPr>
        <p:spPr>
          <a:xfrm>
            <a:off x="777240" y="4197096"/>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4"/>
          <p:cNvSpPr/>
          <p:nvPr/>
        </p:nvSpPr>
        <p:spPr>
          <a:xfrm>
            <a:off x="777240" y="419709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451" name="Google Shape;451;p14"/>
          <p:cNvSpPr/>
          <p:nvPr/>
        </p:nvSpPr>
        <p:spPr>
          <a:xfrm>
            <a:off x="1325880" y="4123944"/>
            <a:ext cx="20116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Δ and Δ²</a:t>
            </a:r>
            <a:endParaRPr b="0" i="0" sz="1200" u="none" cap="none" strike="noStrike">
              <a:solidFill>
                <a:schemeClr val="dk1"/>
              </a:solidFill>
              <a:latin typeface="Calibri"/>
              <a:ea typeface="Calibri"/>
              <a:cs typeface="Calibri"/>
              <a:sym typeface="Calibri"/>
            </a:endParaRPr>
          </a:p>
        </p:txBody>
      </p:sp>
      <p:sp>
        <p:nvSpPr>
          <p:cNvPr id="452" name="Google Shape;452;p14"/>
          <p:cNvSpPr/>
          <p:nvPr/>
        </p:nvSpPr>
        <p:spPr>
          <a:xfrm>
            <a:off x="1325880" y="4398264"/>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librosa-equivalent Savitzky–Golay coefficients</a:t>
            </a:r>
            <a:endParaRPr b="0" i="0" sz="1050" u="none" cap="none" strike="noStrike">
              <a:solidFill>
                <a:schemeClr val="dk1"/>
              </a:solidFill>
              <a:latin typeface="Calibri"/>
              <a:ea typeface="Calibri"/>
              <a:cs typeface="Calibri"/>
              <a:sym typeface="Calibri"/>
            </a:endParaRPr>
          </a:p>
        </p:txBody>
      </p:sp>
      <p:sp>
        <p:nvSpPr>
          <p:cNvPr id="453" name="Google Shape;453;p14"/>
          <p:cNvSpPr/>
          <p:nvPr/>
        </p:nvSpPr>
        <p:spPr>
          <a:xfrm>
            <a:off x="594360" y="4846320"/>
            <a:ext cx="5577840" cy="658368"/>
          </a:xfrm>
          <a:prstGeom prst="roundRect">
            <a:avLst>
              <a:gd fmla="val 125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4"/>
          <p:cNvSpPr/>
          <p:nvPr/>
        </p:nvSpPr>
        <p:spPr>
          <a:xfrm>
            <a:off x="777240" y="4974336"/>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4"/>
          <p:cNvSpPr/>
          <p:nvPr/>
        </p:nvSpPr>
        <p:spPr>
          <a:xfrm>
            <a:off x="777240" y="497433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456" name="Google Shape;456;p14"/>
          <p:cNvSpPr/>
          <p:nvPr/>
        </p:nvSpPr>
        <p:spPr>
          <a:xfrm>
            <a:off x="1325880" y="4901184"/>
            <a:ext cx="20116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Streaming stats</a:t>
            </a:r>
            <a:endParaRPr b="0" i="0" sz="1200" u="none" cap="none" strike="noStrike">
              <a:solidFill>
                <a:schemeClr val="dk1"/>
              </a:solidFill>
              <a:latin typeface="Calibri"/>
              <a:ea typeface="Calibri"/>
              <a:cs typeface="Calibri"/>
              <a:sym typeface="Calibri"/>
            </a:endParaRPr>
          </a:p>
        </p:txBody>
      </p:sp>
      <p:sp>
        <p:nvSpPr>
          <p:cNvPr id="457" name="Google Shape;457;p14"/>
          <p:cNvSpPr/>
          <p:nvPr/>
        </p:nvSpPr>
        <p:spPr>
          <a:xfrm>
            <a:off x="1325880" y="5175504"/>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50"/>
              <a:buFont typeface="Calibri"/>
              <a:buNone/>
            </a:pPr>
            <a:r>
              <a:rPr b="0" i="0" lang="en-US" sz="1050" u="none" cap="none" strike="noStrike">
                <a:solidFill>
                  <a:srgbClr val="6E7C72"/>
                </a:solidFill>
                <a:latin typeface="Calibri"/>
                <a:ea typeface="Calibri"/>
                <a:cs typeface="Calibri"/>
                <a:sym typeface="Calibri"/>
              </a:rPr>
              <a:t>RunningStats — no full-length buffers kept in RAM</a:t>
            </a:r>
            <a:endParaRPr b="0" i="0" sz="1050" u="none" cap="none" strike="noStrike">
              <a:solidFill>
                <a:schemeClr val="dk1"/>
              </a:solidFill>
              <a:latin typeface="Calibri"/>
              <a:ea typeface="Calibri"/>
              <a:cs typeface="Calibri"/>
              <a:sym typeface="Calibri"/>
            </a:endParaRPr>
          </a:p>
        </p:txBody>
      </p:sp>
      <p:sp>
        <p:nvSpPr>
          <p:cNvPr id="458" name="Google Shape;458;p14"/>
          <p:cNvSpPr/>
          <p:nvPr/>
        </p:nvSpPr>
        <p:spPr>
          <a:xfrm>
            <a:off x="6492240" y="1737360"/>
            <a:ext cx="5029200" cy="2331720"/>
          </a:xfrm>
          <a:prstGeom prst="roundRect">
            <a:avLst>
              <a:gd fmla="val 3529" name="adj"/>
            </a:avLst>
          </a:prstGeom>
          <a:solidFill>
            <a:srgbClr val="F7E9E5"/>
          </a:solidFill>
          <a:ln cap="flat" cmpd="sng" w="12700">
            <a:solidFill>
              <a:srgbClr val="F7E9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4"/>
          <p:cNvSpPr/>
          <p:nvPr/>
        </p:nvSpPr>
        <p:spPr>
          <a:xfrm>
            <a:off x="6720840" y="1938528"/>
            <a:ext cx="411480" cy="411480"/>
          </a:xfrm>
          <a:prstGeom prst="ellipse">
            <a:avLst/>
          </a:prstGeom>
          <a:solidFill>
            <a:srgbClr val="B4442E"/>
          </a:solidFill>
          <a:ln cap="flat" cmpd="sng" w="12700">
            <a:solidFill>
              <a:srgbClr val="B444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4"/>
          <p:cNvSpPr/>
          <p:nvPr/>
        </p:nvSpPr>
        <p:spPr>
          <a:xfrm>
            <a:off x="6720840" y="193852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61" name="Google Shape;461;p14"/>
          <p:cNvSpPr/>
          <p:nvPr/>
        </p:nvSpPr>
        <p:spPr>
          <a:xfrm>
            <a:off x="7269480" y="1965960"/>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442E"/>
              </a:buClr>
              <a:buSzPts val="1400"/>
              <a:buFont typeface="Calibri"/>
              <a:buNone/>
            </a:pPr>
            <a:r>
              <a:rPr b="1" i="0" lang="en-US" sz="1400" u="none" cap="none" strike="noStrike">
                <a:solidFill>
                  <a:srgbClr val="B4442E"/>
                </a:solidFill>
                <a:latin typeface="Calibri"/>
                <a:ea typeface="Calibri"/>
                <a:cs typeface="Calibri"/>
                <a:sym typeface="Calibri"/>
              </a:rPr>
              <a:t>The bug that cost me the most time</a:t>
            </a:r>
            <a:endParaRPr b="0" i="0" sz="1400" u="none" cap="none" strike="noStrike">
              <a:solidFill>
                <a:schemeClr val="dk1"/>
              </a:solidFill>
              <a:latin typeface="Calibri"/>
              <a:ea typeface="Calibri"/>
              <a:cs typeface="Calibri"/>
              <a:sym typeface="Calibri"/>
            </a:endParaRPr>
          </a:p>
        </p:txBody>
      </p:sp>
      <p:sp>
        <p:nvSpPr>
          <p:cNvPr id="462" name="Google Shape;462;p14"/>
          <p:cNvSpPr/>
          <p:nvPr/>
        </p:nvSpPr>
        <p:spPr>
          <a:xfrm>
            <a:off x="6720840" y="2468880"/>
            <a:ext cx="45720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150"/>
              <a:buFont typeface="Calibri"/>
              <a:buNone/>
            </a:pPr>
            <a:r>
              <a:rPr b="0" i="0" lang="en-US" sz="1150" u="none" cap="none" strike="noStrike">
                <a:solidFill>
                  <a:srgbClr val="18271E"/>
                </a:solidFill>
                <a:latin typeface="Calibri"/>
                <a:ea typeface="Calibri"/>
                <a:cs typeface="Calibri"/>
                <a:sym typeface="Calibri"/>
              </a:rPr>
              <a:t>librosa uses two different decibel references: an absolute one (ref = 1.0) inside mfcc(), and a window-relative one (ref = max) for the standalone mel block.</a:t>
            </a:r>
            <a:endParaRPr b="0" i="0" sz="1150" u="none" cap="none" strike="noStrike">
              <a:solidFill>
                <a:schemeClr val="dk1"/>
              </a:solidFill>
              <a:latin typeface="Calibri"/>
              <a:ea typeface="Calibri"/>
              <a:cs typeface="Calibri"/>
              <a:sym typeface="Calibri"/>
            </a:endParaRPr>
          </a:p>
        </p:txBody>
      </p:sp>
      <p:sp>
        <p:nvSpPr>
          <p:cNvPr id="463" name="Google Shape;463;p14"/>
          <p:cNvSpPr/>
          <p:nvPr/>
        </p:nvSpPr>
        <p:spPr>
          <a:xfrm>
            <a:off x="6720840" y="3200400"/>
            <a:ext cx="45720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442E"/>
              </a:buClr>
              <a:buSzPts val="1150"/>
              <a:buFont typeface="Calibri"/>
              <a:buNone/>
            </a:pPr>
            <a:r>
              <a:rPr b="1" i="0" lang="en-US" sz="1150" u="none" cap="none" strike="noStrike">
                <a:solidFill>
                  <a:srgbClr val="B4442E"/>
                </a:solidFill>
                <a:latin typeface="Calibri"/>
                <a:ea typeface="Calibri"/>
                <a:cs typeface="Calibri"/>
                <a:sym typeface="Calibri"/>
              </a:rPr>
              <a:t>I used the same one for both. The model returned a near-zero probability whatever I played at it — the model was fine, the features were not.</a:t>
            </a:r>
            <a:endParaRPr b="0" i="0" sz="1150" u="none" cap="none" strike="noStrike">
              <a:solidFill>
                <a:schemeClr val="dk1"/>
              </a:solidFill>
              <a:latin typeface="Calibri"/>
              <a:ea typeface="Calibri"/>
              <a:cs typeface="Calibri"/>
              <a:sym typeface="Calibri"/>
            </a:endParaRPr>
          </a:p>
        </p:txBody>
      </p:sp>
      <p:sp>
        <p:nvSpPr>
          <p:cNvPr id="464" name="Google Shape;464;p14"/>
          <p:cNvSpPr/>
          <p:nvPr/>
        </p:nvSpPr>
        <p:spPr>
          <a:xfrm>
            <a:off x="6492240" y="4251960"/>
            <a:ext cx="5029200" cy="1417320"/>
          </a:xfrm>
          <a:prstGeom prst="roundRect">
            <a:avLst>
              <a:gd fmla="val 5806"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4"/>
          <p:cNvSpPr/>
          <p:nvPr/>
        </p:nvSpPr>
        <p:spPr>
          <a:xfrm>
            <a:off x="6720840" y="4343400"/>
            <a:ext cx="4572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THE 194-VALUE LAYOUT</a:t>
            </a:r>
            <a:endParaRPr b="0" i="0" sz="1000" u="none" cap="none" strike="noStrike">
              <a:solidFill>
                <a:schemeClr val="dk1"/>
              </a:solidFill>
              <a:latin typeface="Calibri"/>
              <a:ea typeface="Calibri"/>
              <a:cs typeface="Calibri"/>
              <a:sym typeface="Calibri"/>
            </a:endParaRPr>
          </a:p>
        </p:txBody>
      </p:sp>
      <p:sp>
        <p:nvSpPr>
          <p:cNvPr id="466" name="Google Shape;466;p14"/>
          <p:cNvSpPr/>
          <p:nvPr/>
        </p:nvSpPr>
        <p:spPr>
          <a:xfrm>
            <a:off x="6720840" y="4645152"/>
            <a:ext cx="45720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100"/>
              <a:buFont typeface="Courier New"/>
              <a:buNone/>
            </a:pPr>
            <a:r>
              <a:rPr b="0" i="0" lang="en-US" sz="1100" u="none" cap="none" strike="noStrike">
                <a:solidFill>
                  <a:srgbClr val="2C5F2D"/>
                </a:solidFill>
                <a:latin typeface="Courier New"/>
                <a:ea typeface="Courier New"/>
                <a:cs typeface="Courier New"/>
                <a:sym typeface="Courier New"/>
              </a:rPr>
              <a:t>[ mfcc µ/σ ×20 ][ Δ ×20 ][ Δ² ×20 ]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5F2D"/>
              </a:buClr>
              <a:buSzPts val="1100"/>
              <a:buFont typeface="Courier New"/>
              <a:buNone/>
            </a:pPr>
            <a:r>
              <a:rPr b="0" i="0" lang="en-US" sz="1100" u="none" cap="none" strike="noStrike">
                <a:solidFill>
                  <a:srgbClr val="2C5F2D"/>
                </a:solidFill>
                <a:latin typeface="Courier New"/>
                <a:ea typeface="Courier New"/>
                <a:cs typeface="Courier New"/>
                <a:sym typeface="Courier New"/>
              </a:rPr>
              <a:t>[ mel µ/σ ×32 ][ centroid ][ bandwidth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5F2D"/>
              </a:buClr>
              <a:buSzPts val="1100"/>
              <a:buFont typeface="Courier New"/>
              <a:buNone/>
            </a:pPr>
            <a:r>
              <a:rPr b="0" i="0" lang="en-US" sz="1100" u="none" cap="none" strike="noStrike">
                <a:solidFill>
                  <a:srgbClr val="2C5F2D"/>
                </a:solidFill>
                <a:latin typeface="Courier New"/>
                <a:ea typeface="Courier New"/>
                <a:cs typeface="Courier New"/>
                <a:sym typeface="Courier New"/>
              </a:rPr>
              <a:t>[ rolloff ][ zcr ][ rms ]</a:t>
            </a:r>
            <a:endParaRPr b="0" i="0" sz="1100" u="none" cap="none" strike="noStrike">
              <a:solidFill>
                <a:schemeClr val="dk1"/>
              </a:solidFill>
              <a:latin typeface="Calibri"/>
              <a:ea typeface="Calibri"/>
              <a:cs typeface="Calibri"/>
              <a:sym typeface="Calibri"/>
            </a:endParaRPr>
          </a:p>
        </p:txBody>
      </p:sp>
      <p:sp>
        <p:nvSpPr>
          <p:cNvPr id="467" name="Google Shape;467;p14"/>
          <p:cNvSpPr/>
          <p:nvPr/>
        </p:nvSpPr>
        <p:spPr>
          <a:xfrm>
            <a:off x="594360" y="5760720"/>
            <a:ext cx="109270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200"/>
              <a:buFont typeface="Calibri"/>
              <a:buNone/>
            </a:pPr>
            <a:r>
              <a:rPr b="0" i="1" lang="en-US" sz="1200" u="none" cap="none" strike="noStrike">
                <a:solidFill>
                  <a:srgbClr val="2C5F2D"/>
                </a:solidFill>
                <a:latin typeface="Calibri"/>
                <a:ea typeface="Calibri"/>
                <a:cs typeface="Calibri"/>
                <a:sym typeface="Calibri"/>
              </a:rPr>
              <a:t>Lesson learned: in embedded machine learning, most bugs are not in the model — they are in feature parity between the training code and the device.</a:t>
            </a:r>
            <a:endParaRPr b="0" i="0" sz="1200" u="none" cap="none" strike="noStrike">
              <a:solidFill>
                <a:schemeClr val="dk1"/>
              </a:solidFill>
              <a:latin typeface="Calibri"/>
              <a:ea typeface="Calibri"/>
              <a:cs typeface="Calibri"/>
              <a:sym typeface="Calibri"/>
            </a:endParaRPr>
          </a:p>
        </p:txBody>
      </p:sp>
      <p:sp>
        <p:nvSpPr>
          <p:cNvPr id="468" name="Google Shape;468;p14"/>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12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3" name="Shape 473"/>
        <p:cNvGrpSpPr/>
        <p:nvPr/>
      </p:nvGrpSpPr>
      <p:grpSpPr>
        <a:xfrm>
          <a:off x="0" y="0"/>
          <a:ext cx="0" cy="0"/>
          <a:chOff x="0" y="0"/>
          <a:chExt cx="0" cy="0"/>
        </a:xfrm>
      </p:grpSpPr>
      <p:sp>
        <p:nvSpPr>
          <p:cNvPr id="474" name="Google Shape;474;p15"/>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MODULE 2 — FIRMWARE/</a:t>
            </a:r>
            <a:endParaRPr b="0" i="0" sz="1100" u="none" cap="none" strike="noStrike">
              <a:solidFill>
                <a:schemeClr val="dk1"/>
              </a:solidFill>
              <a:latin typeface="Calibri"/>
              <a:ea typeface="Calibri"/>
              <a:cs typeface="Calibri"/>
              <a:sym typeface="Calibri"/>
            </a:endParaRPr>
          </a:p>
        </p:txBody>
      </p:sp>
      <p:sp>
        <p:nvSpPr>
          <p:cNvPr id="475" name="Google Shape;475;p15"/>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3200"/>
              <a:buFont typeface="Cambria"/>
              <a:buNone/>
            </a:pPr>
            <a:r>
              <a:rPr b="1" i="0" lang="en-US" sz="3200" u="none" cap="none" strike="noStrike">
                <a:solidFill>
                  <a:srgbClr val="18271E"/>
                </a:solidFill>
                <a:latin typeface="Cambria"/>
                <a:ea typeface="Cambria"/>
                <a:cs typeface="Cambria"/>
                <a:sym typeface="Cambria"/>
              </a:rPr>
              <a:t>The real-time detection loop</a:t>
            </a:r>
            <a:endParaRPr b="0" i="0" sz="3200" u="none" cap="none" strike="noStrike">
              <a:solidFill>
                <a:schemeClr val="dk1"/>
              </a:solidFill>
              <a:latin typeface="Calibri"/>
              <a:ea typeface="Calibri"/>
              <a:cs typeface="Calibri"/>
              <a:sym typeface="Calibri"/>
            </a:endParaRPr>
          </a:p>
        </p:txBody>
      </p:sp>
      <p:sp>
        <p:nvSpPr>
          <p:cNvPr id="476" name="Google Shape;476;p15"/>
          <p:cNvSpPr/>
          <p:nvPr/>
        </p:nvSpPr>
        <p:spPr>
          <a:xfrm>
            <a:off x="594360" y="1143000"/>
            <a:ext cx="5029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SETUP </a:t>
            </a:r>
            <a:r>
              <a:rPr b="1" lang="en-US" sz="1000">
                <a:solidFill>
                  <a:srgbClr val="6E7C72"/>
                </a:solidFill>
                <a:latin typeface="Calibri"/>
                <a:ea typeface="Calibri"/>
                <a:cs typeface="Calibri"/>
                <a:sym typeface="Calibri"/>
              </a:rPr>
              <a:t>:</a:t>
            </a:r>
            <a:r>
              <a:rPr b="1" i="0" lang="en-US" sz="1000" u="none" cap="none" strike="noStrike">
                <a:solidFill>
                  <a:srgbClr val="6E7C72"/>
                </a:solidFill>
                <a:latin typeface="Calibri"/>
                <a:ea typeface="Calibri"/>
                <a:cs typeface="Calibri"/>
                <a:sym typeface="Calibri"/>
              </a:rPr>
              <a:t> once</a:t>
            </a:r>
            <a:endParaRPr b="0" i="0" sz="1000" u="none" cap="none" strike="noStrike">
              <a:solidFill>
                <a:schemeClr val="dk1"/>
              </a:solidFill>
              <a:latin typeface="Calibri"/>
              <a:ea typeface="Calibri"/>
              <a:cs typeface="Calibri"/>
              <a:sym typeface="Calibri"/>
            </a:endParaRPr>
          </a:p>
        </p:txBody>
      </p:sp>
      <p:sp>
        <p:nvSpPr>
          <p:cNvPr id="477" name="Google Shape;477;p15"/>
          <p:cNvSpPr/>
          <p:nvPr/>
        </p:nvSpPr>
        <p:spPr>
          <a:xfrm>
            <a:off x="594360" y="1463040"/>
            <a:ext cx="6583680" cy="658368"/>
          </a:xfrm>
          <a:prstGeom prst="roundRect">
            <a:avLst>
              <a:gd fmla="val 12500"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5"/>
          <p:cNvSpPr/>
          <p:nvPr/>
        </p:nvSpPr>
        <p:spPr>
          <a:xfrm>
            <a:off x="822960" y="1463040"/>
            <a:ext cx="62179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1150"/>
              <a:buFont typeface="Calibri"/>
              <a:buNone/>
            </a:pPr>
            <a:r>
              <a:rPr b="0" i="0" lang="en-US" sz="1150" u="none" cap="none" strike="noStrike">
                <a:solidFill>
                  <a:srgbClr val="18271E"/>
                </a:solidFill>
                <a:latin typeface="Calibri"/>
                <a:ea typeface="Calibri"/>
                <a:cs typeface="Calibri"/>
                <a:sym typeface="Calibri"/>
              </a:rPr>
              <a:t>Load the embedded model  →  build a MicroInterpreter over a 6 KiB tensor arena  →  AllocateTensors()  →  init microphone, DSP and watchdog</a:t>
            </a:r>
            <a:endParaRPr b="0" i="0" sz="1150" u="none" cap="none" strike="noStrike">
              <a:solidFill>
                <a:schemeClr val="dk1"/>
              </a:solidFill>
              <a:latin typeface="Calibri"/>
              <a:ea typeface="Calibri"/>
              <a:cs typeface="Calibri"/>
              <a:sym typeface="Calibri"/>
            </a:endParaRPr>
          </a:p>
        </p:txBody>
      </p:sp>
      <p:sp>
        <p:nvSpPr>
          <p:cNvPr id="479" name="Google Shape;479;p15"/>
          <p:cNvSpPr/>
          <p:nvPr/>
        </p:nvSpPr>
        <p:spPr>
          <a:xfrm>
            <a:off x="594360" y="2286000"/>
            <a:ext cx="5029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LOOP </a:t>
            </a:r>
            <a:r>
              <a:rPr b="1" lang="en-US" sz="1000">
                <a:solidFill>
                  <a:srgbClr val="6E7C72"/>
                </a:solidFill>
                <a:latin typeface="Calibri"/>
                <a:ea typeface="Calibri"/>
                <a:cs typeface="Calibri"/>
                <a:sym typeface="Calibri"/>
              </a:rPr>
              <a:t>:</a:t>
            </a:r>
            <a:r>
              <a:rPr b="1" i="0" lang="en-US" sz="1000" u="none" cap="none" strike="noStrike">
                <a:solidFill>
                  <a:srgbClr val="6E7C72"/>
                </a:solidFill>
                <a:latin typeface="Calibri"/>
                <a:ea typeface="Calibri"/>
                <a:cs typeface="Calibri"/>
                <a:sym typeface="Calibri"/>
              </a:rPr>
              <a:t> roughly once per second, forever</a:t>
            </a:r>
            <a:endParaRPr b="0" i="0" sz="1000" u="none" cap="none" strike="noStrike">
              <a:solidFill>
                <a:schemeClr val="dk1"/>
              </a:solidFill>
              <a:latin typeface="Calibri"/>
              <a:ea typeface="Calibri"/>
              <a:cs typeface="Calibri"/>
              <a:sym typeface="Calibri"/>
            </a:endParaRPr>
          </a:p>
        </p:txBody>
      </p:sp>
      <p:sp>
        <p:nvSpPr>
          <p:cNvPr id="480" name="Google Shape;480;p15"/>
          <p:cNvSpPr/>
          <p:nvPr/>
        </p:nvSpPr>
        <p:spPr>
          <a:xfrm>
            <a:off x="594360" y="2606040"/>
            <a:ext cx="6583680" cy="685800"/>
          </a:xfrm>
          <a:prstGeom prst="roundRect">
            <a:avLst>
              <a:gd fmla="val 120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5"/>
          <p:cNvSpPr/>
          <p:nvPr/>
        </p:nvSpPr>
        <p:spPr>
          <a:xfrm>
            <a:off x="795528" y="2752344"/>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5"/>
          <p:cNvSpPr/>
          <p:nvPr/>
        </p:nvSpPr>
        <p:spPr>
          <a:xfrm>
            <a:off x="795528" y="275234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483" name="Google Shape;483;p15"/>
          <p:cNvSpPr/>
          <p:nvPr/>
        </p:nvSpPr>
        <p:spPr>
          <a:xfrm>
            <a:off x="1344168" y="2660904"/>
            <a:ext cx="1554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Sliding window</a:t>
            </a:r>
            <a:endParaRPr b="0" i="0" sz="1200" u="none" cap="none" strike="noStrike">
              <a:solidFill>
                <a:schemeClr val="dk1"/>
              </a:solidFill>
              <a:latin typeface="Calibri"/>
              <a:ea typeface="Calibri"/>
              <a:cs typeface="Calibri"/>
              <a:sym typeface="Calibri"/>
            </a:endParaRPr>
          </a:p>
        </p:txBody>
      </p:sp>
      <p:sp>
        <p:nvSpPr>
          <p:cNvPr id="484" name="Google Shape;484;p15"/>
          <p:cNvSpPr/>
          <p:nvPr/>
        </p:nvSpPr>
        <p:spPr>
          <a:xfrm>
            <a:off x="2926080" y="2660904"/>
            <a:ext cx="411480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050"/>
              <a:buFont typeface="Calibri"/>
              <a:buNone/>
            </a:pPr>
            <a:r>
              <a:rPr b="0" i="0" lang="en-US" sz="1050" u="none" cap="none" strike="noStrike">
                <a:solidFill>
                  <a:srgbClr val="18271E"/>
                </a:solidFill>
                <a:latin typeface="Calibri"/>
                <a:ea typeface="Calibri"/>
                <a:cs typeface="Calibri"/>
                <a:sym typeface="Calibri"/>
              </a:rPr>
              <a:t>The first pass records a full 2 s; every pass after that shifts the buffer left by 1 s and only records the newest second.</a:t>
            </a:r>
            <a:endParaRPr b="0" i="0" sz="1050" u="none" cap="none" strike="noStrike">
              <a:solidFill>
                <a:schemeClr val="dk1"/>
              </a:solidFill>
              <a:latin typeface="Calibri"/>
              <a:ea typeface="Calibri"/>
              <a:cs typeface="Calibri"/>
              <a:sym typeface="Calibri"/>
            </a:endParaRPr>
          </a:p>
        </p:txBody>
      </p:sp>
      <p:sp>
        <p:nvSpPr>
          <p:cNvPr id="485" name="Google Shape;485;p15"/>
          <p:cNvSpPr/>
          <p:nvPr/>
        </p:nvSpPr>
        <p:spPr>
          <a:xfrm>
            <a:off x="594360" y="3410712"/>
            <a:ext cx="6583680" cy="685800"/>
          </a:xfrm>
          <a:prstGeom prst="roundRect">
            <a:avLst>
              <a:gd fmla="val 120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5"/>
          <p:cNvSpPr/>
          <p:nvPr/>
        </p:nvSpPr>
        <p:spPr>
          <a:xfrm>
            <a:off x="795528" y="3557016"/>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5"/>
          <p:cNvSpPr/>
          <p:nvPr/>
        </p:nvSpPr>
        <p:spPr>
          <a:xfrm>
            <a:off x="795528" y="355701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488" name="Google Shape;488;p15"/>
          <p:cNvSpPr/>
          <p:nvPr/>
        </p:nvSpPr>
        <p:spPr>
          <a:xfrm>
            <a:off x="1344168" y="3465576"/>
            <a:ext cx="1554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Features</a:t>
            </a:r>
            <a:endParaRPr b="0" i="0" sz="1200" u="none" cap="none" strike="noStrike">
              <a:solidFill>
                <a:schemeClr val="dk1"/>
              </a:solidFill>
              <a:latin typeface="Calibri"/>
              <a:ea typeface="Calibri"/>
              <a:cs typeface="Calibri"/>
              <a:sym typeface="Calibri"/>
            </a:endParaRPr>
          </a:p>
        </p:txBody>
      </p:sp>
      <p:sp>
        <p:nvSpPr>
          <p:cNvPr id="489" name="Google Shape;489;p15"/>
          <p:cNvSpPr/>
          <p:nvPr/>
        </p:nvSpPr>
        <p:spPr>
          <a:xfrm>
            <a:off x="2926080" y="3465576"/>
            <a:ext cx="411480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050"/>
              <a:buFont typeface="Calibri"/>
              <a:buNone/>
            </a:pPr>
            <a:r>
              <a:rPr b="0" i="0" lang="en-US" sz="1050" u="none" cap="none" strike="noStrike">
                <a:solidFill>
                  <a:srgbClr val="18271E"/>
                </a:solidFill>
                <a:latin typeface="Calibri"/>
                <a:ea typeface="Calibri"/>
                <a:cs typeface="Calibri"/>
                <a:sym typeface="Calibri"/>
              </a:rPr>
              <a:t>16,000 int16 samples → 194 floats → copied into the input tensor.</a:t>
            </a:r>
            <a:endParaRPr b="0" i="0" sz="1050" u="none" cap="none" strike="noStrike">
              <a:solidFill>
                <a:schemeClr val="dk1"/>
              </a:solidFill>
              <a:latin typeface="Calibri"/>
              <a:ea typeface="Calibri"/>
              <a:cs typeface="Calibri"/>
              <a:sym typeface="Calibri"/>
            </a:endParaRPr>
          </a:p>
        </p:txBody>
      </p:sp>
      <p:sp>
        <p:nvSpPr>
          <p:cNvPr id="490" name="Google Shape;490;p15"/>
          <p:cNvSpPr/>
          <p:nvPr/>
        </p:nvSpPr>
        <p:spPr>
          <a:xfrm>
            <a:off x="594360" y="4215384"/>
            <a:ext cx="6583680" cy="685800"/>
          </a:xfrm>
          <a:prstGeom prst="roundRect">
            <a:avLst>
              <a:gd fmla="val 120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5"/>
          <p:cNvSpPr/>
          <p:nvPr/>
        </p:nvSpPr>
        <p:spPr>
          <a:xfrm>
            <a:off x="795528" y="4361688"/>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5"/>
          <p:cNvSpPr/>
          <p:nvPr/>
        </p:nvSpPr>
        <p:spPr>
          <a:xfrm>
            <a:off x="795528" y="43616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493" name="Google Shape;493;p15"/>
          <p:cNvSpPr/>
          <p:nvPr/>
        </p:nvSpPr>
        <p:spPr>
          <a:xfrm>
            <a:off x="1344168" y="4270248"/>
            <a:ext cx="1554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Inference</a:t>
            </a:r>
            <a:endParaRPr b="0" i="0" sz="1200" u="none" cap="none" strike="noStrike">
              <a:solidFill>
                <a:schemeClr val="dk1"/>
              </a:solidFill>
              <a:latin typeface="Calibri"/>
              <a:ea typeface="Calibri"/>
              <a:cs typeface="Calibri"/>
              <a:sym typeface="Calibri"/>
            </a:endParaRPr>
          </a:p>
        </p:txBody>
      </p:sp>
      <p:sp>
        <p:nvSpPr>
          <p:cNvPr id="494" name="Google Shape;494;p15"/>
          <p:cNvSpPr/>
          <p:nvPr/>
        </p:nvSpPr>
        <p:spPr>
          <a:xfrm>
            <a:off x="2926080" y="4270248"/>
            <a:ext cx="411480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050"/>
              <a:buFont typeface="Calibri"/>
              <a:buNone/>
            </a:pPr>
            <a:r>
              <a:rPr b="0" i="0" lang="en-US" sz="1050" u="none" cap="none" strike="noStrike">
                <a:solidFill>
                  <a:srgbClr val="18271E"/>
                </a:solidFill>
                <a:latin typeface="Calibri"/>
                <a:ea typeface="Calibri"/>
                <a:cs typeface="Calibri"/>
                <a:sym typeface="Calibri"/>
              </a:rPr>
              <a:t>interpreter-&gt;Invoke() → one probability.</a:t>
            </a:r>
            <a:endParaRPr b="0" i="0" sz="1050" u="none" cap="none" strike="noStrike">
              <a:solidFill>
                <a:schemeClr val="dk1"/>
              </a:solidFill>
              <a:latin typeface="Calibri"/>
              <a:ea typeface="Calibri"/>
              <a:cs typeface="Calibri"/>
              <a:sym typeface="Calibri"/>
            </a:endParaRPr>
          </a:p>
        </p:txBody>
      </p:sp>
      <p:sp>
        <p:nvSpPr>
          <p:cNvPr id="495" name="Google Shape;495;p15"/>
          <p:cNvSpPr/>
          <p:nvPr/>
        </p:nvSpPr>
        <p:spPr>
          <a:xfrm>
            <a:off x="594360" y="5020056"/>
            <a:ext cx="6583680" cy="685800"/>
          </a:xfrm>
          <a:prstGeom prst="roundRect">
            <a:avLst>
              <a:gd fmla="val 12000"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5"/>
          <p:cNvSpPr/>
          <p:nvPr/>
        </p:nvSpPr>
        <p:spPr>
          <a:xfrm>
            <a:off x="795528" y="5166360"/>
            <a:ext cx="384048" cy="384048"/>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5"/>
          <p:cNvSpPr/>
          <p:nvPr/>
        </p:nvSpPr>
        <p:spPr>
          <a:xfrm>
            <a:off x="795528" y="51663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498" name="Google Shape;498;p15"/>
          <p:cNvSpPr/>
          <p:nvPr/>
        </p:nvSpPr>
        <p:spPr>
          <a:xfrm>
            <a:off x="1344168" y="5074920"/>
            <a:ext cx="1554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00"/>
              <a:buFont typeface="Calibri"/>
              <a:buNone/>
            </a:pPr>
            <a:r>
              <a:rPr b="1" i="0" lang="en-US" sz="1200" u="none" cap="none" strike="noStrike">
                <a:solidFill>
                  <a:srgbClr val="18271E"/>
                </a:solidFill>
                <a:latin typeface="Calibri"/>
                <a:ea typeface="Calibri"/>
                <a:cs typeface="Calibri"/>
                <a:sym typeface="Calibri"/>
              </a:rPr>
              <a:t>Decision</a:t>
            </a:r>
            <a:endParaRPr b="0" i="0" sz="1200" u="none" cap="none" strike="noStrike">
              <a:solidFill>
                <a:schemeClr val="dk1"/>
              </a:solidFill>
              <a:latin typeface="Calibri"/>
              <a:ea typeface="Calibri"/>
              <a:cs typeface="Calibri"/>
              <a:sym typeface="Calibri"/>
            </a:endParaRPr>
          </a:p>
        </p:txBody>
      </p:sp>
      <p:sp>
        <p:nvSpPr>
          <p:cNvPr id="499" name="Google Shape;499;p15"/>
          <p:cNvSpPr/>
          <p:nvPr/>
        </p:nvSpPr>
        <p:spPr>
          <a:xfrm>
            <a:off x="2926080" y="5074920"/>
            <a:ext cx="411480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050"/>
              <a:buFont typeface="Calibri"/>
              <a:buNone/>
            </a:pPr>
            <a:r>
              <a:rPr b="0" i="0" lang="en-US" sz="1050" u="none" cap="none" strike="noStrike">
                <a:solidFill>
                  <a:srgbClr val="18271E"/>
                </a:solidFill>
                <a:latin typeface="Calibri"/>
                <a:ea typeface="Calibri"/>
                <a:cs typeface="Calibri"/>
                <a:sym typeface="Calibri"/>
              </a:rPr>
              <a:t>The probability goes through a debounce / hysteresis state machine before anything is raised.</a:t>
            </a:r>
            <a:endParaRPr b="0" i="0" sz="1050" u="none" cap="none" strike="noStrike">
              <a:solidFill>
                <a:schemeClr val="dk1"/>
              </a:solidFill>
              <a:latin typeface="Calibri"/>
              <a:ea typeface="Calibri"/>
              <a:cs typeface="Calibri"/>
              <a:sym typeface="Calibri"/>
            </a:endParaRPr>
          </a:p>
        </p:txBody>
      </p:sp>
      <p:sp>
        <p:nvSpPr>
          <p:cNvPr id="500" name="Google Shape;500;p15"/>
          <p:cNvSpPr/>
          <p:nvPr/>
        </p:nvSpPr>
        <p:spPr>
          <a:xfrm>
            <a:off x="594360" y="5852160"/>
            <a:ext cx="65836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150"/>
              <a:buFont typeface="Calibri"/>
              <a:buNone/>
            </a:pPr>
            <a:r>
              <a:rPr b="0" i="1" lang="en-US" sz="1150" u="none" cap="none" strike="noStrike">
                <a:solidFill>
                  <a:srgbClr val="2C5F2D"/>
                </a:solidFill>
                <a:latin typeface="Calibri"/>
                <a:ea typeface="Calibri"/>
                <a:cs typeface="Calibri"/>
                <a:sym typeface="Calibri"/>
              </a:rPr>
              <a:t>Inference every second instead of every two → worst-case detection latency halved.</a:t>
            </a:r>
            <a:endParaRPr b="0" i="0" sz="1150" u="none" cap="none" strike="noStrike">
              <a:solidFill>
                <a:schemeClr val="dk1"/>
              </a:solidFill>
              <a:latin typeface="Calibri"/>
              <a:ea typeface="Calibri"/>
              <a:cs typeface="Calibri"/>
              <a:sym typeface="Calibri"/>
            </a:endParaRPr>
          </a:p>
        </p:txBody>
      </p:sp>
      <p:sp>
        <p:nvSpPr>
          <p:cNvPr id="501" name="Google Shape;501;p15"/>
          <p:cNvSpPr/>
          <p:nvPr/>
        </p:nvSpPr>
        <p:spPr>
          <a:xfrm>
            <a:off x="7498080" y="1143000"/>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DETECTION BEHAVIOUR </a:t>
            </a:r>
            <a:r>
              <a:rPr b="1" lang="en-US" sz="1000">
                <a:solidFill>
                  <a:srgbClr val="6E7C72"/>
                </a:solidFill>
                <a:latin typeface="Calibri"/>
                <a:ea typeface="Calibri"/>
                <a:cs typeface="Calibri"/>
                <a:sym typeface="Calibri"/>
              </a:rPr>
              <a:t>:</a:t>
            </a:r>
            <a:r>
              <a:rPr b="1" i="0" lang="en-US" sz="1000" u="none" cap="none" strike="noStrike">
                <a:solidFill>
                  <a:srgbClr val="6E7C72"/>
                </a:solidFill>
                <a:latin typeface="Calibri"/>
                <a:ea typeface="Calibri"/>
                <a:cs typeface="Calibri"/>
                <a:sym typeface="Calibri"/>
              </a:rPr>
              <a:t> </a:t>
            </a:r>
            <a:r>
              <a:rPr b="1" i="0" lang="en-US" sz="1300" u="none" cap="none" strike="noStrike">
                <a:solidFill>
                  <a:srgbClr val="6E7C72"/>
                </a:solidFill>
                <a:latin typeface="Calibri"/>
                <a:ea typeface="Calibri"/>
                <a:cs typeface="Calibri"/>
                <a:sym typeface="Calibri"/>
              </a:rPr>
              <a:t>board_config.h</a:t>
            </a:r>
            <a:endParaRPr b="1" i="0" sz="1300" u="none" cap="none" strike="noStrike">
              <a:solidFill>
                <a:schemeClr val="dk1"/>
              </a:solidFill>
              <a:latin typeface="Calibri"/>
              <a:ea typeface="Calibri"/>
              <a:cs typeface="Calibri"/>
              <a:sym typeface="Calibri"/>
            </a:endParaRPr>
          </a:p>
        </p:txBody>
      </p:sp>
      <p:sp>
        <p:nvSpPr>
          <p:cNvPr id="502" name="Google Shape;502;p15"/>
          <p:cNvSpPr/>
          <p:nvPr/>
        </p:nvSpPr>
        <p:spPr>
          <a:xfrm>
            <a:off x="7498080" y="1463040"/>
            <a:ext cx="4041648" cy="841248"/>
          </a:xfrm>
          <a:prstGeom prst="roundRect">
            <a:avLst>
              <a:gd fmla="val 9783"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5"/>
          <p:cNvSpPr/>
          <p:nvPr/>
        </p:nvSpPr>
        <p:spPr>
          <a:xfrm>
            <a:off x="7635240" y="1517904"/>
            <a:ext cx="9144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E09A2B"/>
              </a:buClr>
              <a:buSzPts val="1900"/>
              <a:buFont typeface="Cambria"/>
              <a:buNone/>
            </a:pPr>
            <a:r>
              <a:rPr b="1" i="0" lang="en-US" sz="1900" u="none" cap="none" strike="noStrike">
                <a:solidFill>
                  <a:srgbClr val="E09A2B"/>
                </a:solidFill>
                <a:latin typeface="Cambria"/>
                <a:ea typeface="Cambria"/>
                <a:cs typeface="Cambria"/>
                <a:sym typeface="Cambria"/>
              </a:rPr>
              <a:t>0.65</a:t>
            </a:r>
            <a:endParaRPr b="0" i="0" sz="1900" u="none" cap="none" strike="noStrike">
              <a:solidFill>
                <a:schemeClr val="dk1"/>
              </a:solidFill>
              <a:latin typeface="Calibri"/>
              <a:ea typeface="Calibri"/>
              <a:cs typeface="Calibri"/>
              <a:sym typeface="Calibri"/>
            </a:endParaRPr>
          </a:p>
        </p:txBody>
      </p:sp>
      <p:sp>
        <p:nvSpPr>
          <p:cNvPr id="504" name="Google Shape;504;p15"/>
          <p:cNvSpPr/>
          <p:nvPr/>
        </p:nvSpPr>
        <p:spPr>
          <a:xfrm>
            <a:off x="8595360" y="1554480"/>
            <a:ext cx="28346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050"/>
              <a:buFont typeface="Courier New"/>
              <a:buNone/>
            </a:pPr>
            <a:r>
              <a:rPr b="1" i="0" lang="en-US" sz="1050" u="none" cap="none" strike="noStrike">
                <a:solidFill>
                  <a:srgbClr val="18271E"/>
                </a:solidFill>
                <a:latin typeface="Courier New"/>
                <a:ea typeface="Courier New"/>
                <a:cs typeface="Courier New"/>
                <a:sym typeface="Courier New"/>
              </a:rPr>
              <a:t>kDetectionEnterThreshold</a:t>
            </a:r>
            <a:endParaRPr b="0" i="0" sz="1050" u="none" cap="none" strike="noStrike">
              <a:solidFill>
                <a:schemeClr val="dk1"/>
              </a:solidFill>
              <a:latin typeface="Calibri"/>
              <a:ea typeface="Calibri"/>
              <a:cs typeface="Calibri"/>
              <a:sym typeface="Calibri"/>
            </a:endParaRPr>
          </a:p>
        </p:txBody>
      </p:sp>
      <p:sp>
        <p:nvSpPr>
          <p:cNvPr id="505" name="Google Shape;505;p15"/>
          <p:cNvSpPr/>
          <p:nvPr/>
        </p:nvSpPr>
        <p:spPr>
          <a:xfrm>
            <a:off x="8595360" y="1810512"/>
            <a:ext cx="2834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probability needed to start counting</a:t>
            </a:r>
            <a:endParaRPr b="0" i="0" sz="1000" u="none" cap="none" strike="noStrike">
              <a:solidFill>
                <a:schemeClr val="dk1"/>
              </a:solidFill>
              <a:latin typeface="Calibri"/>
              <a:ea typeface="Calibri"/>
              <a:cs typeface="Calibri"/>
              <a:sym typeface="Calibri"/>
            </a:endParaRPr>
          </a:p>
        </p:txBody>
      </p:sp>
      <p:sp>
        <p:nvSpPr>
          <p:cNvPr id="506" name="Google Shape;506;p15"/>
          <p:cNvSpPr/>
          <p:nvPr/>
        </p:nvSpPr>
        <p:spPr>
          <a:xfrm>
            <a:off x="7498080" y="2423160"/>
            <a:ext cx="4041648" cy="841248"/>
          </a:xfrm>
          <a:prstGeom prst="roundRect">
            <a:avLst>
              <a:gd fmla="val 9783"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5"/>
          <p:cNvSpPr/>
          <p:nvPr/>
        </p:nvSpPr>
        <p:spPr>
          <a:xfrm>
            <a:off x="7635240" y="2478024"/>
            <a:ext cx="9144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5F2D"/>
              </a:buClr>
              <a:buSzPts val="1900"/>
              <a:buFont typeface="Cambria"/>
              <a:buNone/>
            </a:pPr>
            <a:r>
              <a:rPr b="1" i="0" lang="en-US" sz="1900" u="none" cap="none" strike="noStrike">
                <a:solidFill>
                  <a:srgbClr val="2C5F2D"/>
                </a:solidFill>
                <a:latin typeface="Cambria"/>
                <a:ea typeface="Cambria"/>
                <a:cs typeface="Cambria"/>
                <a:sym typeface="Cambria"/>
              </a:rPr>
              <a:t>2</a:t>
            </a:r>
            <a:endParaRPr b="0" i="0" sz="1900" u="none" cap="none" strike="noStrike">
              <a:solidFill>
                <a:schemeClr val="dk1"/>
              </a:solidFill>
              <a:latin typeface="Calibri"/>
              <a:ea typeface="Calibri"/>
              <a:cs typeface="Calibri"/>
              <a:sym typeface="Calibri"/>
            </a:endParaRPr>
          </a:p>
        </p:txBody>
      </p:sp>
      <p:sp>
        <p:nvSpPr>
          <p:cNvPr id="508" name="Google Shape;508;p15"/>
          <p:cNvSpPr/>
          <p:nvPr/>
        </p:nvSpPr>
        <p:spPr>
          <a:xfrm>
            <a:off x="8595360" y="2514600"/>
            <a:ext cx="28346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050"/>
              <a:buFont typeface="Courier New"/>
              <a:buNone/>
            </a:pPr>
            <a:r>
              <a:rPr b="1" i="0" lang="en-US" sz="1050" u="none" cap="none" strike="noStrike">
                <a:solidFill>
                  <a:srgbClr val="18271E"/>
                </a:solidFill>
                <a:latin typeface="Courier New"/>
                <a:ea typeface="Courier New"/>
                <a:cs typeface="Courier New"/>
                <a:sym typeface="Courier New"/>
              </a:rPr>
              <a:t>kDetectionConsecutiveFrames</a:t>
            </a:r>
            <a:endParaRPr b="0" i="0" sz="1050" u="none" cap="none" strike="noStrike">
              <a:solidFill>
                <a:schemeClr val="dk1"/>
              </a:solidFill>
              <a:latin typeface="Calibri"/>
              <a:ea typeface="Calibri"/>
              <a:cs typeface="Calibri"/>
              <a:sym typeface="Calibri"/>
            </a:endParaRPr>
          </a:p>
        </p:txBody>
      </p:sp>
      <p:sp>
        <p:nvSpPr>
          <p:cNvPr id="509" name="Google Shape;509;p15"/>
          <p:cNvSpPr/>
          <p:nvPr/>
        </p:nvSpPr>
        <p:spPr>
          <a:xfrm>
            <a:off x="8595360" y="2770632"/>
            <a:ext cx="2834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consecutive windows to confirm</a:t>
            </a:r>
            <a:endParaRPr b="0" i="0" sz="1000" u="none" cap="none" strike="noStrike">
              <a:solidFill>
                <a:schemeClr val="dk1"/>
              </a:solidFill>
              <a:latin typeface="Calibri"/>
              <a:ea typeface="Calibri"/>
              <a:cs typeface="Calibri"/>
              <a:sym typeface="Calibri"/>
            </a:endParaRPr>
          </a:p>
        </p:txBody>
      </p:sp>
      <p:sp>
        <p:nvSpPr>
          <p:cNvPr id="510" name="Google Shape;510;p15"/>
          <p:cNvSpPr/>
          <p:nvPr/>
        </p:nvSpPr>
        <p:spPr>
          <a:xfrm>
            <a:off x="7498080" y="3383280"/>
            <a:ext cx="4041648" cy="841248"/>
          </a:xfrm>
          <a:prstGeom prst="roundRect">
            <a:avLst>
              <a:gd fmla="val 9783"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5"/>
          <p:cNvSpPr/>
          <p:nvPr/>
        </p:nvSpPr>
        <p:spPr>
          <a:xfrm>
            <a:off x="7635240" y="3438144"/>
            <a:ext cx="9144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7BC62"/>
              </a:buClr>
              <a:buSzPts val="1900"/>
              <a:buFont typeface="Cambria"/>
              <a:buNone/>
            </a:pPr>
            <a:r>
              <a:rPr b="1" i="0" lang="en-US" sz="1900" u="none" cap="none" strike="noStrike">
                <a:solidFill>
                  <a:srgbClr val="97BC62"/>
                </a:solidFill>
                <a:latin typeface="Cambria"/>
                <a:ea typeface="Cambria"/>
                <a:cs typeface="Cambria"/>
                <a:sym typeface="Cambria"/>
              </a:rPr>
              <a:t>0.35</a:t>
            </a:r>
            <a:endParaRPr b="0" i="0" sz="1900" u="none" cap="none" strike="noStrike">
              <a:solidFill>
                <a:schemeClr val="dk1"/>
              </a:solidFill>
              <a:latin typeface="Calibri"/>
              <a:ea typeface="Calibri"/>
              <a:cs typeface="Calibri"/>
              <a:sym typeface="Calibri"/>
            </a:endParaRPr>
          </a:p>
        </p:txBody>
      </p:sp>
      <p:sp>
        <p:nvSpPr>
          <p:cNvPr id="512" name="Google Shape;512;p15"/>
          <p:cNvSpPr/>
          <p:nvPr/>
        </p:nvSpPr>
        <p:spPr>
          <a:xfrm>
            <a:off x="8595360" y="3474720"/>
            <a:ext cx="28346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050"/>
              <a:buFont typeface="Courier New"/>
              <a:buNone/>
            </a:pPr>
            <a:r>
              <a:rPr b="1" i="0" lang="en-US" sz="1050" u="none" cap="none" strike="noStrike">
                <a:solidFill>
                  <a:srgbClr val="18271E"/>
                </a:solidFill>
                <a:latin typeface="Courier New"/>
                <a:ea typeface="Courier New"/>
                <a:cs typeface="Courier New"/>
                <a:sym typeface="Courier New"/>
              </a:rPr>
              <a:t>kDetectionExitThreshold</a:t>
            </a:r>
            <a:endParaRPr b="0" i="0" sz="1050" u="none" cap="none" strike="noStrike">
              <a:solidFill>
                <a:schemeClr val="dk1"/>
              </a:solidFill>
              <a:latin typeface="Calibri"/>
              <a:ea typeface="Calibri"/>
              <a:cs typeface="Calibri"/>
              <a:sym typeface="Calibri"/>
            </a:endParaRPr>
          </a:p>
        </p:txBody>
      </p:sp>
      <p:sp>
        <p:nvSpPr>
          <p:cNvPr id="513" name="Google Shape;513;p15"/>
          <p:cNvSpPr/>
          <p:nvPr/>
        </p:nvSpPr>
        <p:spPr>
          <a:xfrm>
            <a:off x="8595360" y="3730752"/>
            <a:ext cx="2834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probability must fall below this to clear</a:t>
            </a:r>
            <a:endParaRPr b="0" i="0" sz="1000" u="none" cap="none" strike="noStrike">
              <a:solidFill>
                <a:schemeClr val="dk1"/>
              </a:solidFill>
              <a:latin typeface="Calibri"/>
              <a:ea typeface="Calibri"/>
              <a:cs typeface="Calibri"/>
              <a:sym typeface="Calibri"/>
            </a:endParaRPr>
          </a:p>
        </p:txBody>
      </p:sp>
      <p:sp>
        <p:nvSpPr>
          <p:cNvPr id="514" name="Google Shape;514;p15"/>
          <p:cNvSpPr/>
          <p:nvPr/>
        </p:nvSpPr>
        <p:spPr>
          <a:xfrm>
            <a:off x="7498080" y="4343400"/>
            <a:ext cx="4041648" cy="841248"/>
          </a:xfrm>
          <a:prstGeom prst="roundRect">
            <a:avLst>
              <a:gd fmla="val 9783"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5"/>
          <p:cNvSpPr/>
          <p:nvPr/>
        </p:nvSpPr>
        <p:spPr>
          <a:xfrm>
            <a:off x="7635240" y="4398264"/>
            <a:ext cx="9144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E7C72"/>
              </a:buClr>
              <a:buSzPts val="1900"/>
              <a:buFont typeface="Cambria"/>
              <a:buNone/>
            </a:pPr>
            <a:r>
              <a:rPr b="1" i="0" lang="en-US" sz="1900" u="none" cap="none" strike="noStrike">
                <a:solidFill>
                  <a:srgbClr val="6E7C72"/>
                </a:solidFill>
                <a:latin typeface="Cambria"/>
                <a:ea typeface="Cambria"/>
                <a:cs typeface="Cambria"/>
                <a:sym typeface="Cambria"/>
              </a:rPr>
              <a:t>10 s</a:t>
            </a:r>
            <a:endParaRPr b="0" i="0" sz="1900" u="none" cap="none" strike="noStrike">
              <a:solidFill>
                <a:schemeClr val="dk1"/>
              </a:solidFill>
              <a:latin typeface="Calibri"/>
              <a:ea typeface="Calibri"/>
              <a:cs typeface="Calibri"/>
              <a:sym typeface="Calibri"/>
            </a:endParaRPr>
          </a:p>
        </p:txBody>
      </p:sp>
      <p:sp>
        <p:nvSpPr>
          <p:cNvPr id="516" name="Google Shape;516;p15"/>
          <p:cNvSpPr/>
          <p:nvPr/>
        </p:nvSpPr>
        <p:spPr>
          <a:xfrm>
            <a:off x="8595360" y="4434840"/>
            <a:ext cx="28346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050"/>
              <a:buFont typeface="Courier New"/>
              <a:buNone/>
            </a:pPr>
            <a:r>
              <a:rPr b="1" i="0" lang="en-US" sz="1050" u="none" cap="none" strike="noStrike">
                <a:solidFill>
                  <a:srgbClr val="18271E"/>
                </a:solidFill>
                <a:latin typeface="Courier New"/>
                <a:ea typeface="Courier New"/>
                <a:cs typeface="Courier New"/>
                <a:sym typeface="Courier New"/>
              </a:rPr>
              <a:t>kWatchdogTimeoutSeconds</a:t>
            </a:r>
            <a:endParaRPr b="0" i="0" sz="1050" u="none" cap="none" strike="noStrike">
              <a:solidFill>
                <a:schemeClr val="dk1"/>
              </a:solidFill>
              <a:latin typeface="Calibri"/>
              <a:ea typeface="Calibri"/>
              <a:cs typeface="Calibri"/>
              <a:sym typeface="Calibri"/>
            </a:endParaRPr>
          </a:p>
        </p:txBody>
      </p:sp>
      <p:sp>
        <p:nvSpPr>
          <p:cNvPr id="517" name="Google Shape;517;p15"/>
          <p:cNvSpPr/>
          <p:nvPr/>
        </p:nvSpPr>
        <p:spPr>
          <a:xfrm>
            <a:off x="8595360" y="4690872"/>
            <a:ext cx="2834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the board reboots if the loop hangs</a:t>
            </a:r>
            <a:endParaRPr b="0" i="0" sz="1000" u="none" cap="none" strike="noStrike">
              <a:solidFill>
                <a:schemeClr val="dk1"/>
              </a:solidFill>
              <a:latin typeface="Calibri"/>
              <a:ea typeface="Calibri"/>
              <a:cs typeface="Calibri"/>
              <a:sym typeface="Calibri"/>
            </a:endParaRPr>
          </a:p>
        </p:txBody>
      </p:sp>
      <p:sp>
        <p:nvSpPr>
          <p:cNvPr id="518" name="Google Shape;518;p15"/>
          <p:cNvSpPr/>
          <p:nvPr/>
        </p:nvSpPr>
        <p:spPr>
          <a:xfrm>
            <a:off x="7498080" y="5349240"/>
            <a:ext cx="4041648" cy="777240"/>
          </a:xfrm>
          <a:prstGeom prst="roundRect">
            <a:avLst>
              <a:gd fmla="val 10588" name="adj"/>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5"/>
          <p:cNvSpPr/>
          <p:nvPr/>
        </p:nvSpPr>
        <p:spPr>
          <a:xfrm>
            <a:off x="7680960" y="5349240"/>
            <a:ext cx="3675888"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Two thresholds, not one: hysteresis stops the verdict from flickering when the signal hovers at the boundary.</a:t>
            </a:r>
            <a:endParaRPr b="0" i="0" sz="1100" u="none" cap="none" strike="noStrike">
              <a:solidFill>
                <a:schemeClr val="dk1"/>
              </a:solidFill>
              <a:latin typeface="Calibri"/>
              <a:ea typeface="Calibri"/>
              <a:cs typeface="Calibri"/>
              <a:sym typeface="Calibri"/>
            </a:endParaRPr>
          </a:p>
        </p:txBody>
      </p:sp>
      <p:sp>
        <p:nvSpPr>
          <p:cNvPr id="520" name="Google Shape;520;p15"/>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13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16"/>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00"/>
              <a:buFont typeface="Calibri"/>
              <a:buNone/>
            </a:pPr>
            <a:r>
              <a:rPr b="1" i="0" lang="en-US" sz="1100" u="none" cap="none" strike="noStrike">
                <a:solidFill>
                  <a:srgbClr val="2C5F2D"/>
                </a:solidFill>
                <a:latin typeface="Calibri"/>
                <a:ea typeface="Calibri"/>
                <a:cs typeface="Calibri"/>
                <a:sym typeface="Calibri"/>
              </a:rPr>
              <a:t>WHERE THE PROJECT STANDS</a:t>
            </a:r>
            <a:endParaRPr b="0" i="0" sz="1100" u="none" cap="none" strike="noStrike">
              <a:solidFill>
                <a:schemeClr val="dk1"/>
              </a:solidFill>
              <a:latin typeface="Calibri"/>
              <a:ea typeface="Calibri"/>
              <a:cs typeface="Calibri"/>
              <a:sym typeface="Calibri"/>
            </a:endParaRPr>
          </a:p>
        </p:txBody>
      </p:sp>
      <p:sp>
        <p:nvSpPr>
          <p:cNvPr id="527" name="Google Shape;527;p16"/>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271E"/>
              </a:buClr>
              <a:buSzPts val="3200"/>
              <a:buFont typeface="Cambria"/>
              <a:buNone/>
            </a:pPr>
            <a:r>
              <a:rPr b="1" i="0" lang="en-US" sz="3200" u="none" cap="none" strike="noStrike">
                <a:solidFill>
                  <a:srgbClr val="18271E"/>
                </a:solidFill>
                <a:latin typeface="Cambria"/>
                <a:ea typeface="Cambria"/>
                <a:cs typeface="Cambria"/>
                <a:sym typeface="Cambria"/>
              </a:rPr>
              <a:t>Excellent on chainsaws, too eager on the rest</a:t>
            </a:r>
            <a:endParaRPr b="0" i="0" sz="3200" u="none" cap="none" strike="noStrike">
              <a:solidFill>
                <a:schemeClr val="dk1"/>
              </a:solidFill>
              <a:latin typeface="Calibri"/>
              <a:ea typeface="Calibri"/>
              <a:cs typeface="Calibri"/>
              <a:sym typeface="Calibri"/>
            </a:endParaRPr>
          </a:p>
        </p:txBody>
      </p:sp>
      <p:sp>
        <p:nvSpPr>
          <p:cNvPr id="528" name="Google Shape;528;p16"/>
          <p:cNvSpPr/>
          <p:nvPr/>
        </p:nvSpPr>
        <p:spPr>
          <a:xfrm>
            <a:off x="594360" y="1188720"/>
            <a:ext cx="5349240" cy="1965960"/>
          </a:xfrm>
          <a:prstGeom prst="roundRect">
            <a:avLst>
              <a:gd fmla="val 4186" name="adj"/>
            </a:avLst>
          </a:prstGeom>
          <a:solidFill>
            <a:srgbClr val="E3EDDA"/>
          </a:solidFill>
          <a:ln cap="flat" cmpd="sng" w="12700">
            <a:solidFill>
              <a:srgbClr val="E3ED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6"/>
          <p:cNvSpPr/>
          <p:nvPr/>
        </p:nvSpPr>
        <p:spPr>
          <a:xfrm>
            <a:off x="868680" y="1417320"/>
            <a:ext cx="411480" cy="411480"/>
          </a:xfrm>
          <a:prstGeom prst="ellipse">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6"/>
          <p:cNvSpPr/>
          <p:nvPr/>
        </p:nvSpPr>
        <p:spPr>
          <a:xfrm>
            <a:off x="868680" y="14173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531" name="Google Shape;531;p16"/>
          <p:cNvSpPr/>
          <p:nvPr/>
        </p:nvSpPr>
        <p:spPr>
          <a:xfrm>
            <a:off x="1417320" y="1444752"/>
            <a:ext cx="42062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5F2D"/>
              </a:buClr>
              <a:buSzPts val="1500"/>
              <a:buFont typeface="Calibri"/>
              <a:buNone/>
            </a:pPr>
            <a:r>
              <a:rPr b="1" i="0" lang="en-US" sz="1500" u="none" cap="none" strike="noStrike">
                <a:solidFill>
                  <a:srgbClr val="2C5F2D"/>
                </a:solidFill>
                <a:latin typeface="Calibri"/>
                <a:ea typeface="Calibri"/>
                <a:cs typeface="Calibri"/>
                <a:sym typeface="Calibri"/>
              </a:rPr>
              <a:t>What works</a:t>
            </a:r>
            <a:endParaRPr b="0" i="0" sz="1500" u="none" cap="none" strike="noStrike">
              <a:solidFill>
                <a:schemeClr val="dk1"/>
              </a:solidFill>
              <a:latin typeface="Calibri"/>
              <a:ea typeface="Calibri"/>
              <a:cs typeface="Calibri"/>
              <a:sym typeface="Calibri"/>
            </a:endParaRPr>
          </a:p>
        </p:txBody>
      </p:sp>
      <p:sp>
        <p:nvSpPr>
          <p:cNvPr id="532" name="Google Shape;532;p16"/>
          <p:cNvSpPr/>
          <p:nvPr/>
        </p:nvSpPr>
        <p:spPr>
          <a:xfrm>
            <a:off x="1005840" y="1920240"/>
            <a:ext cx="466344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8271E"/>
              </a:buClr>
              <a:buSzPts val="1200"/>
              <a:buFont typeface="Calibri"/>
              <a:buChar char="•"/>
            </a:pPr>
            <a:r>
              <a:rPr b="0" i="0" lang="en-US" sz="1200" u="none" cap="none" strike="noStrike">
                <a:solidFill>
                  <a:srgbClr val="18271E"/>
                </a:solidFill>
                <a:latin typeface="Calibri"/>
                <a:ea typeface="Calibri"/>
                <a:cs typeface="Calibri"/>
                <a:sym typeface="Calibri"/>
              </a:rPr>
              <a:t>On real chainsaw sound the model is reliable </a:t>
            </a:r>
            <a:r>
              <a:rPr lang="en-US" sz="1200">
                <a:solidFill>
                  <a:srgbClr val="18271E"/>
                </a:solidFill>
                <a:latin typeface="Calibri"/>
                <a:ea typeface="Calibri"/>
                <a:cs typeface="Calibri"/>
                <a:sym typeface="Calibri"/>
              </a:rPr>
              <a:t>:</a:t>
            </a:r>
            <a:r>
              <a:rPr b="0" i="0" lang="en-US" sz="1200" u="none" cap="none" strike="noStrike">
                <a:solidFill>
                  <a:srgbClr val="18271E"/>
                </a:solidFill>
                <a:latin typeface="Calibri"/>
                <a:ea typeface="Calibri"/>
                <a:cs typeface="Calibri"/>
                <a:sym typeface="Calibri"/>
              </a:rPr>
              <a:t> recall ≈ 96 %, detection confirmed in about two seconds.</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8271E"/>
              </a:buClr>
              <a:buSzPts val="1200"/>
              <a:buFont typeface="Calibri"/>
              <a:buChar char="•"/>
            </a:pPr>
            <a:r>
              <a:rPr b="0" i="0" lang="en-US" sz="1200" u="none" cap="none" strike="noStrike">
                <a:solidFill>
                  <a:srgbClr val="18271E"/>
                </a:solidFill>
                <a:latin typeface="Calibri"/>
                <a:ea typeface="Calibri"/>
                <a:cs typeface="Calibri"/>
                <a:sym typeface="Calibri"/>
              </a:rPr>
              <a:t>The whole chain — Keras → TFLite → ESP32 </a:t>
            </a:r>
            <a:r>
              <a:rPr lang="en-US" sz="1200">
                <a:solidFill>
                  <a:srgbClr val="18271E"/>
                </a:solidFill>
                <a:latin typeface="Calibri"/>
                <a:ea typeface="Calibri"/>
                <a:cs typeface="Calibri"/>
                <a:sym typeface="Calibri"/>
              </a:rPr>
              <a:t>:</a:t>
            </a:r>
            <a:r>
              <a:rPr b="0" i="0" lang="en-US" sz="1200" u="none" cap="none" strike="noStrike">
                <a:solidFill>
                  <a:srgbClr val="18271E"/>
                </a:solidFill>
                <a:latin typeface="Calibri"/>
                <a:ea typeface="Calibri"/>
                <a:cs typeface="Calibri"/>
                <a:sym typeface="Calibri"/>
              </a:rPr>
              <a:t> is validated end to end and runs fully offline.</a:t>
            </a:r>
            <a:endParaRPr b="0" i="0" sz="1200" u="none" cap="none" strike="noStrike">
              <a:solidFill>
                <a:schemeClr val="dk1"/>
              </a:solidFill>
              <a:latin typeface="Calibri"/>
              <a:ea typeface="Calibri"/>
              <a:cs typeface="Calibri"/>
              <a:sym typeface="Calibri"/>
            </a:endParaRPr>
          </a:p>
        </p:txBody>
      </p:sp>
      <p:sp>
        <p:nvSpPr>
          <p:cNvPr id="533" name="Google Shape;533;p16"/>
          <p:cNvSpPr/>
          <p:nvPr/>
        </p:nvSpPr>
        <p:spPr>
          <a:xfrm>
            <a:off x="6172200" y="1188720"/>
            <a:ext cx="5349240" cy="1965960"/>
          </a:xfrm>
          <a:prstGeom prst="roundRect">
            <a:avLst>
              <a:gd fmla="val 4186" name="adj"/>
            </a:avLst>
          </a:prstGeom>
          <a:solidFill>
            <a:srgbClr val="F7E9E5"/>
          </a:solidFill>
          <a:ln cap="flat" cmpd="sng" w="12700">
            <a:solidFill>
              <a:srgbClr val="F7E9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6"/>
          <p:cNvSpPr/>
          <p:nvPr/>
        </p:nvSpPr>
        <p:spPr>
          <a:xfrm>
            <a:off x="6446520" y="1417320"/>
            <a:ext cx="411480" cy="411480"/>
          </a:xfrm>
          <a:prstGeom prst="ellipse">
            <a:avLst/>
          </a:prstGeom>
          <a:solidFill>
            <a:srgbClr val="B4442E"/>
          </a:solidFill>
          <a:ln cap="flat" cmpd="sng" w="12700">
            <a:solidFill>
              <a:srgbClr val="B444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a:off x="6446520" y="14173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536" name="Google Shape;536;p16"/>
          <p:cNvSpPr/>
          <p:nvPr/>
        </p:nvSpPr>
        <p:spPr>
          <a:xfrm>
            <a:off x="6995160" y="1444752"/>
            <a:ext cx="42062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442E"/>
              </a:buClr>
              <a:buSzPts val="1500"/>
              <a:buFont typeface="Calibri"/>
              <a:buNone/>
            </a:pPr>
            <a:r>
              <a:rPr b="1" i="0" lang="en-US" sz="1500" u="none" cap="none" strike="noStrike">
                <a:solidFill>
                  <a:srgbClr val="B4442E"/>
                </a:solidFill>
                <a:latin typeface="Calibri"/>
                <a:ea typeface="Calibri"/>
                <a:cs typeface="Calibri"/>
                <a:sym typeface="Calibri"/>
              </a:rPr>
              <a:t>What does not</a:t>
            </a:r>
            <a:endParaRPr b="0" i="0" sz="1500" u="none" cap="none" strike="noStrike">
              <a:solidFill>
                <a:schemeClr val="dk1"/>
              </a:solidFill>
              <a:latin typeface="Calibri"/>
              <a:ea typeface="Calibri"/>
              <a:cs typeface="Calibri"/>
              <a:sym typeface="Calibri"/>
            </a:endParaRPr>
          </a:p>
        </p:txBody>
      </p:sp>
      <p:sp>
        <p:nvSpPr>
          <p:cNvPr id="537" name="Google Shape;537;p16"/>
          <p:cNvSpPr/>
          <p:nvPr/>
        </p:nvSpPr>
        <p:spPr>
          <a:xfrm>
            <a:off x="6583680" y="1920240"/>
            <a:ext cx="466344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8271E"/>
              </a:buClr>
              <a:buSzPts val="1200"/>
              <a:buFont typeface="Calibri"/>
              <a:buChar char="•"/>
            </a:pPr>
            <a:r>
              <a:rPr b="0" i="0" lang="en-US" sz="1200" u="none" cap="none" strike="noStrike">
                <a:solidFill>
                  <a:srgbClr val="18271E"/>
                </a:solidFill>
                <a:latin typeface="Calibri"/>
                <a:ea typeface="Calibri"/>
                <a:cs typeface="Calibri"/>
                <a:sym typeface="Calibri"/>
              </a:rPr>
              <a:t>On sounds that are not chainsaws, the device sometimes fires </a:t>
            </a:r>
            <a:r>
              <a:rPr lang="en-US" sz="1200">
                <a:solidFill>
                  <a:srgbClr val="18271E"/>
                </a:solidFill>
                <a:latin typeface="Calibri"/>
                <a:ea typeface="Calibri"/>
                <a:cs typeface="Calibri"/>
                <a:sym typeface="Calibri"/>
              </a:rPr>
              <a:t>:</a:t>
            </a:r>
            <a:r>
              <a:rPr b="0" i="0" lang="en-US" sz="1200" u="none" cap="none" strike="noStrike">
                <a:solidFill>
                  <a:srgbClr val="18271E"/>
                </a:solidFill>
                <a:latin typeface="Calibri"/>
                <a:ea typeface="Calibri"/>
                <a:cs typeface="Calibri"/>
                <a:sym typeface="Calibri"/>
              </a:rPr>
              <a:t> false positives are the remaining weakness.</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8271E"/>
              </a:buClr>
              <a:buSzPts val="1200"/>
              <a:buFont typeface="Calibri"/>
              <a:buChar char="•"/>
            </a:pPr>
            <a:r>
              <a:rPr b="0" i="0" lang="en-US" sz="1200" u="none" cap="none" strike="noStrike">
                <a:solidFill>
                  <a:srgbClr val="18271E"/>
                </a:solidFill>
                <a:latin typeface="Calibri"/>
                <a:ea typeface="Calibri"/>
                <a:cs typeface="Calibri"/>
                <a:sym typeface="Calibri"/>
              </a:rPr>
              <a:t>The model is not wrong: it is being asked about sounds it was never taught to reject.</a:t>
            </a:r>
            <a:endParaRPr b="0" i="0" sz="1200" u="none" cap="none" strike="noStrike">
              <a:solidFill>
                <a:schemeClr val="dk1"/>
              </a:solidFill>
              <a:latin typeface="Calibri"/>
              <a:ea typeface="Calibri"/>
              <a:cs typeface="Calibri"/>
              <a:sym typeface="Calibri"/>
            </a:endParaRPr>
          </a:p>
        </p:txBody>
      </p:sp>
      <p:sp>
        <p:nvSpPr>
          <p:cNvPr id="538" name="Google Shape;538;p16"/>
          <p:cNvSpPr/>
          <p:nvPr/>
        </p:nvSpPr>
        <p:spPr>
          <a:xfrm>
            <a:off x="594360" y="3337560"/>
            <a:ext cx="5029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72"/>
              </a:buClr>
              <a:buSzPts val="1000"/>
              <a:buFont typeface="Calibri"/>
              <a:buNone/>
            </a:pPr>
            <a:r>
              <a:rPr b="1" i="0" lang="en-US" sz="1000" u="none" cap="none" strike="noStrike">
                <a:solidFill>
                  <a:srgbClr val="6E7C72"/>
                </a:solidFill>
                <a:latin typeface="Calibri"/>
                <a:ea typeface="Calibri"/>
                <a:cs typeface="Calibri"/>
                <a:sym typeface="Calibri"/>
              </a:rPr>
              <a:t>MISSING FROM THE DATASET</a:t>
            </a:r>
            <a:endParaRPr b="0" i="0" sz="1000" u="none" cap="none" strike="noStrike">
              <a:solidFill>
                <a:schemeClr val="dk1"/>
              </a:solidFill>
              <a:latin typeface="Calibri"/>
              <a:ea typeface="Calibri"/>
              <a:cs typeface="Calibri"/>
              <a:sym typeface="Calibri"/>
            </a:endParaRPr>
          </a:p>
        </p:txBody>
      </p:sp>
      <p:sp>
        <p:nvSpPr>
          <p:cNvPr id="539" name="Google Shape;539;p16"/>
          <p:cNvSpPr/>
          <p:nvPr/>
        </p:nvSpPr>
        <p:spPr>
          <a:xfrm>
            <a:off x="594360" y="3657600"/>
            <a:ext cx="3383280" cy="548640"/>
          </a:xfrm>
          <a:prstGeom prst="roundRect">
            <a:avLst>
              <a:gd fmla="val 46667" name="adj"/>
            </a:avLst>
          </a:prstGeom>
          <a:solidFill>
            <a:srgbClr val="EEF3EA"/>
          </a:solidFill>
          <a:ln cap="flat" cmpd="sng" w="12700">
            <a:solidFill>
              <a:srgbClr val="D8E0D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6"/>
          <p:cNvSpPr/>
          <p:nvPr/>
        </p:nvSpPr>
        <p:spPr>
          <a:xfrm>
            <a:off x="594360" y="3657600"/>
            <a:ext cx="33832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C72"/>
              </a:buClr>
              <a:buSzPts val="1200"/>
              <a:buFont typeface="Calibri"/>
              <a:buNone/>
            </a:pPr>
            <a:r>
              <a:rPr b="1" i="0" lang="en-US" sz="1200" u="none" cap="none" strike="noStrike">
                <a:solidFill>
                  <a:srgbClr val="6E7C72"/>
                </a:solidFill>
                <a:latin typeface="Calibri"/>
                <a:ea typeface="Calibri"/>
                <a:cs typeface="Calibri"/>
                <a:sym typeface="Calibri"/>
              </a:rPr>
              <a:t>Wind on the mic</a:t>
            </a:r>
            <a:endParaRPr b="0" i="0" sz="1200" u="none" cap="none" strike="noStrike">
              <a:solidFill>
                <a:schemeClr val="dk1"/>
              </a:solidFill>
              <a:latin typeface="Calibri"/>
              <a:ea typeface="Calibri"/>
              <a:cs typeface="Calibri"/>
              <a:sym typeface="Calibri"/>
            </a:endParaRPr>
          </a:p>
        </p:txBody>
      </p:sp>
      <p:sp>
        <p:nvSpPr>
          <p:cNvPr id="541" name="Google Shape;541;p16"/>
          <p:cNvSpPr/>
          <p:nvPr/>
        </p:nvSpPr>
        <p:spPr>
          <a:xfrm>
            <a:off x="4251960" y="3657600"/>
            <a:ext cx="3383280" cy="548640"/>
          </a:xfrm>
          <a:prstGeom prst="roundRect">
            <a:avLst>
              <a:gd fmla="val 46667" name="adj"/>
            </a:avLst>
          </a:prstGeom>
          <a:solidFill>
            <a:srgbClr val="EEF3EA"/>
          </a:solidFill>
          <a:ln cap="flat" cmpd="sng" w="12700">
            <a:solidFill>
              <a:srgbClr val="D8E0D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p:nvPr/>
        </p:nvSpPr>
        <p:spPr>
          <a:xfrm>
            <a:off x="4251960" y="3657600"/>
            <a:ext cx="33832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C72"/>
              </a:buClr>
              <a:buSzPts val="1200"/>
              <a:buFont typeface="Calibri"/>
              <a:buNone/>
            </a:pPr>
            <a:r>
              <a:rPr b="1" i="0" lang="en-US" sz="1200" u="none" cap="none" strike="noStrike">
                <a:solidFill>
                  <a:srgbClr val="6E7C72"/>
                </a:solidFill>
                <a:latin typeface="Calibri"/>
                <a:ea typeface="Calibri"/>
                <a:cs typeface="Calibri"/>
                <a:sym typeface="Calibri"/>
              </a:rPr>
              <a:t>Insects · cicadas</a:t>
            </a:r>
            <a:endParaRPr b="0" i="0" sz="1200" u="none" cap="none" strike="noStrike">
              <a:solidFill>
                <a:schemeClr val="dk1"/>
              </a:solidFill>
              <a:latin typeface="Calibri"/>
              <a:ea typeface="Calibri"/>
              <a:cs typeface="Calibri"/>
              <a:sym typeface="Calibri"/>
            </a:endParaRPr>
          </a:p>
        </p:txBody>
      </p:sp>
      <p:sp>
        <p:nvSpPr>
          <p:cNvPr id="543" name="Google Shape;543;p16"/>
          <p:cNvSpPr/>
          <p:nvPr/>
        </p:nvSpPr>
        <p:spPr>
          <a:xfrm>
            <a:off x="7909560" y="3657600"/>
            <a:ext cx="3383280" cy="548640"/>
          </a:xfrm>
          <a:prstGeom prst="roundRect">
            <a:avLst>
              <a:gd fmla="val 46667" name="adj"/>
            </a:avLst>
          </a:prstGeom>
          <a:solidFill>
            <a:srgbClr val="EEF3EA"/>
          </a:solidFill>
          <a:ln cap="flat" cmpd="sng" w="12700">
            <a:solidFill>
              <a:srgbClr val="D8E0D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6"/>
          <p:cNvSpPr/>
          <p:nvPr/>
        </p:nvSpPr>
        <p:spPr>
          <a:xfrm>
            <a:off x="7909560" y="3657600"/>
            <a:ext cx="33832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C72"/>
              </a:buClr>
              <a:buSzPts val="1200"/>
              <a:buFont typeface="Calibri"/>
              <a:buNone/>
            </a:pPr>
            <a:r>
              <a:rPr b="1" i="0" lang="en-US" sz="1200" u="none" cap="none" strike="noStrike">
                <a:solidFill>
                  <a:srgbClr val="6E7C72"/>
                </a:solidFill>
                <a:latin typeface="Calibri"/>
                <a:ea typeface="Calibri"/>
                <a:cs typeface="Calibri"/>
                <a:sym typeface="Calibri"/>
              </a:rPr>
              <a:t>Human voices</a:t>
            </a:r>
            <a:endParaRPr b="0" i="0" sz="1200" u="none" cap="none" strike="noStrike">
              <a:solidFill>
                <a:schemeClr val="dk1"/>
              </a:solidFill>
              <a:latin typeface="Calibri"/>
              <a:ea typeface="Calibri"/>
              <a:cs typeface="Calibri"/>
              <a:sym typeface="Calibri"/>
            </a:endParaRPr>
          </a:p>
        </p:txBody>
      </p:sp>
      <p:sp>
        <p:nvSpPr>
          <p:cNvPr id="545" name="Google Shape;545;p16"/>
          <p:cNvSpPr/>
          <p:nvPr/>
        </p:nvSpPr>
        <p:spPr>
          <a:xfrm>
            <a:off x="594360" y="4315968"/>
            <a:ext cx="3383280" cy="548640"/>
          </a:xfrm>
          <a:prstGeom prst="roundRect">
            <a:avLst>
              <a:gd fmla="val 46667" name="adj"/>
            </a:avLst>
          </a:prstGeom>
          <a:solidFill>
            <a:srgbClr val="EEF3EA"/>
          </a:solidFill>
          <a:ln cap="flat" cmpd="sng" w="12700">
            <a:solidFill>
              <a:srgbClr val="D8E0D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a:off x="594360" y="4315968"/>
            <a:ext cx="33832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C72"/>
              </a:buClr>
              <a:buSzPts val="1200"/>
              <a:buFont typeface="Calibri"/>
              <a:buNone/>
            </a:pPr>
            <a:r>
              <a:rPr b="1" i="0" lang="en-US" sz="1200" u="none" cap="none" strike="noStrike">
                <a:solidFill>
                  <a:srgbClr val="6E7C72"/>
                </a:solidFill>
                <a:latin typeface="Calibri"/>
                <a:ea typeface="Calibri"/>
                <a:cs typeface="Calibri"/>
                <a:sym typeface="Calibri"/>
              </a:rPr>
              <a:t>Mic self-noise</a:t>
            </a:r>
            <a:endParaRPr b="0" i="0" sz="1200" u="none" cap="none" strike="noStrike">
              <a:solidFill>
                <a:schemeClr val="dk1"/>
              </a:solidFill>
              <a:latin typeface="Calibri"/>
              <a:ea typeface="Calibri"/>
              <a:cs typeface="Calibri"/>
              <a:sym typeface="Calibri"/>
            </a:endParaRPr>
          </a:p>
        </p:txBody>
      </p:sp>
      <p:sp>
        <p:nvSpPr>
          <p:cNvPr id="547" name="Google Shape;547;p16"/>
          <p:cNvSpPr/>
          <p:nvPr/>
        </p:nvSpPr>
        <p:spPr>
          <a:xfrm>
            <a:off x="4251960" y="4315968"/>
            <a:ext cx="3383280" cy="548640"/>
          </a:xfrm>
          <a:prstGeom prst="roundRect">
            <a:avLst>
              <a:gd fmla="val 46667" name="adj"/>
            </a:avLst>
          </a:prstGeom>
          <a:solidFill>
            <a:srgbClr val="EEF3EA"/>
          </a:solidFill>
          <a:ln cap="flat" cmpd="sng" w="12700">
            <a:solidFill>
              <a:srgbClr val="D8E0D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a:off x="4251960" y="4315968"/>
            <a:ext cx="33832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C72"/>
              </a:buClr>
              <a:buSzPts val="1200"/>
              <a:buFont typeface="Calibri"/>
              <a:buNone/>
            </a:pPr>
            <a:r>
              <a:rPr b="1" i="0" lang="en-US" sz="1200" u="none" cap="none" strike="noStrike">
                <a:solidFill>
                  <a:srgbClr val="6E7C72"/>
                </a:solidFill>
                <a:latin typeface="Calibri"/>
                <a:ea typeface="Calibri"/>
                <a:cs typeface="Calibri"/>
                <a:sym typeface="Calibri"/>
              </a:rPr>
              <a:t>Thunder</a:t>
            </a:r>
            <a:endParaRPr b="0" i="0" sz="1200" u="none" cap="none" strike="noStrike">
              <a:solidFill>
                <a:schemeClr val="dk1"/>
              </a:solidFill>
              <a:latin typeface="Calibri"/>
              <a:ea typeface="Calibri"/>
              <a:cs typeface="Calibri"/>
              <a:sym typeface="Calibri"/>
            </a:endParaRPr>
          </a:p>
        </p:txBody>
      </p:sp>
      <p:sp>
        <p:nvSpPr>
          <p:cNvPr id="549" name="Google Shape;549;p16"/>
          <p:cNvSpPr/>
          <p:nvPr/>
        </p:nvSpPr>
        <p:spPr>
          <a:xfrm>
            <a:off x="7909560" y="4315968"/>
            <a:ext cx="3383280" cy="548640"/>
          </a:xfrm>
          <a:prstGeom prst="roundRect">
            <a:avLst>
              <a:gd fmla="val 46667" name="adj"/>
            </a:avLst>
          </a:prstGeom>
          <a:solidFill>
            <a:srgbClr val="EEF3EA"/>
          </a:solidFill>
          <a:ln cap="flat" cmpd="sng" w="12700">
            <a:solidFill>
              <a:srgbClr val="D8E0D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7909560" y="4315968"/>
            <a:ext cx="33832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C72"/>
              </a:buClr>
              <a:buSzPts val="1200"/>
              <a:buFont typeface="Calibri"/>
              <a:buNone/>
            </a:pPr>
            <a:r>
              <a:rPr b="1" i="0" lang="en-US" sz="1200" u="none" cap="none" strike="noStrike">
                <a:solidFill>
                  <a:srgbClr val="6E7C72"/>
                </a:solidFill>
                <a:latin typeface="Calibri"/>
                <a:ea typeface="Calibri"/>
                <a:cs typeface="Calibri"/>
                <a:sym typeface="Calibri"/>
              </a:rPr>
              <a:t>Brush cutters &amp; generators</a:t>
            </a:r>
            <a:endParaRPr b="0" i="0" sz="1200" u="none" cap="none" strike="noStrike">
              <a:solidFill>
                <a:schemeClr val="dk1"/>
              </a:solidFill>
              <a:latin typeface="Calibri"/>
              <a:ea typeface="Calibri"/>
              <a:cs typeface="Calibri"/>
              <a:sym typeface="Calibri"/>
            </a:endParaRPr>
          </a:p>
        </p:txBody>
      </p:sp>
      <p:sp>
        <p:nvSpPr>
          <p:cNvPr id="551" name="Google Shape;551;p16"/>
          <p:cNvSpPr/>
          <p:nvPr/>
        </p:nvSpPr>
        <p:spPr>
          <a:xfrm>
            <a:off x="594360" y="5074920"/>
            <a:ext cx="10945368" cy="1051560"/>
          </a:xfrm>
          <a:prstGeom prst="roundRect">
            <a:avLst>
              <a:gd fmla="val 7826" name="adj"/>
            </a:avLst>
          </a:prstGeom>
          <a:solidFill>
            <a:srgbClr val="EEF3EA"/>
          </a:solidFill>
          <a:ln cap="flat" cmpd="sng" w="12700">
            <a:solidFill>
              <a:srgbClr val="EEF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6"/>
          <p:cNvSpPr/>
          <p:nvPr/>
        </p:nvSpPr>
        <p:spPr>
          <a:xfrm>
            <a:off x="822960" y="5285232"/>
            <a:ext cx="411480" cy="411480"/>
          </a:xfrm>
          <a:prstGeom prst="ellipse">
            <a:avLst/>
          </a:prstGeom>
          <a:solidFill>
            <a:srgbClr val="E09A2B"/>
          </a:solidFill>
          <a:ln cap="flat" cmpd="sng" w="12700">
            <a:solidFill>
              <a:srgbClr val="E09A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a:off x="822960" y="528523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554" name="Google Shape;554;p16"/>
          <p:cNvSpPr/>
          <p:nvPr/>
        </p:nvSpPr>
        <p:spPr>
          <a:xfrm>
            <a:off x="1371600" y="5193792"/>
            <a:ext cx="99669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250"/>
              <a:buFont typeface="Calibri"/>
              <a:buNone/>
            </a:pPr>
            <a:r>
              <a:rPr b="1" i="0" lang="en-US" sz="1250" u="none" cap="none" strike="noStrike">
                <a:solidFill>
                  <a:srgbClr val="18271E"/>
                </a:solidFill>
                <a:latin typeface="Calibri"/>
                <a:ea typeface="Calibri"/>
                <a:cs typeface="Calibri"/>
                <a:sym typeface="Calibri"/>
              </a:rPr>
              <a:t>And one specific mechanism makes it worse</a:t>
            </a:r>
            <a:endParaRPr b="0" i="0" sz="1250" u="none" cap="none" strike="noStrike">
              <a:solidFill>
                <a:schemeClr val="dk1"/>
              </a:solidFill>
              <a:latin typeface="Calibri"/>
              <a:ea typeface="Calibri"/>
              <a:cs typeface="Calibri"/>
              <a:sym typeface="Calibri"/>
            </a:endParaRPr>
          </a:p>
        </p:txBody>
      </p:sp>
      <p:sp>
        <p:nvSpPr>
          <p:cNvPr id="555" name="Google Shape;555;p16"/>
          <p:cNvSpPr/>
          <p:nvPr/>
        </p:nvSpPr>
        <p:spPr>
          <a:xfrm>
            <a:off x="1371600" y="5468112"/>
            <a:ext cx="9966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71E"/>
              </a:buClr>
              <a:buSzPts val="1150"/>
              <a:buFont typeface="Calibri"/>
              <a:buNone/>
            </a:pPr>
            <a:r>
              <a:rPr b="0" i="0" lang="en-US" sz="1150" u="none" cap="none" strike="noStrike">
                <a:solidFill>
                  <a:srgbClr val="18271E"/>
                </a:solidFill>
                <a:latin typeface="Calibri"/>
                <a:ea typeface="Calibri"/>
                <a:cs typeface="Calibri"/>
                <a:sym typeface="Calibri"/>
              </a:rPr>
              <a:t>The firmware peak-normalises every 2 s window. In a near-silent window, the microphone's own noise floor is amplified to full scale </a:t>
            </a:r>
            <a:r>
              <a:rPr lang="en-US" sz="1150">
                <a:solidFill>
                  <a:srgbClr val="18271E"/>
                </a:solidFill>
                <a:latin typeface="Calibri"/>
                <a:ea typeface="Calibri"/>
                <a:cs typeface="Calibri"/>
                <a:sym typeface="Calibri"/>
              </a:rPr>
              <a:t>:</a:t>
            </a:r>
            <a:r>
              <a:rPr b="0" i="0" lang="en-US" sz="1150" u="none" cap="none" strike="noStrike">
                <a:solidFill>
                  <a:srgbClr val="18271E"/>
                </a:solidFill>
                <a:latin typeface="Calibri"/>
                <a:ea typeface="Calibri"/>
                <a:cs typeface="Calibri"/>
                <a:sym typeface="Calibri"/>
              </a:rPr>
              <a:t> and the model has never been shown that pattern labelled as "not a chainsaw".</a:t>
            </a:r>
            <a:endParaRPr b="0" i="0" sz="1150" u="none" cap="none" strike="noStrike">
              <a:solidFill>
                <a:schemeClr val="dk1"/>
              </a:solidFill>
              <a:latin typeface="Calibri"/>
              <a:ea typeface="Calibri"/>
              <a:cs typeface="Calibri"/>
              <a:sym typeface="Calibri"/>
            </a:endParaRPr>
          </a:p>
        </p:txBody>
      </p:sp>
      <p:sp>
        <p:nvSpPr>
          <p:cNvPr id="556" name="Google Shape;556;p16"/>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72"/>
              </a:buClr>
              <a:buSzPts val="1000"/>
              <a:buFont typeface="Calibri"/>
              <a:buNone/>
            </a:pPr>
            <a:r>
              <a:rPr b="0" i="0" lang="en-US" sz="1000" u="none" cap="none" strike="noStrike">
                <a:solidFill>
                  <a:srgbClr val="6E7C72"/>
                </a:solidFill>
                <a:latin typeface="Calibri"/>
                <a:ea typeface="Calibri"/>
                <a:cs typeface="Calibri"/>
                <a:sym typeface="Calibri"/>
              </a:rPr>
              <a:t>14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417"/>
        </a:solidFill>
      </p:bgPr>
    </p:bg>
    <p:spTree>
      <p:nvGrpSpPr>
        <p:cNvPr id="561" name="Shape 561"/>
        <p:cNvGrpSpPr/>
        <p:nvPr/>
      </p:nvGrpSpPr>
      <p:grpSpPr>
        <a:xfrm>
          <a:off x="0" y="0"/>
          <a:ext cx="0" cy="0"/>
          <a:chOff x="0" y="0"/>
          <a:chExt cx="0" cy="0"/>
        </a:xfrm>
      </p:grpSpPr>
      <p:sp>
        <p:nvSpPr>
          <p:cNvPr id="562" name="Google Shape;562;p17"/>
          <p:cNvSpPr/>
          <p:nvPr/>
        </p:nvSpPr>
        <p:spPr>
          <a:xfrm>
            <a:off x="594360" y="109728"/>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7BC62"/>
              </a:buClr>
              <a:buSzPts val="1100"/>
              <a:buFont typeface="Calibri"/>
              <a:buNone/>
            </a:pPr>
            <a:r>
              <a:rPr b="1" i="0" lang="en-US" sz="1100" u="none" cap="none" strike="noStrike">
                <a:solidFill>
                  <a:srgbClr val="97BC62"/>
                </a:solidFill>
                <a:latin typeface="Calibri"/>
                <a:ea typeface="Calibri"/>
                <a:cs typeface="Calibri"/>
                <a:sym typeface="Calibri"/>
              </a:rPr>
              <a:t>FUTURE WORK &amp; CONCLUSION</a:t>
            </a:r>
            <a:endParaRPr b="0" i="0" sz="1100" u="none" cap="none" strike="noStrike">
              <a:solidFill>
                <a:schemeClr val="dk1"/>
              </a:solidFill>
              <a:latin typeface="Calibri"/>
              <a:ea typeface="Calibri"/>
              <a:cs typeface="Calibri"/>
              <a:sym typeface="Calibri"/>
            </a:endParaRPr>
          </a:p>
        </p:txBody>
      </p:sp>
      <p:sp>
        <p:nvSpPr>
          <p:cNvPr id="563" name="Google Shape;563;p17"/>
          <p:cNvSpPr/>
          <p:nvPr/>
        </p:nvSpPr>
        <p:spPr>
          <a:xfrm>
            <a:off x="594360" y="38404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5F0"/>
              </a:buClr>
              <a:buSzPts val="3000"/>
              <a:buFont typeface="Cambria"/>
              <a:buNone/>
            </a:pPr>
            <a:r>
              <a:rPr b="1" i="0" lang="en-US" sz="3000" u="none" cap="none" strike="noStrike">
                <a:solidFill>
                  <a:srgbClr val="F5F5F0"/>
                </a:solidFill>
                <a:latin typeface="Cambria"/>
                <a:ea typeface="Cambria"/>
                <a:cs typeface="Cambria"/>
                <a:sym typeface="Cambria"/>
              </a:rPr>
              <a:t>What separates this prototype from a field device</a:t>
            </a:r>
            <a:endParaRPr b="0" i="0" sz="3000" u="none" cap="none" strike="noStrike">
              <a:solidFill>
                <a:schemeClr val="dk1"/>
              </a:solidFill>
              <a:latin typeface="Calibri"/>
              <a:ea typeface="Calibri"/>
              <a:cs typeface="Calibri"/>
              <a:sym typeface="Calibri"/>
            </a:endParaRPr>
          </a:p>
        </p:txBody>
      </p:sp>
      <p:sp>
        <p:nvSpPr>
          <p:cNvPr id="564" name="Google Shape;564;p17"/>
          <p:cNvSpPr/>
          <p:nvPr/>
        </p:nvSpPr>
        <p:spPr>
          <a:xfrm>
            <a:off x="594360" y="1371600"/>
            <a:ext cx="3383280" cy="3017520"/>
          </a:xfrm>
          <a:prstGeom prst="roundRect">
            <a:avLst>
              <a:gd fmla="val 2727" name="adj"/>
            </a:avLst>
          </a:prstGeom>
          <a:solidFill>
            <a:srgbClr val="163524"/>
          </a:solidFill>
          <a:ln cap="flat" cmpd="sng" w="12700">
            <a:solidFill>
              <a:srgbClr val="1635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7"/>
          <p:cNvSpPr/>
          <p:nvPr/>
        </p:nvSpPr>
        <p:spPr>
          <a:xfrm>
            <a:off x="822960" y="1536192"/>
            <a:ext cx="914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7BC62"/>
              </a:buClr>
              <a:buSzPts val="2000"/>
              <a:buFont typeface="Cambria"/>
              <a:buNone/>
            </a:pPr>
            <a:r>
              <a:rPr b="1" i="0" lang="en-US" sz="2000" u="none" cap="none" strike="noStrike">
                <a:solidFill>
                  <a:srgbClr val="97BC62"/>
                </a:solidFill>
                <a:latin typeface="Cambria"/>
                <a:ea typeface="Cambria"/>
                <a:cs typeface="Cambria"/>
                <a:sym typeface="Cambria"/>
              </a:rPr>
              <a:t>01</a:t>
            </a:r>
            <a:endParaRPr b="0" i="0" sz="2000" u="none" cap="none" strike="noStrike">
              <a:solidFill>
                <a:schemeClr val="dk1"/>
              </a:solidFill>
              <a:latin typeface="Calibri"/>
              <a:ea typeface="Calibri"/>
              <a:cs typeface="Calibri"/>
              <a:sym typeface="Calibri"/>
            </a:endParaRPr>
          </a:p>
        </p:txBody>
      </p:sp>
      <p:sp>
        <p:nvSpPr>
          <p:cNvPr id="566" name="Google Shape;566;p17"/>
          <p:cNvSpPr/>
          <p:nvPr/>
        </p:nvSpPr>
        <p:spPr>
          <a:xfrm>
            <a:off x="822960" y="1938528"/>
            <a:ext cx="29260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9A2B"/>
              </a:buClr>
              <a:buSzPts val="1400"/>
              <a:buFont typeface="Calibri"/>
              <a:buNone/>
            </a:pPr>
            <a:r>
              <a:rPr b="1" i="0" lang="en-US" sz="1400" u="none" cap="none" strike="noStrike">
                <a:solidFill>
                  <a:srgbClr val="E09A2B"/>
                </a:solidFill>
                <a:latin typeface="Calibri"/>
                <a:ea typeface="Calibri"/>
                <a:cs typeface="Calibri"/>
                <a:sym typeface="Calibri"/>
              </a:rPr>
              <a:t>Close the dataset gap</a:t>
            </a:r>
            <a:endParaRPr b="0" i="0" sz="1400" u="none" cap="none" strike="noStrike">
              <a:solidFill>
                <a:schemeClr val="dk1"/>
              </a:solidFill>
              <a:latin typeface="Calibri"/>
              <a:ea typeface="Calibri"/>
              <a:cs typeface="Calibri"/>
              <a:sym typeface="Calibri"/>
            </a:endParaRPr>
          </a:p>
        </p:txBody>
      </p:sp>
      <p:sp>
        <p:nvSpPr>
          <p:cNvPr id="567" name="Google Shape;567;p17"/>
          <p:cNvSpPr/>
          <p:nvPr/>
        </p:nvSpPr>
        <p:spPr>
          <a:xfrm>
            <a:off x="822960" y="2487168"/>
            <a:ext cx="292608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5F0"/>
              </a:buClr>
              <a:buSzPts val="1100"/>
              <a:buFont typeface="Calibri"/>
              <a:buNone/>
            </a:pPr>
            <a:r>
              <a:rPr b="0" i="0" lang="en-US" sz="1100" u="none" cap="none" strike="noStrike">
                <a:solidFill>
                  <a:srgbClr val="F5F5F0"/>
                </a:solidFill>
                <a:latin typeface="Calibri"/>
                <a:ea typeface="Calibri"/>
                <a:cs typeface="Calibri"/>
                <a:sym typeface="Calibri"/>
              </a:rPr>
              <a:t>Record negatives on the deployed hardware itself: microphone self-noise, wind, insects, rain on the enclosure, voices, brush cutters. Then multiply the coverage with augmentation</a:t>
            </a:r>
            <a:r>
              <a:rPr lang="en-US" sz="1100">
                <a:solidFill>
                  <a:srgbClr val="F5F5F0"/>
                </a:solidFill>
                <a:latin typeface="Calibri"/>
                <a:ea typeface="Calibri"/>
                <a:cs typeface="Calibri"/>
                <a:sym typeface="Calibri"/>
              </a:rPr>
              <a:t>,</a:t>
            </a:r>
            <a:r>
              <a:rPr b="0" i="0" lang="en-US" sz="1100" u="none" cap="none" strike="noStrike">
                <a:solidFill>
                  <a:srgbClr val="F5F5F0"/>
                </a:solidFill>
                <a:latin typeface="Calibri"/>
                <a:ea typeface="Calibri"/>
                <a:cs typeface="Calibri"/>
                <a:sym typeface="Calibri"/>
              </a:rPr>
              <a:t> noise mixed at several SNRs, pitch and time shifts, low-pass filtering to simulate distance.</a:t>
            </a:r>
            <a:endParaRPr b="0" i="0" sz="1100" u="none" cap="none" strike="noStrike">
              <a:solidFill>
                <a:schemeClr val="dk1"/>
              </a:solidFill>
              <a:latin typeface="Calibri"/>
              <a:ea typeface="Calibri"/>
              <a:cs typeface="Calibri"/>
              <a:sym typeface="Calibri"/>
            </a:endParaRPr>
          </a:p>
        </p:txBody>
      </p:sp>
      <p:sp>
        <p:nvSpPr>
          <p:cNvPr id="568" name="Google Shape;568;p17"/>
          <p:cNvSpPr/>
          <p:nvPr/>
        </p:nvSpPr>
        <p:spPr>
          <a:xfrm>
            <a:off x="4251960" y="1371600"/>
            <a:ext cx="3383280" cy="3017520"/>
          </a:xfrm>
          <a:prstGeom prst="roundRect">
            <a:avLst>
              <a:gd fmla="val 2727" name="adj"/>
            </a:avLst>
          </a:prstGeom>
          <a:solidFill>
            <a:srgbClr val="163524"/>
          </a:solidFill>
          <a:ln cap="flat" cmpd="sng" w="12700">
            <a:solidFill>
              <a:srgbClr val="1635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7"/>
          <p:cNvSpPr/>
          <p:nvPr/>
        </p:nvSpPr>
        <p:spPr>
          <a:xfrm>
            <a:off x="4480560" y="1536192"/>
            <a:ext cx="914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7BC62"/>
              </a:buClr>
              <a:buSzPts val="2000"/>
              <a:buFont typeface="Cambria"/>
              <a:buNone/>
            </a:pPr>
            <a:r>
              <a:rPr b="1" i="0" lang="en-US" sz="2000" u="none" cap="none" strike="noStrike">
                <a:solidFill>
                  <a:srgbClr val="97BC62"/>
                </a:solidFill>
                <a:latin typeface="Cambria"/>
                <a:ea typeface="Cambria"/>
                <a:cs typeface="Cambria"/>
                <a:sym typeface="Cambria"/>
              </a:rPr>
              <a:t>02</a:t>
            </a:r>
            <a:endParaRPr b="0" i="0" sz="2000" u="none" cap="none" strike="noStrike">
              <a:solidFill>
                <a:schemeClr val="dk1"/>
              </a:solidFill>
              <a:latin typeface="Calibri"/>
              <a:ea typeface="Calibri"/>
              <a:cs typeface="Calibri"/>
              <a:sym typeface="Calibri"/>
            </a:endParaRPr>
          </a:p>
        </p:txBody>
      </p:sp>
      <p:sp>
        <p:nvSpPr>
          <p:cNvPr id="570" name="Google Shape;570;p17"/>
          <p:cNvSpPr/>
          <p:nvPr/>
        </p:nvSpPr>
        <p:spPr>
          <a:xfrm>
            <a:off x="4480560" y="1938528"/>
            <a:ext cx="29260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9A2B"/>
              </a:buClr>
              <a:buSzPts val="1400"/>
              <a:buFont typeface="Calibri"/>
              <a:buNone/>
            </a:pPr>
            <a:r>
              <a:rPr b="1" i="0" lang="en-US" sz="1400" u="none" cap="none" strike="noStrike">
                <a:solidFill>
                  <a:srgbClr val="E09A2B"/>
                </a:solidFill>
                <a:latin typeface="Calibri"/>
                <a:ea typeface="Calibri"/>
                <a:cs typeface="Calibri"/>
                <a:sym typeface="Calibri"/>
              </a:rPr>
              <a:t>Calibrate the threshold in situ</a:t>
            </a:r>
            <a:endParaRPr b="0" i="0" sz="1400" u="none" cap="none" strike="noStrike">
              <a:solidFill>
                <a:schemeClr val="dk1"/>
              </a:solidFill>
              <a:latin typeface="Calibri"/>
              <a:ea typeface="Calibri"/>
              <a:cs typeface="Calibri"/>
              <a:sym typeface="Calibri"/>
            </a:endParaRPr>
          </a:p>
        </p:txBody>
      </p:sp>
      <p:sp>
        <p:nvSpPr>
          <p:cNvPr id="571" name="Google Shape;571;p17"/>
          <p:cNvSpPr/>
          <p:nvPr/>
        </p:nvSpPr>
        <p:spPr>
          <a:xfrm>
            <a:off x="4480560" y="2487168"/>
            <a:ext cx="292608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5F0"/>
              </a:buClr>
              <a:buSzPts val="1100"/>
              <a:buFont typeface="Calibri"/>
              <a:buNone/>
            </a:pPr>
            <a:r>
              <a:rPr b="0" i="0" lang="en-US" sz="1100" u="none" cap="none" strike="noStrike">
                <a:solidFill>
                  <a:srgbClr val="F5F5F0"/>
                </a:solidFill>
                <a:latin typeface="Calibri"/>
                <a:ea typeface="Calibri"/>
                <a:cs typeface="Calibri"/>
                <a:sym typeface="Calibri"/>
              </a:rPr>
              <a:t>Today 0.65 comes from an offline study on my own dataset. The right method is to install the node, log its probabilities for several days in the real environment, and pick the operating point that minimises false alarms while keeping recall high. The tooling already exists</a:t>
            </a:r>
            <a:r>
              <a:rPr lang="en-US" sz="1100">
                <a:solidFill>
                  <a:srgbClr val="F5F5F0"/>
                </a:solidFill>
                <a:latin typeface="Calibri"/>
                <a:ea typeface="Calibri"/>
                <a:cs typeface="Calibri"/>
                <a:sym typeface="Calibri"/>
              </a:rPr>
              <a:t>,</a:t>
            </a:r>
            <a:r>
              <a:rPr b="0" i="0" lang="en-US" sz="1100" u="none" cap="none" strike="noStrike">
                <a:solidFill>
                  <a:srgbClr val="F5F5F0"/>
                </a:solidFill>
                <a:latin typeface="Calibri"/>
                <a:ea typeface="Calibri"/>
                <a:cs typeface="Calibri"/>
                <a:sym typeface="Calibri"/>
              </a:rPr>
              <a:t> every validation run produces a report per threshold.</a:t>
            </a:r>
            <a:endParaRPr b="0" i="0" sz="1100" u="none" cap="none" strike="noStrike">
              <a:solidFill>
                <a:schemeClr val="dk1"/>
              </a:solidFill>
              <a:latin typeface="Calibri"/>
              <a:ea typeface="Calibri"/>
              <a:cs typeface="Calibri"/>
              <a:sym typeface="Calibri"/>
            </a:endParaRPr>
          </a:p>
        </p:txBody>
      </p:sp>
      <p:sp>
        <p:nvSpPr>
          <p:cNvPr id="572" name="Google Shape;572;p17"/>
          <p:cNvSpPr/>
          <p:nvPr/>
        </p:nvSpPr>
        <p:spPr>
          <a:xfrm>
            <a:off x="7909560" y="1371600"/>
            <a:ext cx="3383280" cy="3017520"/>
          </a:xfrm>
          <a:prstGeom prst="roundRect">
            <a:avLst>
              <a:gd fmla="val 2727" name="adj"/>
            </a:avLst>
          </a:prstGeom>
          <a:solidFill>
            <a:srgbClr val="163524"/>
          </a:solidFill>
          <a:ln cap="flat" cmpd="sng" w="12700">
            <a:solidFill>
              <a:srgbClr val="1635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7"/>
          <p:cNvSpPr/>
          <p:nvPr/>
        </p:nvSpPr>
        <p:spPr>
          <a:xfrm>
            <a:off x="8138160" y="1536192"/>
            <a:ext cx="914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7BC62"/>
              </a:buClr>
              <a:buSzPts val="2000"/>
              <a:buFont typeface="Cambria"/>
              <a:buNone/>
            </a:pPr>
            <a:r>
              <a:rPr b="1" i="0" lang="en-US" sz="2000" u="none" cap="none" strike="noStrike">
                <a:solidFill>
                  <a:srgbClr val="97BC62"/>
                </a:solidFill>
                <a:latin typeface="Cambria"/>
                <a:ea typeface="Cambria"/>
                <a:cs typeface="Cambria"/>
                <a:sym typeface="Cambria"/>
              </a:rPr>
              <a:t>03</a:t>
            </a:r>
            <a:endParaRPr b="0" i="0" sz="2000" u="none" cap="none" strike="noStrike">
              <a:solidFill>
                <a:schemeClr val="dk1"/>
              </a:solidFill>
              <a:latin typeface="Calibri"/>
              <a:ea typeface="Calibri"/>
              <a:cs typeface="Calibri"/>
              <a:sym typeface="Calibri"/>
            </a:endParaRPr>
          </a:p>
        </p:txBody>
      </p:sp>
      <p:sp>
        <p:nvSpPr>
          <p:cNvPr id="574" name="Google Shape;574;p17"/>
          <p:cNvSpPr/>
          <p:nvPr/>
        </p:nvSpPr>
        <p:spPr>
          <a:xfrm>
            <a:off x="8138160" y="1938528"/>
            <a:ext cx="29260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9A2B"/>
              </a:buClr>
              <a:buSzPts val="1400"/>
              <a:buFont typeface="Calibri"/>
              <a:buNone/>
            </a:pPr>
            <a:r>
              <a:rPr b="1" i="0" lang="en-US" sz="1400" u="none" cap="none" strike="noStrike">
                <a:solidFill>
                  <a:srgbClr val="E09A2B"/>
                </a:solidFill>
                <a:latin typeface="Calibri"/>
                <a:ea typeface="Calibri"/>
                <a:cs typeface="Calibri"/>
                <a:sym typeface="Calibri"/>
              </a:rPr>
              <a:t>Then deploy</a:t>
            </a:r>
            <a:endParaRPr b="0" i="0" sz="1400" u="none" cap="none" strike="noStrike">
              <a:solidFill>
                <a:schemeClr val="dk1"/>
              </a:solidFill>
              <a:latin typeface="Calibri"/>
              <a:ea typeface="Calibri"/>
              <a:cs typeface="Calibri"/>
              <a:sym typeface="Calibri"/>
            </a:endParaRPr>
          </a:p>
        </p:txBody>
      </p:sp>
      <p:sp>
        <p:nvSpPr>
          <p:cNvPr id="575" name="Google Shape;575;p17"/>
          <p:cNvSpPr/>
          <p:nvPr/>
        </p:nvSpPr>
        <p:spPr>
          <a:xfrm>
            <a:off x="8138160" y="2487168"/>
            <a:ext cx="292608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5F0"/>
              </a:buClr>
              <a:buSzPts val="1100"/>
              <a:buFont typeface="Calibri"/>
              <a:buNone/>
            </a:pPr>
            <a:r>
              <a:rPr b="0" i="0" lang="en-US" sz="1100" u="none" cap="none" strike="noStrike">
                <a:solidFill>
                  <a:srgbClr val="F5F5F0"/>
                </a:solidFill>
                <a:latin typeface="Calibri"/>
                <a:ea typeface="Calibri"/>
                <a:cs typeface="Calibri"/>
                <a:sym typeface="Calibri"/>
              </a:rPr>
              <a:t>Target: a node the rangers trust</a:t>
            </a:r>
            <a:r>
              <a:rPr lang="en-US" sz="1100">
                <a:solidFill>
                  <a:srgbClr val="F5F5F0"/>
                </a:solidFill>
                <a:latin typeface="Calibri"/>
                <a:ea typeface="Calibri"/>
                <a:cs typeface="Calibri"/>
                <a:sym typeface="Calibri"/>
              </a:rPr>
              <a:t>, </a:t>
            </a:r>
            <a:r>
              <a:rPr b="0" i="0" lang="en-US" sz="1100" u="none" cap="none" strike="noStrike">
                <a:solidFill>
                  <a:srgbClr val="F5F5F0"/>
                </a:solidFill>
                <a:latin typeface="Calibri"/>
                <a:ea typeface="Calibri"/>
                <a:cs typeface="Calibri"/>
                <a:sym typeface="Calibri"/>
              </a:rPr>
              <a:t>few enough false alarms that every single alert is acted upon.</a:t>
            </a:r>
            <a:endParaRPr b="0" i="0" sz="1100" u="none" cap="none" strike="noStrike">
              <a:solidFill>
                <a:schemeClr val="dk1"/>
              </a:solidFill>
              <a:latin typeface="Calibri"/>
              <a:ea typeface="Calibri"/>
              <a:cs typeface="Calibri"/>
              <a:sym typeface="Calibri"/>
            </a:endParaRPr>
          </a:p>
        </p:txBody>
      </p:sp>
      <p:sp>
        <p:nvSpPr>
          <p:cNvPr id="576" name="Google Shape;576;p17"/>
          <p:cNvSpPr/>
          <p:nvPr/>
        </p:nvSpPr>
        <p:spPr>
          <a:xfrm>
            <a:off x="594360" y="4617720"/>
            <a:ext cx="10927080" cy="1005840"/>
          </a:xfrm>
          <a:prstGeom prst="roundRect">
            <a:avLst>
              <a:gd fmla="val 8182" name="adj"/>
            </a:avLst>
          </a:prstGeom>
          <a:solidFill>
            <a:srgbClr val="2C5F2D"/>
          </a:solidFill>
          <a:ln cap="flat" cmpd="sng" w="12700">
            <a:solidFill>
              <a:srgbClr val="2C5F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7"/>
          <p:cNvSpPr/>
          <p:nvPr/>
        </p:nvSpPr>
        <p:spPr>
          <a:xfrm>
            <a:off x="914400" y="4617720"/>
            <a:ext cx="1033272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1" lang="en-US" sz="1500" u="none" cap="none" strike="noStrike">
                <a:solidFill>
                  <a:srgbClr val="FFFFFF"/>
                </a:solidFill>
                <a:latin typeface="Calibri"/>
                <a:ea typeface="Calibri"/>
                <a:cs typeface="Calibri"/>
                <a:sym typeface="Calibri"/>
              </a:rPr>
              <a:t>The criterion for success is not accuracy on a test set. It is whether a ranger in the Amazon trusts the alert enough to walk into the forest.</a:t>
            </a:r>
            <a:endParaRPr b="0" i="0" sz="1500" u="none" cap="none" strike="noStrike">
              <a:solidFill>
                <a:schemeClr val="dk1"/>
              </a:solidFill>
              <a:latin typeface="Calibri"/>
              <a:ea typeface="Calibri"/>
              <a:cs typeface="Calibri"/>
              <a:sym typeface="Calibri"/>
            </a:endParaRPr>
          </a:p>
        </p:txBody>
      </p:sp>
      <p:sp>
        <p:nvSpPr>
          <p:cNvPr id="578" name="Google Shape;578;p17"/>
          <p:cNvSpPr/>
          <p:nvPr/>
        </p:nvSpPr>
        <p:spPr>
          <a:xfrm>
            <a:off x="594360" y="5806440"/>
            <a:ext cx="54864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5F0"/>
              </a:buClr>
              <a:buSzPts val="2000"/>
              <a:buFont typeface="Cambria"/>
              <a:buNone/>
            </a:pPr>
            <a:r>
              <a:rPr b="1" i="0" lang="en-US" sz="2000" u="none" cap="none" strike="noStrike">
                <a:solidFill>
                  <a:srgbClr val="F5F5F0"/>
                </a:solidFill>
                <a:latin typeface="Cambria"/>
                <a:ea typeface="Cambria"/>
                <a:cs typeface="Cambria"/>
                <a:sym typeface="Cambria"/>
              </a:rPr>
              <a:t>Thank you</a:t>
            </a:r>
            <a:r>
              <a:rPr b="1" lang="en-US" sz="2000">
                <a:solidFill>
                  <a:srgbClr val="F5F5F0"/>
                </a:solidFill>
                <a:latin typeface="Cambria"/>
                <a:ea typeface="Cambria"/>
                <a:cs typeface="Cambria"/>
                <a:sym typeface="Cambria"/>
              </a:rPr>
              <a:t>, any </a:t>
            </a:r>
            <a:r>
              <a:rPr b="1" i="0" lang="en-US" sz="2000" u="none" cap="none" strike="noStrike">
                <a:solidFill>
                  <a:srgbClr val="F5F5F0"/>
                </a:solidFill>
                <a:latin typeface="Cambria"/>
                <a:ea typeface="Cambria"/>
                <a:cs typeface="Cambria"/>
                <a:sym typeface="Cambria"/>
              </a:rPr>
              <a:t>questions?</a:t>
            </a:r>
            <a:endParaRPr b="0" i="0" sz="2000" u="none" cap="none" strike="noStrike">
              <a:solidFill>
                <a:schemeClr val="dk1"/>
              </a:solidFill>
              <a:latin typeface="Calibri"/>
              <a:ea typeface="Calibri"/>
              <a:cs typeface="Calibri"/>
              <a:sym typeface="Calibri"/>
            </a:endParaRPr>
          </a:p>
        </p:txBody>
      </p:sp>
      <p:sp>
        <p:nvSpPr>
          <p:cNvPr id="579" name="Google Shape;579;p17"/>
          <p:cNvSpPr/>
          <p:nvPr/>
        </p:nvSpPr>
        <p:spPr>
          <a:xfrm>
            <a:off x="6035040" y="5897880"/>
            <a:ext cx="5486400" cy="32004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97BC62"/>
              </a:buClr>
              <a:buSzPts val="1100"/>
              <a:buFont typeface="Calibri"/>
              <a:buNone/>
            </a:pPr>
            <a:r>
              <a:rPr b="0" i="0" lang="en-US" sz="1100" u="none" cap="none" strike="noStrike">
                <a:solidFill>
                  <a:srgbClr val="97BC62"/>
                </a:solidFill>
                <a:latin typeface="Calibri"/>
                <a:ea typeface="Calibri"/>
                <a:cs typeface="Calibri"/>
                <a:sym typeface="Calibri"/>
              </a:rPr>
              <a:t>CPE Lyon  ·  Energy Pool  ·  Universidad Militar Nueva Granada</a:t>
            </a:r>
            <a:endParaRPr b="0" i="0" sz="1100" u="none" cap="none" strike="noStrike">
              <a:solidFill>
                <a:schemeClr val="dk1"/>
              </a:solidFill>
              <a:latin typeface="Calibri"/>
              <a:ea typeface="Calibri"/>
              <a:cs typeface="Calibri"/>
              <a:sym typeface="Calibri"/>
            </a:endParaRPr>
          </a:p>
        </p:txBody>
      </p:sp>
      <p:sp>
        <p:nvSpPr>
          <p:cNvPr id="580" name="Google Shape;580;p17"/>
          <p:cNvSpPr/>
          <p:nvPr/>
        </p:nvSpPr>
        <p:spPr>
          <a:xfrm>
            <a:off x="10972800" y="6355080"/>
            <a:ext cx="685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7BC62"/>
              </a:buClr>
              <a:buSzPts val="1000"/>
              <a:buFont typeface="Calibri"/>
              <a:buNone/>
            </a:pPr>
            <a:r>
              <a:rPr b="0" i="0" lang="en-US" sz="1000" u="none" cap="none" strike="noStrike">
                <a:solidFill>
                  <a:srgbClr val="97BC62"/>
                </a:solidFill>
                <a:latin typeface="Calibri"/>
                <a:ea typeface="Calibri"/>
                <a:cs typeface="Calibri"/>
                <a:sym typeface="Calibri"/>
              </a:rPr>
              <a:t>15 / 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